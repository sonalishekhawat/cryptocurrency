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21.xml" ContentType="application/vnd.openxmlformats-officedocument.presentationml.notesSlide+xml"/>
  <Override PartName="/ppt/charts/chart7.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3" r:id="rId28"/>
    <p:sldId id="284"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4451C7-E35C-469D-8F9D-592014B33692}" v="1" dt="2026-03-19T09:31:10.0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Shekhawat" userId="0309683e1721122f" providerId="LiveId" clId="{81579934-A0E3-4E5B-A9C3-621F00061F9F}"/>
    <pc:docChg chg="undo custSel delSld modSld">
      <pc:chgData name="Sonali Shekhawat" userId="0309683e1721122f" providerId="LiveId" clId="{81579934-A0E3-4E5B-A9C3-621F00061F9F}" dt="2026-03-19T10:26:44.939" v="175" actId="20577"/>
      <pc:docMkLst>
        <pc:docMk/>
      </pc:docMkLst>
      <pc:sldChg chg="delSp modSp mod">
        <pc:chgData name="Sonali Shekhawat" userId="0309683e1721122f" providerId="LiveId" clId="{81579934-A0E3-4E5B-A9C3-621F00061F9F}" dt="2026-03-19T09:07:42.422" v="3" actId="1036"/>
        <pc:sldMkLst>
          <pc:docMk/>
          <pc:sldMk cId="0" sldId="256"/>
        </pc:sldMkLst>
        <pc:spChg chg="mod">
          <ac:chgData name="Sonali Shekhawat" userId="0309683e1721122f" providerId="LiveId" clId="{81579934-A0E3-4E5B-A9C3-621F00061F9F}" dt="2026-03-19T09:07:42.422" v="3" actId="1036"/>
          <ac:spMkLst>
            <pc:docMk/>
            <pc:sldMk cId="0" sldId="256"/>
            <ac:spMk id="2" creationId="{00000000-0000-0000-0000-000000000000}"/>
          </ac:spMkLst>
        </pc:spChg>
        <pc:spChg chg="del">
          <ac:chgData name="Sonali Shekhawat" userId="0309683e1721122f" providerId="LiveId" clId="{81579934-A0E3-4E5B-A9C3-621F00061F9F}" dt="2026-03-19T09:07:25.581" v="0" actId="478"/>
          <ac:spMkLst>
            <pc:docMk/>
            <pc:sldMk cId="0" sldId="256"/>
            <ac:spMk id="11" creationId="{00000000-0000-0000-0000-000000000000}"/>
          </ac:spMkLst>
        </pc:spChg>
        <pc:spChg chg="del">
          <ac:chgData name="Sonali Shekhawat" userId="0309683e1721122f" providerId="LiveId" clId="{81579934-A0E3-4E5B-A9C3-621F00061F9F}" dt="2026-03-19T09:07:30.475" v="1" actId="478"/>
          <ac:spMkLst>
            <pc:docMk/>
            <pc:sldMk cId="0" sldId="256"/>
            <ac:spMk id="12" creationId="{00000000-0000-0000-0000-000000000000}"/>
          </ac:spMkLst>
        </pc:spChg>
        <pc:spChg chg="mod">
          <ac:chgData name="Sonali Shekhawat" userId="0309683e1721122f" providerId="LiveId" clId="{81579934-A0E3-4E5B-A9C3-621F00061F9F}" dt="2026-03-19T09:07:37.421" v="2" actId="20577"/>
          <ac:spMkLst>
            <pc:docMk/>
            <pc:sldMk cId="0" sldId="256"/>
            <ac:spMk id="13" creationId="{00000000-0000-0000-0000-000000000000}"/>
          </ac:spMkLst>
        </pc:spChg>
      </pc:sldChg>
      <pc:sldChg chg="modSp mod">
        <pc:chgData name="Sonali Shekhawat" userId="0309683e1721122f" providerId="LiveId" clId="{81579934-A0E3-4E5B-A9C3-621F00061F9F}" dt="2026-03-19T10:26:44.939" v="175" actId="20577"/>
        <pc:sldMkLst>
          <pc:docMk/>
          <pc:sldMk cId="0" sldId="257"/>
        </pc:sldMkLst>
        <pc:spChg chg="mod">
          <ac:chgData name="Sonali Shekhawat" userId="0309683e1721122f" providerId="LiveId" clId="{81579934-A0E3-4E5B-A9C3-621F00061F9F}" dt="2026-03-19T09:07:55.161" v="14" actId="20577"/>
          <ac:spMkLst>
            <pc:docMk/>
            <pc:sldMk cId="0" sldId="257"/>
            <ac:spMk id="4" creationId="{00000000-0000-0000-0000-000000000000}"/>
          </ac:spMkLst>
        </pc:spChg>
        <pc:spChg chg="mod">
          <ac:chgData name="Sonali Shekhawat" userId="0309683e1721122f" providerId="LiveId" clId="{81579934-A0E3-4E5B-A9C3-621F00061F9F}" dt="2026-03-19T10:26:41.112" v="165" actId="20577"/>
          <ac:spMkLst>
            <pc:docMk/>
            <pc:sldMk cId="0" sldId="257"/>
            <ac:spMk id="30" creationId="{00000000-0000-0000-0000-000000000000}"/>
          </ac:spMkLst>
        </pc:spChg>
        <pc:spChg chg="mod">
          <ac:chgData name="Sonali Shekhawat" userId="0309683e1721122f" providerId="LiveId" clId="{81579934-A0E3-4E5B-A9C3-621F00061F9F}" dt="2026-03-19T10:26:44.939" v="175" actId="20577"/>
          <ac:spMkLst>
            <pc:docMk/>
            <pc:sldMk cId="0" sldId="257"/>
            <ac:spMk id="34" creationId="{00000000-0000-0000-0000-000000000000}"/>
          </ac:spMkLst>
        </pc:spChg>
      </pc:sldChg>
      <pc:sldChg chg="modSp mod">
        <pc:chgData name="Sonali Shekhawat" userId="0309683e1721122f" providerId="LiveId" clId="{81579934-A0E3-4E5B-A9C3-621F00061F9F}" dt="2026-03-19T09:11:27.828" v="46" actId="1036"/>
        <pc:sldMkLst>
          <pc:docMk/>
          <pc:sldMk cId="0" sldId="262"/>
        </pc:sldMkLst>
        <pc:spChg chg="mod">
          <ac:chgData name="Sonali Shekhawat" userId="0309683e1721122f" providerId="LiveId" clId="{81579934-A0E3-4E5B-A9C3-621F00061F9F}" dt="2026-03-19T09:10:09.577" v="28" actId="1076"/>
          <ac:spMkLst>
            <pc:docMk/>
            <pc:sldMk cId="0" sldId="262"/>
            <ac:spMk id="5" creationId="{00000000-0000-0000-0000-000000000000}"/>
          </ac:spMkLst>
        </pc:spChg>
        <pc:spChg chg="mod">
          <ac:chgData name="Sonali Shekhawat" userId="0309683e1721122f" providerId="LiveId" clId="{81579934-A0E3-4E5B-A9C3-621F00061F9F}" dt="2026-03-19T09:08:56.950" v="15" actId="1076"/>
          <ac:spMkLst>
            <pc:docMk/>
            <pc:sldMk cId="0" sldId="262"/>
            <ac:spMk id="6" creationId="{00000000-0000-0000-0000-000000000000}"/>
          </ac:spMkLst>
        </pc:spChg>
        <pc:spChg chg="mod">
          <ac:chgData name="Sonali Shekhawat" userId="0309683e1721122f" providerId="LiveId" clId="{81579934-A0E3-4E5B-A9C3-621F00061F9F}" dt="2026-03-19T09:08:56.950" v="15" actId="1076"/>
          <ac:spMkLst>
            <pc:docMk/>
            <pc:sldMk cId="0" sldId="262"/>
            <ac:spMk id="7" creationId="{00000000-0000-0000-0000-000000000000}"/>
          </ac:spMkLst>
        </pc:spChg>
        <pc:spChg chg="mod">
          <ac:chgData name="Sonali Shekhawat" userId="0309683e1721122f" providerId="LiveId" clId="{81579934-A0E3-4E5B-A9C3-621F00061F9F}" dt="2026-03-19T09:10:52.968" v="41" actId="20577"/>
          <ac:spMkLst>
            <pc:docMk/>
            <pc:sldMk cId="0" sldId="262"/>
            <ac:spMk id="8" creationId="{00000000-0000-0000-0000-000000000000}"/>
          </ac:spMkLst>
        </pc:spChg>
        <pc:spChg chg="mod">
          <ac:chgData name="Sonali Shekhawat" userId="0309683e1721122f" providerId="LiveId" clId="{81579934-A0E3-4E5B-A9C3-621F00061F9F}" dt="2026-03-19T09:08:56.950" v="15" actId="1076"/>
          <ac:spMkLst>
            <pc:docMk/>
            <pc:sldMk cId="0" sldId="262"/>
            <ac:spMk id="9" creationId="{00000000-0000-0000-0000-000000000000}"/>
          </ac:spMkLst>
        </pc:spChg>
        <pc:spChg chg="mod">
          <ac:chgData name="Sonali Shekhawat" userId="0309683e1721122f" providerId="LiveId" clId="{81579934-A0E3-4E5B-A9C3-621F00061F9F}" dt="2026-03-19T09:08:56.950" v="15" actId="1076"/>
          <ac:spMkLst>
            <pc:docMk/>
            <pc:sldMk cId="0" sldId="262"/>
            <ac:spMk id="10" creationId="{00000000-0000-0000-0000-000000000000}"/>
          </ac:spMkLst>
        </pc:spChg>
        <pc:spChg chg="mod">
          <ac:chgData name="Sonali Shekhawat" userId="0309683e1721122f" providerId="LiveId" clId="{81579934-A0E3-4E5B-A9C3-621F00061F9F}" dt="2026-03-19T09:08:56.950" v="15" actId="1076"/>
          <ac:spMkLst>
            <pc:docMk/>
            <pc:sldMk cId="0" sldId="262"/>
            <ac:spMk id="11" creationId="{00000000-0000-0000-0000-000000000000}"/>
          </ac:spMkLst>
        </pc:spChg>
        <pc:spChg chg="mod">
          <ac:chgData name="Sonali Shekhawat" userId="0309683e1721122f" providerId="LiveId" clId="{81579934-A0E3-4E5B-A9C3-621F00061F9F}" dt="2026-03-19T09:10:38.289" v="29" actId="1076"/>
          <ac:spMkLst>
            <pc:docMk/>
            <pc:sldMk cId="0" sldId="262"/>
            <ac:spMk id="12" creationId="{00000000-0000-0000-0000-000000000000}"/>
          </ac:spMkLst>
        </pc:spChg>
        <pc:spChg chg="mod">
          <ac:chgData name="Sonali Shekhawat" userId="0309683e1721122f" providerId="LiveId" clId="{81579934-A0E3-4E5B-A9C3-621F00061F9F}" dt="2026-03-19T09:09:12.055" v="16" actId="1076"/>
          <ac:spMkLst>
            <pc:docMk/>
            <pc:sldMk cId="0" sldId="262"/>
            <ac:spMk id="13" creationId="{00000000-0000-0000-0000-000000000000}"/>
          </ac:spMkLst>
        </pc:spChg>
        <pc:spChg chg="mod">
          <ac:chgData name="Sonali Shekhawat" userId="0309683e1721122f" providerId="LiveId" clId="{81579934-A0E3-4E5B-A9C3-621F00061F9F}" dt="2026-03-19T09:09:12.055" v="16" actId="1076"/>
          <ac:spMkLst>
            <pc:docMk/>
            <pc:sldMk cId="0" sldId="262"/>
            <ac:spMk id="14" creationId="{00000000-0000-0000-0000-000000000000}"/>
          </ac:spMkLst>
        </pc:spChg>
        <pc:spChg chg="mod">
          <ac:chgData name="Sonali Shekhawat" userId="0309683e1721122f" providerId="LiveId" clId="{81579934-A0E3-4E5B-A9C3-621F00061F9F}" dt="2026-03-19T09:09:12.055" v="16" actId="1076"/>
          <ac:spMkLst>
            <pc:docMk/>
            <pc:sldMk cId="0" sldId="262"/>
            <ac:spMk id="15" creationId="{00000000-0000-0000-0000-000000000000}"/>
          </ac:spMkLst>
        </pc:spChg>
        <pc:spChg chg="mod">
          <ac:chgData name="Sonali Shekhawat" userId="0309683e1721122f" providerId="LiveId" clId="{81579934-A0E3-4E5B-A9C3-621F00061F9F}" dt="2026-03-19T09:09:12.055" v="16" actId="1076"/>
          <ac:spMkLst>
            <pc:docMk/>
            <pc:sldMk cId="0" sldId="262"/>
            <ac:spMk id="16" creationId="{00000000-0000-0000-0000-000000000000}"/>
          </ac:spMkLst>
        </pc:spChg>
        <pc:spChg chg="mod">
          <ac:chgData name="Sonali Shekhawat" userId="0309683e1721122f" providerId="LiveId" clId="{81579934-A0E3-4E5B-A9C3-621F00061F9F}" dt="2026-03-19T09:09:12.055" v="16" actId="1076"/>
          <ac:spMkLst>
            <pc:docMk/>
            <pc:sldMk cId="0" sldId="262"/>
            <ac:spMk id="17" creationId="{00000000-0000-0000-0000-000000000000}"/>
          </ac:spMkLst>
        </pc:spChg>
        <pc:spChg chg="mod">
          <ac:chgData name="Sonali Shekhawat" userId="0309683e1721122f" providerId="LiveId" clId="{81579934-A0E3-4E5B-A9C3-621F00061F9F}" dt="2026-03-19T09:09:12.055" v="16" actId="1076"/>
          <ac:spMkLst>
            <pc:docMk/>
            <pc:sldMk cId="0" sldId="262"/>
            <ac:spMk id="18" creationId="{00000000-0000-0000-0000-000000000000}"/>
          </ac:spMkLst>
        </pc:spChg>
        <pc:spChg chg="mod">
          <ac:chgData name="Sonali Shekhawat" userId="0309683e1721122f" providerId="LiveId" clId="{81579934-A0E3-4E5B-A9C3-621F00061F9F}" dt="2026-03-19T09:11:17.981" v="44" actId="1076"/>
          <ac:spMkLst>
            <pc:docMk/>
            <pc:sldMk cId="0" sldId="262"/>
            <ac:spMk id="19" creationId="{00000000-0000-0000-0000-000000000000}"/>
          </ac:spMkLst>
        </pc:spChg>
        <pc:graphicFrameChg chg="mod modGraphic">
          <ac:chgData name="Sonali Shekhawat" userId="0309683e1721122f" providerId="LiveId" clId="{81579934-A0E3-4E5B-A9C3-621F00061F9F}" dt="2026-03-19T09:11:27.828" v="46" actId="1036"/>
          <ac:graphicFrameMkLst>
            <pc:docMk/>
            <pc:sldMk cId="0" sldId="262"/>
            <ac:graphicFrameMk id="20" creationId="{00000000-0000-0000-0000-000000000000}"/>
          </ac:graphicFrameMkLst>
        </pc:graphicFrameChg>
      </pc:sldChg>
      <pc:sldChg chg="modSp mod">
        <pc:chgData name="Sonali Shekhawat" userId="0309683e1721122f" providerId="LiveId" clId="{81579934-A0E3-4E5B-A9C3-621F00061F9F}" dt="2026-03-19T09:13:15.221" v="56" actId="1076"/>
        <pc:sldMkLst>
          <pc:docMk/>
          <pc:sldMk cId="0" sldId="263"/>
        </pc:sldMkLst>
        <pc:spChg chg="mod">
          <ac:chgData name="Sonali Shekhawat" userId="0309683e1721122f" providerId="LiveId" clId="{81579934-A0E3-4E5B-A9C3-621F00061F9F}" dt="2026-03-19T09:11:50.106" v="49" actId="1076"/>
          <ac:spMkLst>
            <pc:docMk/>
            <pc:sldMk cId="0" sldId="263"/>
            <ac:spMk id="5" creationId="{00000000-0000-0000-0000-000000000000}"/>
          </ac:spMkLst>
        </pc:spChg>
        <pc:spChg chg="mod">
          <ac:chgData name="Sonali Shekhawat" userId="0309683e1721122f" providerId="LiveId" clId="{81579934-A0E3-4E5B-A9C3-621F00061F9F}" dt="2026-03-19T09:11:50.106" v="49" actId="1076"/>
          <ac:spMkLst>
            <pc:docMk/>
            <pc:sldMk cId="0" sldId="263"/>
            <ac:spMk id="6" creationId="{00000000-0000-0000-0000-000000000000}"/>
          </ac:spMkLst>
        </pc:spChg>
        <pc:spChg chg="mod">
          <ac:chgData name="Sonali Shekhawat" userId="0309683e1721122f" providerId="LiveId" clId="{81579934-A0E3-4E5B-A9C3-621F00061F9F}" dt="2026-03-19T09:11:50.106" v="49" actId="1076"/>
          <ac:spMkLst>
            <pc:docMk/>
            <pc:sldMk cId="0" sldId="263"/>
            <ac:spMk id="7" creationId="{00000000-0000-0000-0000-000000000000}"/>
          </ac:spMkLst>
        </pc:spChg>
        <pc:spChg chg="mod">
          <ac:chgData name="Sonali Shekhawat" userId="0309683e1721122f" providerId="LiveId" clId="{81579934-A0E3-4E5B-A9C3-621F00061F9F}" dt="2026-03-19T09:11:50.106" v="49" actId="1076"/>
          <ac:spMkLst>
            <pc:docMk/>
            <pc:sldMk cId="0" sldId="263"/>
            <ac:spMk id="8" creationId="{00000000-0000-0000-0000-000000000000}"/>
          </ac:spMkLst>
        </pc:spChg>
        <pc:spChg chg="mod">
          <ac:chgData name="Sonali Shekhawat" userId="0309683e1721122f" providerId="LiveId" clId="{81579934-A0E3-4E5B-A9C3-621F00061F9F}" dt="2026-03-19T09:12:44.301" v="52" actId="1076"/>
          <ac:spMkLst>
            <pc:docMk/>
            <pc:sldMk cId="0" sldId="263"/>
            <ac:spMk id="10" creationId="{00000000-0000-0000-0000-000000000000}"/>
          </ac:spMkLst>
        </pc:spChg>
        <pc:spChg chg="mod">
          <ac:chgData name="Sonali Shekhawat" userId="0309683e1721122f" providerId="LiveId" clId="{81579934-A0E3-4E5B-A9C3-621F00061F9F}" dt="2026-03-19T09:12:44.301" v="52" actId="1076"/>
          <ac:spMkLst>
            <pc:docMk/>
            <pc:sldMk cId="0" sldId="263"/>
            <ac:spMk id="11" creationId="{00000000-0000-0000-0000-000000000000}"/>
          </ac:spMkLst>
        </pc:spChg>
        <pc:spChg chg="mod">
          <ac:chgData name="Sonali Shekhawat" userId="0309683e1721122f" providerId="LiveId" clId="{81579934-A0E3-4E5B-A9C3-621F00061F9F}" dt="2026-03-19T09:12:44.301" v="52" actId="1076"/>
          <ac:spMkLst>
            <pc:docMk/>
            <pc:sldMk cId="0" sldId="263"/>
            <ac:spMk id="13" creationId="{00000000-0000-0000-0000-000000000000}"/>
          </ac:spMkLst>
        </pc:spChg>
        <pc:spChg chg="mod">
          <ac:chgData name="Sonali Shekhawat" userId="0309683e1721122f" providerId="LiveId" clId="{81579934-A0E3-4E5B-A9C3-621F00061F9F}" dt="2026-03-19T09:12:44.301" v="52" actId="1076"/>
          <ac:spMkLst>
            <pc:docMk/>
            <pc:sldMk cId="0" sldId="263"/>
            <ac:spMk id="15" creationId="{00000000-0000-0000-0000-000000000000}"/>
          </ac:spMkLst>
        </pc:spChg>
        <pc:spChg chg="mod">
          <ac:chgData name="Sonali Shekhawat" userId="0309683e1721122f" providerId="LiveId" clId="{81579934-A0E3-4E5B-A9C3-621F00061F9F}" dt="2026-03-19T09:12:44.301" v="52" actId="1076"/>
          <ac:spMkLst>
            <pc:docMk/>
            <pc:sldMk cId="0" sldId="263"/>
            <ac:spMk id="17" creationId="{00000000-0000-0000-0000-000000000000}"/>
          </ac:spMkLst>
        </pc:spChg>
        <pc:spChg chg="mod">
          <ac:chgData name="Sonali Shekhawat" userId="0309683e1721122f" providerId="LiveId" clId="{81579934-A0E3-4E5B-A9C3-621F00061F9F}" dt="2026-03-19T09:12:44.301" v="52" actId="1076"/>
          <ac:spMkLst>
            <pc:docMk/>
            <pc:sldMk cId="0" sldId="263"/>
            <ac:spMk id="18" creationId="{00000000-0000-0000-0000-000000000000}"/>
          </ac:spMkLst>
        </pc:spChg>
        <pc:spChg chg="mod">
          <ac:chgData name="Sonali Shekhawat" userId="0309683e1721122f" providerId="LiveId" clId="{81579934-A0E3-4E5B-A9C3-621F00061F9F}" dt="2026-03-19T09:12:44.301" v="52" actId="1076"/>
          <ac:spMkLst>
            <pc:docMk/>
            <pc:sldMk cId="0" sldId="263"/>
            <ac:spMk id="20" creationId="{00000000-0000-0000-0000-000000000000}"/>
          </ac:spMkLst>
        </pc:spChg>
        <pc:spChg chg="mod">
          <ac:chgData name="Sonali Shekhawat" userId="0309683e1721122f" providerId="LiveId" clId="{81579934-A0E3-4E5B-A9C3-621F00061F9F}" dt="2026-03-19T09:12:44.301" v="52" actId="1076"/>
          <ac:spMkLst>
            <pc:docMk/>
            <pc:sldMk cId="0" sldId="263"/>
            <ac:spMk id="21" creationId="{00000000-0000-0000-0000-000000000000}"/>
          </ac:spMkLst>
        </pc:spChg>
        <pc:spChg chg="mod">
          <ac:chgData name="Sonali Shekhawat" userId="0309683e1721122f" providerId="LiveId" clId="{81579934-A0E3-4E5B-A9C3-621F00061F9F}" dt="2026-03-19T09:12:44.301" v="52" actId="1076"/>
          <ac:spMkLst>
            <pc:docMk/>
            <pc:sldMk cId="0" sldId="263"/>
            <ac:spMk id="22" creationId="{00000000-0000-0000-0000-000000000000}"/>
          </ac:spMkLst>
        </pc:spChg>
        <pc:spChg chg="mod">
          <ac:chgData name="Sonali Shekhawat" userId="0309683e1721122f" providerId="LiveId" clId="{81579934-A0E3-4E5B-A9C3-621F00061F9F}" dt="2026-03-19T09:12:44.301" v="52" actId="1076"/>
          <ac:spMkLst>
            <pc:docMk/>
            <pc:sldMk cId="0" sldId="263"/>
            <ac:spMk id="24" creationId="{00000000-0000-0000-0000-000000000000}"/>
          </ac:spMkLst>
        </pc:spChg>
        <pc:spChg chg="mod">
          <ac:chgData name="Sonali Shekhawat" userId="0309683e1721122f" providerId="LiveId" clId="{81579934-A0E3-4E5B-A9C3-621F00061F9F}" dt="2026-03-19T09:12:55.819" v="53" actId="1076"/>
          <ac:spMkLst>
            <pc:docMk/>
            <pc:sldMk cId="0" sldId="263"/>
            <ac:spMk id="25" creationId="{00000000-0000-0000-0000-000000000000}"/>
          </ac:spMkLst>
        </pc:spChg>
        <pc:graphicFrameChg chg="mod modGraphic">
          <ac:chgData name="Sonali Shekhawat" userId="0309683e1721122f" providerId="LiveId" clId="{81579934-A0E3-4E5B-A9C3-621F00061F9F}" dt="2026-03-19T09:13:15.221" v="56" actId="1076"/>
          <ac:graphicFrameMkLst>
            <pc:docMk/>
            <pc:sldMk cId="0" sldId="263"/>
            <ac:graphicFrameMk id="26" creationId="{00000000-0000-0000-0000-000000000000}"/>
          </ac:graphicFrameMkLst>
        </pc:graphicFrameChg>
      </pc:sldChg>
      <pc:sldChg chg="delSp mod">
        <pc:chgData name="Sonali Shekhawat" userId="0309683e1721122f" providerId="LiveId" clId="{81579934-A0E3-4E5B-A9C3-621F00061F9F}" dt="2026-03-19T09:14:38.282" v="57" actId="478"/>
        <pc:sldMkLst>
          <pc:docMk/>
          <pc:sldMk cId="0" sldId="266"/>
        </pc:sldMkLst>
        <pc:spChg chg="del">
          <ac:chgData name="Sonali Shekhawat" userId="0309683e1721122f" providerId="LiveId" clId="{81579934-A0E3-4E5B-A9C3-621F00061F9F}" dt="2026-03-19T09:14:38.282" v="57" actId="478"/>
          <ac:spMkLst>
            <pc:docMk/>
            <pc:sldMk cId="0" sldId="266"/>
            <ac:spMk id="29" creationId="{00000000-0000-0000-0000-000000000000}"/>
          </ac:spMkLst>
        </pc:spChg>
        <pc:spChg chg="del">
          <ac:chgData name="Sonali Shekhawat" userId="0309683e1721122f" providerId="LiveId" clId="{81579934-A0E3-4E5B-A9C3-621F00061F9F}" dt="2026-03-19T09:14:38.282" v="57" actId="478"/>
          <ac:spMkLst>
            <pc:docMk/>
            <pc:sldMk cId="0" sldId="266"/>
            <ac:spMk id="30" creationId="{00000000-0000-0000-0000-000000000000}"/>
          </ac:spMkLst>
        </pc:spChg>
        <pc:spChg chg="del">
          <ac:chgData name="Sonali Shekhawat" userId="0309683e1721122f" providerId="LiveId" clId="{81579934-A0E3-4E5B-A9C3-621F00061F9F}" dt="2026-03-19T09:14:38.282" v="57" actId="478"/>
          <ac:spMkLst>
            <pc:docMk/>
            <pc:sldMk cId="0" sldId="266"/>
            <ac:spMk id="31" creationId="{00000000-0000-0000-0000-000000000000}"/>
          </ac:spMkLst>
        </pc:spChg>
        <pc:spChg chg="del">
          <ac:chgData name="Sonali Shekhawat" userId="0309683e1721122f" providerId="LiveId" clId="{81579934-A0E3-4E5B-A9C3-621F00061F9F}" dt="2026-03-19T09:14:38.282" v="57" actId="478"/>
          <ac:spMkLst>
            <pc:docMk/>
            <pc:sldMk cId="0" sldId="266"/>
            <ac:spMk id="32" creationId="{00000000-0000-0000-0000-000000000000}"/>
          </ac:spMkLst>
        </pc:spChg>
        <pc:spChg chg="del">
          <ac:chgData name="Sonali Shekhawat" userId="0309683e1721122f" providerId="LiveId" clId="{81579934-A0E3-4E5B-A9C3-621F00061F9F}" dt="2026-03-19T09:14:38.282" v="57" actId="478"/>
          <ac:spMkLst>
            <pc:docMk/>
            <pc:sldMk cId="0" sldId="266"/>
            <ac:spMk id="33" creationId="{00000000-0000-0000-0000-000000000000}"/>
          </ac:spMkLst>
        </pc:spChg>
        <pc:spChg chg="del">
          <ac:chgData name="Sonali Shekhawat" userId="0309683e1721122f" providerId="LiveId" clId="{81579934-A0E3-4E5B-A9C3-621F00061F9F}" dt="2026-03-19T09:14:38.282" v="57" actId="478"/>
          <ac:spMkLst>
            <pc:docMk/>
            <pc:sldMk cId="0" sldId="266"/>
            <ac:spMk id="34" creationId="{00000000-0000-0000-0000-000000000000}"/>
          </ac:spMkLst>
        </pc:spChg>
        <pc:spChg chg="del">
          <ac:chgData name="Sonali Shekhawat" userId="0309683e1721122f" providerId="LiveId" clId="{81579934-A0E3-4E5B-A9C3-621F00061F9F}" dt="2026-03-19T09:14:38.282" v="57" actId="478"/>
          <ac:spMkLst>
            <pc:docMk/>
            <pc:sldMk cId="0" sldId="266"/>
            <ac:spMk id="35" creationId="{00000000-0000-0000-0000-000000000000}"/>
          </ac:spMkLst>
        </pc:spChg>
        <pc:spChg chg="del">
          <ac:chgData name="Sonali Shekhawat" userId="0309683e1721122f" providerId="LiveId" clId="{81579934-A0E3-4E5B-A9C3-621F00061F9F}" dt="2026-03-19T09:14:38.282" v="57" actId="478"/>
          <ac:spMkLst>
            <pc:docMk/>
            <pc:sldMk cId="0" sldId="266"/>
            <ac:spMk id="36" creationId="{00000000-0000-0000-0000-000000000000}"/>
          </ac:spMkLst>
        </pc:spChg>
      </pc:sldChg>
      <pc:sldChg chg="addSp delSp modSp mod">
        <pc:chgData name="Sonali Shekhawat" userId="0309683e1721122f" providerId="LiveId" clId="{81579934-A0E3-4E5B-A9C3-621F00061F9F}" dt="2026-03-19T09:22:13.454" v="116" actId="14100"/>
        <pc:sldMkLst>
          <pc:docMk/>
          <pc:sldMk cId="0" sldId="268"/>
        </pc:sldMkLst>
        <pc:spChg chg="mod">
          <ac:chgData name="Sonali Shekhawat" userId="0309683e1721122f" providerId="LiveId" clId="{81579934-A0E3-4E5B-A9C3-621F00061F9F}" dt="2026-03-19T09:21:36.547" v="109" actId="14100"/>
          <ac:spMkLst>
            <pc:docMk/>
            <pc:sldMk cId="0" sldId="268"/>
            <ac:spMk id="5" creationId="{00000000-0000-0000-0000-000000000000}"/>
          </ac:spMkLst>
        </pc:spChg>
        <pc:spChg chg="mod">
          <ac:chgData name="Sonali Shekhawat" userId="0309683e1721122f" providerId="LiveId" clId="{81579934-A0E3-4E5B-A9C3-621F00061F9F}" dt="2026-03-19T09:22:02.267" v="114" actId="1076"/>
          <ac:spMkLst>
            <pc:docMk/>
            <pc:sldMk cId="0" sldId="268"/>
            <ac:spMk id="12" creationId="{00000000-0000-0000-0000-000000000000}"/>
          </ac:spMkLst>
        </pc:spChg>
        <pc:spChg chg="mod">
          <ac:chgData name="Sonali Shekhawat" userId="0309683e1721122f" providerId="LiveId" clId="{81579934-A0E3-4E5B-A9C3-621F00061F9F}" dt="2026-03-19T09:21:40.629" v="110" actId="14100"/>
          <ac:spMkLst>
            <pc:docMk/>
            <pc:sldMk cId="0" sldId="268"/>
            <ac:spMk id="13" creationId="{00000000-0000-0000-0000-000000000000}"/>
          </ac:spMkLst>
        </pc:spChg>
        <pc:spChg chg="mod">
          <ac:chgData name="Sonali Shekhawat" userId="0309683e1721122f" providerId="LiveId" clId="{81579934-A0E3-4E5B-A9C3-621F00061F9F}" dt="2026-03-19T09:21:55.538" v="113" actId="1076"/>
          <ac:spMkLst>
            <pc:docMk/>
            <pc:sldMk cId="0" sldId="268"/>
            <ac:spMk id="20" creationId="{00000000-0000-0000-0000-000000000000}"/>
          </ac:spMkLst>
        </pc:spChg>
        <pc:spChg chg="mod">
          <ac:chgData name="Sonali Shekhawat" userId="0309683e1721122f" providerId="LiveId" clId="{81579934-A0E3-4E5B-A9C3-621F00061F9F}" dt="2026-03-19T09:21:43.905" v="111" actId="14100"/>
          <ac:spMkLst>
            <pc:docMk/>
            <pc:sldMk cId="0" sldId="268"/>
            <ac:spMk id="21" creationId="{00000000-0000-0000-0000-000000000000}"/>
          </ac:spMkLst>
        </pc:spChg>
        <pc:spChg chg="mod">
          <ac:chgData name="Sonali Shekhawat" userId="0309683e1721122f" providerId="LiveId" clId="{81579934-A0E3-4E5B-A9C3-621F00061F9F}" dt="2026-03-19T09:21:47.500" v="112" actId="1076"/>
          <ac:spMkLst>
            <pc:docMk/>
            <pc:sldMk cId="0" sldId="268"/>
            <ac:spMk id="28" creationId="{00000000-0000-0000-0000-000000000000}"/>
          </ac:spMkLst>
        </pc:spChg>
        <pc:spChg chg="mod">
          <ac:chgData name="Sonali Shekhawat" userId="0309683e1721122f" providerId="LiveId" clId="{81579934-A0E3-4E5B-A9C3-621F00061F9F}" dt="2026-03-19T09:19:51.912" v="93" actId="14100"/>
          <ac:spMkLst>
            <pc:docMk/>
            <pc:sldMk cId="0" sldId="268"/>
            <ac:spMk id="29" creationId="{00000000-0000-0000-0000-000000000000}"/>
          </ac:spMkLst>
        </pc:spChg>
        <pc:spChg chg="mod">
          <ac:chgData name="Sonali Shekhawat" userId="0309683e1721122f" providerId="LiveId" clId="{81579934-A0E3-4E5B-A9C3-621F00061F9F}" dt="2026-03-19T09:17:42.997" v="75" actId="1076"/>
          <ac:spMkLst>
            <pc:docMk/>
            <pc:sldMk cId="0" sldId="268"/>
            <ac:spMk id="30" creationId="{00000000-0000-0000-0000-000000000000}"/>
          </ac:spMkLst>
        </pc:spChg>
        <pc:spChg chg="mod">
          <ac:chgData name="Sonali Shekhawat" userId="0309683e1721122f" providerId="LiveId" clId="{81579934-A0E3-4E5B-A9C3-621F00061F9F}" dt="2026-03-19T09:17:53.234" v="76" actId="1076"/>
          <ac:spMkLst>
            <pc:docMk/>
            <pc:sldMk cId="0" sldId="268"/>
            <ac:spMk id="31" creationId="{00000000-0000-0000-0000-000000000000}"/>
          </ac:spMkLst>
        </pc:spChg>
        <pc:spChg chg="mod">
          <ac:chgData name="Sonali Shekhawat" userId="0309683e1721122f" providerId="LiveId" clId="{81579934-A0E3-4E5B-A9C3-621F00061F9F}" dt="2026-03-19T09:17:42.997" v="75" actId="1076"/>
          <ac:spMkLst>
            <pc:docMk/>
            <pc:sldMk cId="0" sldId="268"/>
            <ac:spMk id="32" creationId="{00000000-0000-0000-0000-000000000000}"/>
          </ac:spMkLst>
        </pc:spChg>
        <pc:spChg chg="mod">
          <ac:chgData name="Sonali Shekhawat" userId="0309683e1721122f" providerId="LiveId" clId="{81579934-A0E3-4E5B-A9C3-621F00061F9F}" dt="2026-03-19T09:21:20.352" v="105" actId="1076"/>
          <ac:spMkLst>
            <pc:docMk/>
            <pc:sldMk cId="0" sldId="268"/>
            <ac:spMk id="33" creationId="{00000000-0000-0000-0000-000000000000}"/>
          </ac:spMkLst>
        </pc:spChg>
        <pc:spChg chg="mod">
          <ac:chgData name="Sonali Shekhawat" userId="0309683e1721122f" providerId="LiveId" clId="{81579934-A0E3-4E5B-A9C3-621F00061F9F}" dt="2026-03-19T09:18:57.980" v="85" actId="1076"/>
          <ac:spMkLst>
            <pc:docMk/>
            <pc:sldMk cId="0" sldId="268"/>
            <ac:spMk id="34" creationId="{00000000-0000-0000-0000-000000000000}"/>
          </ac:spMkLst>
        </pc:spChg>
        <pc:spChg chg="mod">
          <ac:chgData name="Sonali Shekhawat" userId="0309683e1721122f" providerId="LiveId" clId="{81579934-A0E3-4E5B-A9C3-621F00061F9F}" dt="2026-03-19T09:18:58.855" v="87" actId="1076"/>
          <ac:spMkLst>
            <pc:docMk/>
            <pc:sldMk cId="0" sldId="268"/>
            <ac:spMk id="35" creationId="{00000000-0000-0000-0000-000000000000}"/>
          </ac:spMkLst>
        </pc:spChg>
        <pc:spChg chg="mod">
          <ac:chgData name="Sonali Shekhawat" userId="0309683e1721122f" providerId="LiveId" clId="{81579934-A0E3-4E5B-A9C3-621F00061F9F}" dt="2026-03-19T09:19:58.035" v="94" actId="1076"/>
          <ac:spMkLst>
            <pc:docMk/>
            <pc:sldMk cId="0" sldId="268"/>
            <ac:spMk id="36" creationId="{00000000-0000-0000-0000-000000000000}"/>
          </ac:spMkLst>
        </pc:spChg>
        <pc:spChg chg="mod">
          <ac:chgData name="Sonali Shekhawat" userId="0309683e1721122f" providerId="LiveId" clId="{81579934-A0E3-4E5B-A9C3-621F00061F9F}" dt="2026-03-19T09:22:13.454" v="116" actId="14100"/>
          <ac:spMkLst>
            <pc:docMk/>
            <pc:sldMk cId="0" sldId="268"/>
            <ac:spMk id="37" creationId="{00000000-0000-0000-0000-000000000000}"/>
          </ac:spMkLst>
        </pc:spChg>
        <pc:spChg chg="mod">
          <ac:chgData name="Sonali Shekhawat" userId="0309683e1721122f" providerId="LiveId" clId="{81579934-A0E3-4E5B-A9C3-621F00061F9F}" dt="2026-03-19T09:20:38.308" v="98" actId="1076"/>
          <ac:spMkLst>
            <pc:docMk/>
            <pc:sldMk cId="0" sldId="268"/>
            <ac:spMk id="38" creationId="{00000000-0000-0000-0000-000000000000}"/>
          </ac:spMkLst>
        </pc:spChg>
        <pc:spChg chg="mod">
          <ac:chgData name="Sonali Shekhawat" userId="0309683e1721122f" providerId="LiveId" clId="{81579934-A0E3-4E5B-A9C3-621F00061F9F}" dt="2026-03-19T09:20:42.459" v="99" actId="1076"/>
          <ac:spMkLst>
            <pc:docMk/>
            <pc:sldMk cId="0" sldId="268"/>
            <ac:spMk id="39" creationId="{00000000-0000-0000-0000-000000000000}"/>
          </ac:spMkLst>
        </pc:spChg>
        <pc:spChg chg="mod">
          <ac:chgData name="Sonali Shekhawat" userId="0309683e1721122f" providerId="LiveId" clId="{81579934-A0E3-4E5B-A9C3-621F00061F9F}" dt="2026-03-19T09:19:34.491" v="91" actId="1076"/>
          <ac:spMkLst>
            <pc:docMk/>
            <pc:sldMk cId="0" sldId="268"/>
            <ac:spMk id="40" creationId="{00000000-0000-0000-0000-000000000000}"/>
          </ac:spMkLst>
        </pc:spChg>
        <pc:spChg chg="mod">
          <ac:chgData name="Sonali Shekhawat" userId="0309683e1721122f" providerId="LiveId" clId="{81579934-A0E3-4E5B-A9C3-621F00061F9F}" dt="2026-03-19T09:21:14.785" v="104" actId="1076"/>
          <ac:spMkLst>
            <pc:docMk/>
            <pc:sldMk cId="0" sldId="268"/>
            <ac:spMk id="41" creationId="{00000000-0000-0000-0000-000000000000}"/>
          </ac:spMkLst>
        </pc:spChg>
        <pc:spChg chg="mod">
          <ac:chgData name="Sonali Shekhawat" userId="0309683e1721122f" providerId="LiveId" clId="{81579934-A0E3-4E5B-A9C3-621F00061F9F}" dt="2026-03-19T09:20:57.970" v="100" actId="1076"/>
          <ac:spMkLst>
            <pc:docMk/>
            <pc:sldMk cId="0" sldId="268"/>
            <ac:spMk id="42" creationId="{00000000-0000-0000-0000-000000000000}"/>
          </ac:spMkLst>
        </pc:spChg>
        <pc:spChg chg="mod">
          <ac:chgData name="Sonali Shekhawat" userId="0309683e1721122f" providerId="LiveId" clId="{81579934-A0E3-4E5B-A9C3-621F00061F9F}" dt="2026-03-19T09:21:31.510" v="108" actId="1076"/>
          <ac:spMkLst>
            <pc:docMk/>
            <pc:sldMk cId="0" sldId="268"/>
            <ac:spMk id="43" creationId="{00000000-0000-0000-0000-000000000000}"/>
          </ac:spMkLst>
        </pc:spChg>
        <pc:spChg chg="mod">
          <ac:chgData name="Sonali Shekhawat" userId="0309683e1721122f" providerId="LiveId" clId="{81579934-A0E3-4E5B-A9C3-621F00061F9F}" dt="2026-03-19T09:21:02.764" v="101" actId="1076"/>
          <ac:spMkLst>
            <pc:docMk/>
            <pc:sldMk cId="0" sldId="268"/>
            <ac:spMk id="44" creationId="{00000000-0000-0000-0000-000000000000}"/>
          </ac:spMkLst>
        </pc:spChg>
        <pc:spChg chg="add del">
          <ac:chgData name="Sonali Shekhawat" userId="0309683e1721122f" providerId="LiveId" clId="{81579934-A0E3-4E5B-A9C3-621F00061F9F}" dt="2026-03-19T09:16:07.519" v="60" actId="478"/>
          <ac:spMkLst>
            <pc:docMk/>
            <pc:sldMk cId="0" sldId="268"/>
            <ac:spMk id="45" creationId="{00000000-0000-0000-0000-000000000000}"/>
          </ac:spMkLst>
        </pc:spChg>
        <pc:spChg chg="del">
          <ac:chgData name="Sonali Shekhawat" userId="0309683e1721122f" providerId="LiveId" clId="{81579934-A0E3-4E5B-A9C3-621F00061F9F}" dt="2026-03-19T09:16:07.519" v="60" actId="478"/>
          <ac:spMkLst>
            <pc:docMk/>
            <pc:sldMk cId="0" sldId="268"/>
            <ac:spMk id="46" creationId="{00000000-0000-0000-0000-000000000000}"/>
          </ac:spMkLst>
        </pc:spChg>
        <pc:spChg chg="del">
          <ac:chgData name="Sonali Shekhawat" userId="0309683e1721122f" providerId="LiveId" clId="{81579934-A0E3-4E5B-A9C3-621F00061F9F}" dt="2026-03-19T09:16:07.519" v="60" actId="478"/>
          <ac:spMkLst>
            <pc:docMk/>
            <pc:sldMk cId="0" sldId="268"/>
            <ac:spMk id="47" creationId="{00000000-0000-0000-0000-000000000000}"/>
          </ac:spMkLst>
        </pc:spChg>
        <pc:spChg chg="del">
          <ac:chgData name="Sonali Shekhawat" userId="0309683e1721122f" providerId="LiveId" clId="{81579934-A0E3-4E5B-A9C3-621F00061F9F}" dt="2026-03-19T09:22:06.460" v="115" actId="478"/>
          <ac:spMkLst>
            <pc:docMk/>
            <pc:sldMk cId="0" sldId="268"/>
            <ac:spMk id="48" creationId="{00000000-0000-0000-0000-000000000000}"/>
          </ac:spMkLst>
        </pc:spChg>
        <pc:spChg chg="del">
          <ac:chgData name="Sonali Shekhawat" userId="0309683e1721122f" providerId="LiveId" clId="{81579934-A0E3-4E5B-A9C3-621F00061F9F}" dt="2026-03-19T09:16:07.519" v="60" actId="478"/>
          <ac:spMkLst>
            <pc:docMk/>
            <pc:sldMk cId="0" sldId="268"/>
            <ac:spMk id="49" creationId="{00000000-0000-0000-0000-000000000000}"/>
          </ac:spMkLst>
        </pc:spChg>
        <pc:spChg chg="del">
          <ac:chgData name="Sonali Shekhawat" userId="0309683e1721122f" providerId="LiveId" clId="{81579934-A0E3-4E5B-A9C3-621F00061F9F}" dt="2026-03-19T09:16:07.519" v="60" actId="478"/>
          <ac:spMkLst>
            <pc:docMk/>
            <pc:sldMk cId="0" sldId="268"/>
            <ac:spMk id="50" creationId="{00000000-0000-0000-0000-000000000000}"/>
          </ac:spMkLst>
        </pc:spChg>
        <pc:spChg chg="del">
          <ac:chgData name="Sonali Shekhawat" userId="0309683e1721122f" providerId="LiveId" clId="{81579934-A0E3-4E5B-A9C3-621F00061F9F}" dt="2026-03-19T09:16:07.519" v="60" actId="478"/>
          <ac:spMkLst>
            <pc:docMk/>
            <pc:sldMk cId="0" sldId="268"/>
            <ac:spMk id="52" creationId="{00000000-0000-0000-0000-000000000000}"/>
          </ac:spMkLst>
        </pc:spChg>
      </pc:sldChg>
      <pc:sldChg chg="delSp mod">
        <pc:chgData name="Sonali Shekhawat" userId="0309683e1721122f" providerId="LiveId" clId="{81579934-A0E3-4E5B-A9C3-621F00061F9F}" dt="2026-03-19T09:22:50.030" v="119" actId="478"/>
        <pc:sldMkLst>
          <pc:docMk/>
          <pc:sldMk cId="0" sldId="270"/>
        </pc:sldMkLst>
        <pc:spChg chg="del">
          <ac:chgData name="Sonali Shekhawat" userId="0309683e1721122f" providerId="LiveId" clId="{81579934-A0E3-4E5B-A9C3-621F00061F9F}" dt="2026-03-19T09:22:43.437" v="118" actId="478"/>
          <ac:spMkLst>
            <pc:docMk/>
            <pc:sldMk cId="0" sldId="270"/>
            <ac:spMk id="30" creationId="{00000000-0000-0000-0000-000000000000}"/>
          </ac:spMkLst>
        </pc:spChg>
        <pc:spChg chg="del">
          <ac:chgData name="Sonali Shekhawat" userId="0309683e1721122f" providerId="LiveId" clId="{81579934-A0E3-4E5B-A9C3-621F00061F9F}" dt="2026-03-19T09:22:50.030" v="119" actId="478"/>
          <ac:spMkLst>
            <pc:docMk/>
            <pc:sldMk cId="0" sldId="270"/>
            <ac:spMk id="31" creationId="{00000000-0000-0000-0000-000000000000}"/>
          </ac:spMkLst>
        </pc:spChg>
        <pc:spChg chg="del">
          <ac:chgData name="Sonali Shekhawat" userId="0309683e1721122f" providerId="LiveId" clId="{81579934-A0E3-4E5B-A9C3-621F00061F9F}" dt="2026-03-19T09:22:50.030" v="119" actId="478"/>
          <ac:spMkLst>
            <pc:docMk/>
            <pc:sldMk cId="0" sldId="270"/>
            <ac:spMk id="32" creationId="{00000000-0000-0000-0000-000000000000}"/>
          </ac:spMkLst>
        </pc:spChg>
        <pc:spChg chg="del">
          <ac:chgData name="Sonali Shekhawat" userId="0309683e1721122f" providerId="LiveId" clId="{81579934-A0E3-4E5B-A9C3-621F00061F9F}" dt="2026-03-19T09:22:50.030" v="119" actId="478"/>
          <ac:spMkLst>
            <pc:docMk/>
            <pc:sldMk cId="0" sldId="270"/>
            <ac:spMk id="33" creationId="{00000000-0000-0000-0000-000000000000}"/>
          </ac:spMkLst>
        </pc:spChg>
        <pc:spChg chg="del">
          <ac:chgData name="Sonali Shekhawat" userId="0309683e1721122f" providerId="LiveId" clId="{81579934-A0E3-4E5B-A9C3-621F00061F9F}" dt="2026-03-19T09:22:50.030" v="119" actId="478"/>
          <ac:spMkLst>
            <pc:docMk/>
            <pc:sldMk cId="0" sldId="270"/>
            <ac:spMk id="34" creationId="{00000000-0000-0000-0000-000000000000}"/>
          </ac:spMkLst>
        </pc:spChg>
        <pc:spChg chg="del">
          <ac:chgData name="Sonali Shekhawat" userId="0309683e1721122f" providerId="LiveId" clId="{81579934-A0E3-4E5B-A9C3-621F00061F9F}" dt="2026-03-19T09:22:40.466" v="117" actId="478"/>
          <ac:spMkLst>
            <pc:docMk/>
            <pc:sldMk cId="0" sldId="270"/>
            <ac:spMk id="35" creationId="{00000000-0000-0000-0000-000000000000}"/>
          </ac:spMkLst>
        </pc:spChg>
      </pc:sldChg>
      <pc:sldChg chg="delSp modSp mod">
        <pc:chgData name="Sonali Shekhawat" userId="0309683e1721122f" providerId="LiveId" clId="{81579934-A0E3-4E5B-A9C3-621F00061F9F}" dt="2026-03-19T09:26:25.350" v="143" actId="478"/>
        <pc:sldMkLst>
          <pc:docMk/>
          <pc:sldMk cId="0" sldId="271"/>
        </pc:sldMkLst>
        <pc:spChg chg="mod">
          <ac:chgData name="Sonali Shekhawat" userId="0309683e1721122f" providerId="LiveId" clId="{81579934-A0E3-4E5B-A9C3-621F00061F9F}" dt="2026-03-19T09:23:18.972" v="120" actId="1076"/>
          <ac:spMkLst>
            <pc:docMk/>
            <pc:sldMk cId="0" sldId="271"/>
            <ac:spMk id="3" creationId="{00000000-0000-0000-0000-000000000000}"/>
          </ac:spMkLst>
        </pc:spChg>
        <pc:spChg chg="mod">
          <ac:chgData name="Sonali Shekhawat" userId="0309683e1721122f" providerId="LiveId" clId="{81579934-A0E3-4E5B-A9C3-621F00061F9F}" dt="2026-03-19T09:23:35.371" v="125" actId="403"/>
          <ac:spMkLst>
            <pc:docMk/>
            <pc:sldMk cId="0" sldId="271"/>
            <ac:spMk id="4" creationId="{00000000-0000-0000-0000-000000000000}"/>
          </ac:spMkLst>
        </pc:spChg>
        <pc:spChg chg="mod">
          <ac:chgData name="Sonali Shekhawat" userId="0309683e1721122f" providerId="LiveId" clId="{81579934-A0E3-4E5B-A9C3-621F00061F9F}" dt="2026-03-19T09:25:28.143" v="138" actId="1076"/>
          <ac:spMkLst>
            <pc:docMk/>
            <pc:sldMk cId="0" sldId="271"/>
            <ac:spMk id="6" creationId="{00000000-0000-0000-0000-000000000000}"/>
          </ac:spMkLst>
        </pc:spChg>
        <pc:spChg chg="mod">
          <ac:chgData name="Sonali Shekhawat" userId="0309683e1721122f" providerId="LiveId" clId="{81579934-A0E3-4E5B-A9C3-621F00061F9F}" dt="2026-03-19T09:24:21.823" v="128" actId="1076"/>
          <ac:spMkLst>
            <pc:docMk/>
            <pc:sldMk cId="0" sldId="271"/>
            <ac:spMk id="8" creationId="{00000000-0000-0000-0000-000000000000}"/>
          </ac:spMkLst>
        </pc:spChg>
        <pc:spChg chg="mod">
          <ac:chgData name="Sonali Shekhawat" userId="0309683e1721122f" providerId="LiveId" clId="{81579934-A0E3-4E5B-A9C3-621F00061F9F}" dt="2026-03-19T09:25:07.077" v="134" actId="1076"/>
          <ac:spMkLst>
            <pc:docMk/>
            <pc:sldMk cId="0" sldId="271"/>
            <ac:spMk id="9" creationId="{00000000-0000-0000-0000-000000000000}"/>
          </ac:spMkLst>
        </pc:spChg>
        <pc:spChg chg="mod">
          <ac:chgData name="Sonali Shekhawat" userId="0309683e1721122f" providerId="LiveId" clId="{81579934-A0E3-4E5B-A9C3-621F00061F9F}" dt="2026-03-19T09:24:21.823" v="128" actId="1076"/>
          <ac:spMkLst>
            <pc:docMk/>
            <pc:sldMk cId="0" sldId="271"/>
            <ac:spMk id="10" creationId="{00000000-0000-0000-0000-000000000000}"/>
          </ac:spMkLst>
        </pc:spChg>
        <pc:spChg chg="mod">
          <ac:chgData name="Sonali Shekhawat" userId="0309683e1721122f" providerId="LiveId" clId="{81579934-A0E3-4E5B-A9C3-621F00061F9F}" dt="2026-03-19T09:24:52.698" v="131" actId="1076"/>
          <ac:spMkLst>
            <pc:docMk/>
            <pc:sldMk cId="0" sldId="271"/>
            <ac:spMk id="11" creationId="{00000000-0000-0000-0000-000000000000}"/>
          </ac:spMkLst>
        </pc:spChg>
        <pc:spChg chg="mod">
          <ac:chgData name="Sonali Shekhawat" userId="0309683e1721122f" providerId="LiveId" clId="{81579934-A0E3-4E5B-A9C3-621F00061F9F}" dt="2026-03-19T09:24:21.823" v="128" actId="1076"/>
          <ac:spMkLst>
            <pc:docMk/>
            <pc:sldMk cId="0" sldId="271"/>
            <ac:spMk id="12" creationId="{00000000-0000-0000-0000-000000000000}"/>
          </ac:spMkLst>
        </pc:spChg>
        <pc:spChg chg="mod">
          <ac:chgData name="Sonali Shekhawat" userId="0309683e1721122f" providerId="LiveId" clId="{81579934-A0E3-4E5B-A9C3-621F00061F9F}" dt="2026-03-19T09:25:15.101" v="135" actId="1076"/>
          <ac:spMkLst>
            <pc:docMk/>
            <pc:sldMk cId="0" sldId="271"/>
            <ac:spMk id="13" creationId="{00000000-0000-0000-0000-000000000000}"/>
          </ac:spMkLst>
        </pc:spChg>
        <pc:spChg chg="mod">
          <ac:chgData name="Sonali Shekhawat" userId="0309683e1721122f" providerId="LiveId" clId="{81579934-A0E3-4E5B-A9C3-621F00061F9F}" dt="2026-03-19T09:24:21.823" v="128" actId="1076"/>
          <ac:spMkLst>
            <pc:docMk/>
            <pc:sldMk cId="0" sldId="271"/>
            <ac:spMk id="14" creationId="{00000000-0000-0000-0000-000000000000}"/>
          </ac:spMkLst>
        </pc:spChg>
        <pc:spChg chg="mod">
          <ac:chgData name="Sonali Shekhawat" userId="0309683e1721122f" providerId="LiveId" clId="{81579934-A0E3-4E5B-A9C3-621F00061F9F}" dt="2026-03-19T09:25:21.634" v="136" actId="1076"/>
          <ac:spMkLst>
            <pc:docMk/>
            <pc:sldMk cId="0" sldId="271"/>
            <ac:spMk id="15" creationId="{00000000-0000-0000-0000-000000000000}"/>
          </ac:spMkLst>
        </pc:spChg>
        <pc:spChg chg="mod">
          <ac:chgData name="Sonali Shekhawat" userId="0309683e1721122f" providerId="LiveId" clId="{81579934-A0E3-4E5B-A9C3-621F00061F9F}" dt="2026-03-19T09:24:21.823" v="128" actId="1076"/>
          <ac:spMkLst>
            <pc:docMk/>
            <pc:sldMk cId="0" sldId="271"/>
            <ac:spMk id="16" creationId="{00000000-0000-0000-0000-000000000000}"/>
          </ac:spMkLst>
        </pc:spChg>
        <pc:spChg chg="mod">
          <ac:chgData name="Sonali Shekhawat" userId="0309683e1721122f" providerId="LiveId" clId="{81579934-A0E3-4E5B-A9C3-621F00061F9F}" dt="2026-03-19T09:25:37.207" v="139" actId="1076"/>
          <ac:spMkLst>
            <pc:docMk/>
            <pc:sldMk cId="0" sldId="271"/>
            <ac:spMk id="17" creationId="{00000000-0000-0000-0000-000000000000}"/>
          </ac:spMkLst>
        </pc:spChg>
        <pc:spChg chg="mod">
          <ac:chgData name="Sonali Shekhawat" userId="0309683e1721122f" providerId="LiveId" clId="{81579934-A0E3-4E5B-A9C3-621F00061F9F}" dt="2026-03-19T09:24:21.823" v="128" actId="1076"/>
          <ac:spMkLst>
            <pc:docMk/>
            <pc:sldMk cId="0" sldId="271"/>
            <ac:spMk id="18" creationId="{00000000-0000-0000-0000-000000000000}"/>
          </ac:spMkLst>
        </pc:spChg>
        <pc:spChg chg="del">
          <ac:chgData name="Sonali Shekhawat" userId="0309683e1721122f" providerId="LiveId" clId="{81579934-A0E3-4E5B-A9C3-621F00061F9F}" dt="2026-03-19T09:26:25.350" v="143" actId="478"/>
          <ac:spMkLst>
            <pc:docMk/>
            <pc:sldMk cId="0" sldId="271"/>
            <ac:spMk id="19" creationId="{00000000-0000-0000-0000-000000000000}"/>
          </ac:spMkLst>
        </pc:spChg>
        <pc:graphicFrameChg chg="mod">
          <ac:chgData name="Sonali Shekhawat" userId="0309683e1721122f" providerId="LiveId" clId="{81579934-A0E3-4E5B-A9C3-621F00061F9F}" dt="2026-03-19T09:23:24.195" v="121" actId="1076"/>
          <ac:graphicFrameMkLst>
            <pc:docMk/>
            <pc:sldMk cId="0" sldId="271"/>
            <ac:graphicFrameMk id="5" creationId="{00000000-0000-0000-0000-000000000000}"/>
          </ac:graphicFrameMkLst>
        </pc:graphicFrameChg>
      </pc:sldChg>
      <pc:sldChg chg="delSp modSp mod">
        <pc:chgData name="Sonali Shekhawat" userId="0309683e1721122f" providerId="LiveId" clId="{81579934-A0E3-4E5B-A9C3-621F00061F9F}" dt="2026-03-19T09:26:31.328" v="144" actId="478"/>
        <pc:sldMkLst>
          <pc:docMk/>
          <pc:sldMk cId="0" sldId="272"/>
        </pc:sldMkLst>
        <pc:spChg chg="mod">
          <ac:chgData name="Sonali Shekhawat" userId="0309683e1721122f" providerId="LiveId" clId="{81579934-A0E3-4E5B-A9C3-621F00061F9F}" dt="2026-03-19T09:26:12.332" v="142" actId="14100"/>
          <ac:spMkLst>
            <pc:docMk/>
            <pc:sldMk cId="0" sldId="272"/>
            <ac:spMk id="2" creationId="{00000000-0000-0000-0000-000000000000}"/>
          </ac:spMkLst>
        </pc:spChg>
        <pc:spChg chg="mod">
          <ac:chgData name="Sonali Shekhawat" userId="0309683e1721122f" providerId="LiveId" clId="{81579934-A0E3-4E5B-A9C3-621F00061F9F}" dt="2026-03-19T09:25:56.848" v="140" actId="1076"/>
          <ac:spMkLst>
            <pc:docMk/>
            <pc:sldMk cId="0" sldId="272"/>
            <ac:spMk id="3" creationId="{00000000-0000-0000-0000-000000000000}"/>
          </ac:spMkLst>
        </pc:spChg>
        <pc:spChg chg="mod">
          <ac:chgData name="Sonali Shekhawat" userId="0309683e1721122f" providerId="LiveId" clId="{81579934-A0E3-4E5B-A9C3-621F00061F9F}" dt="2026-03-19T09:25:56.848" v="140" actId="1076"/>
          <ac:spMkLst>
            <pc:docMk/>
            <pc:sldMk cId="0" sldId="272"/>
            <ac:spMk id="4" creationId="{00000000-0000-0000-0000-000000000000}"/>
          </ac:spMkLst>
        </pc:spChg>
        <pc:spChg chg="del">
          <ac:chgData name="Sonali Shekhawat" userId="0309683e1721122f" providerId="LiveId" clId="{81579934-A0E3-4E5B-A9C3-621F00061F9F}" dt="2026-03-19T09:26:31.328" v="144" actId="478"/>
          <ac:spMkLst>
            <pc:docMk/>
            <pc:sldMk cId="0" sldId="272"/>
            <ac:spMk id="16" creationId="{00000000-0000-0000-0000-000000000000}"/>
          </ac:spMkLst>
        </pc:spChg>
      </pc:sldChg>
      <pc:sldChg chg="modSp mod">
        <pc:chgData name="Sonali Shekhawat" userId="0309683e1721122f" providerId="LiveId" clId="{81579934-A0E3-4E5B-A9C3-621F00061F9F}" dt="2026-03-19T09:31:10.011" v="156" actId="207"/>
        <pc:sldMkLst>
          <pc:docMk/>
          <pc:sldMk cId="0" sldId="273"/>
        </pc:sldMkLst>
        <pc:spChg chg="mod">
          <ac:chgData name="Sonali Shekhawat" userId="0309683e1721122f" providerId="LiveId" clId="{81579934-A0E3-4E5B-A9C3-621F00061F9F}" dt="2026-03-19T09:27:17.339" v="146" actId="14100"/>
          <ac:spMkLst>
            <pc:docMk/>
            <pc:sldMk cId="0" sldId="273"/>
            <ac:spMk id="2" creationId="{00000000-0000-0000-0000-000000000000}"/>
          </ac:spMkLst>
        </pc:spChg>
        <pc:spChg chg="mod">
          <ac:chgData name="Sonali Shekhawat" userId="0309683e1721122f" providerId="LiveId" clId="{81579934-A0E3-4E5B-A9C3-621F00061F9F}" dt="2026-03-19T09:26:54.751" v="145" actId="1076"/>
          <ac:spMkLst>
            <pc:docMk/>
            <pc:sldMk cId="0" sldId="273"/>
            <ac:spMk id="3" creationId="{00000000-0000-0000-0000-000000000000}"/>
          </ac:spMkLst>
        </pc:spChg>
        <pc:spChg chg="mod">
          <ac:chgData name="Sonali Shekhawat" userId="0309683e1721122f" providerId="LiveId" clId="{81579934-A0E3-4E5B-A9C3-621F00061F9F}" dt="2026-03-19T09:26:54.751" v="145" actId="1076"/>
          <ac:spMkLst>
            <pc:docMk/>
            <pc:sldMk cId="0" sldId="273"/>
            <ac:spMk id="4" creationId="{00000000-0000-0000-0000-000000000000}"/>
          </ac:spMkLst>
        </pc:spChg>
        <pc:graphicFrameChg chg="mod">
          <ac:chgData name="Sonali Shekhawat" userId="0309683e1721122f" providerId="LiveId" clId="{81579934-A0E3-4E5B-A9C3-621F00061F9F}" dt="2026-03-19T09:31:10.011" v="156" actId="207"/>
          <ac:graphicFrameMkLst>
            <pc:docMk/>
            <pc:sldMk cId="0" sldId="273"/>
            <ac:graphicFrameMk id="5" creationId="{00000000-0000-0000-0000-000000000000}"/>
          </ac:graphicFrameMkLst>
        </pc:graphicFrameChg>
      </pc:sldChg>
      <pc:sldChg chg="del">
        <pc:chgData name="Sonali Shekhawat" userId="0309683e1721122f" providerId="LiveId" clId="{81579934-A0E3-4E5B-A9C3-621F00061F9F}" dt="2026-03-19T09:28:12.819" v="147" actId="2696"/>
        <pc:sldMkLst>
          <pc:docMk/>
          <pc:sldMk cId="0" sldId="274"/>
        </pc:sldMkLst>
      </pc:sldChg>
      <pc:sldChg chg="modSp mod">
        <pc:chgData name="Sonali Shekhawat" userId="0309683e1721122f" providerId="LiveId" clId="{81579934-A0E3-4E5B-A9C3-621F00061F9F}" dt="2026-03-19T09:30:28.374" v="155" actId="20577"/>
        <pc:sldMkLst>
          <pc:docMk/>
          <pc:sldMk cId="0" sldId="275"/>
        </pc:sldMkLst>
        <pc:spChg chg="mod">
          <ac:chgData name="Sonali Shekhawat" userId="0309683e1721122f" providerId="LiveId" clId="{81579934-A0E3-4E5B-A9C3-621F00061F9F}" dt="2026-03-19T09:28:35.337" v="148" actId="14100"/>
          <ac:spMkLst>
            <pc:docMk/>
            <pc:sldMk cId="0" sldId="275"/>
            <ac:spMk id="2" creationId="{00000000-0000-0000-0000-000000000000}"/>
          </ac:spMkLst>
        </pc:spChg>
        <pc:spChg chg="mod">
          <ac:chgData name="Sonali Shekhawat" userId="0309683e1721122f" providerId="LiveId" clId="{81579934-A0E3-4E5B-A9C3-621F00061F9F}" dt="2026-03-19T09:30:28.374" v="155" actId="20577"/>
          <ac:spMkLst>
            <pc:docMk/>
            <pc:sldMk cId="0" sldId="275"/>
            <ac:spMk id="6" creationId="{00000000-0000-0000-0000-000000000000}"/>
          </ac:spMkLst>
        </pc:spChg>
      </pc:sldChg>
      <pc:sldChg chg="modSp mod">
        <pc:chgData name="Sonali Shekhawat" userId="0309683e1721122f" providerId="LiveId" clId="{81579934-A0E3-4E5B-A9C3-621F00061F9F}" dt="2026-03-19T09:29:16.774" v="152" actId="14100"/>
        <pc:sldMkLst>
          <pc:docMk/>
          <pc:sldMk cId="0" sldId="276"/>
        </pc:sldMkLst>
        <pc:spChg chg="mod">
          <ac:chgData name="Sonali Shekhawat" userId="0309683e1721122f" providerId="LiveId" clId="{81579934-A0E3-4E5B-A9C3-621F00061F9F}" dt="2026-03-19T09:28:49.754" v="149" actId="14100"/>
          <ac:spMkLst>
            <pc:docMk/>
            <pc:sldMk cId="0" sldId="276"/>
            <ac:spMk id="2" creationId="{00000000-0000-0000-0000-000000000000}"/>
          </ac:spMkLst>
        </pc:spChg>
        <pc:spChg chg="mod">
          <ac:chgData name="Sonali Shekhawat" userId="0309683e1721122f" providerId="LiveId" clId="{81579934-A0E3-4E5B-A9C3-621F00061F9F}" dt="2026-03-19T09:29:16.774" v="152" actId="14100"/>
          <ac:spMkLst>
            <pc:docMk/>
            <pc:sldMk cId="0" sldId="276"/>
            <ac:spMk id="3" creationId="{00000000-0000-0000-0000-000000000000}"/>
          </ac:spMkLst>
        </pc:spChg>
        <pc:spChg chg="mod">
          <ac:chgData name="Sonali Shekhawat" userId="0309683e1721122f" providerId="LiveId" clId="{81579934-A0E3-4E5B-A9C3-621F00061F9F}" dt="2026-03-19T09:28:57.067" v="150" actId="1076"/>
          <ac:spMkLst>
            <pc:docMk/>
            <pc:sldMk cId="0" sldId="276"/>
            <ac:spMk id="4" creationId="{00000000-0000-0000-0000-000000000000}"/>
          </ac:spMkLst>
        </pc:spChg>
      </pc:sldChg>
      <pc:sldChg chg="modSp mod">
        <pc:chgData name="Sonali Shekhawat" userId="0309683e1721122f" providerId="LiveId" clId="{81579934-A0E3-4E5B-A9C3-621F00061F9F}" dt="2026-03-19T09:29:48.911" v="154" actId="14100"/>
        <pc:sldMkLst>
          <pc:docMk/>
          <pc:sldMk cId="0" sldId="277"/>
        </pc:sldMkLst>
        <pc:spChg chg="mod">
          <ac:chgData name="Sonali Shekhawat" userId="0309683e1721122f" providerId="LiveId" clId="{81579934-A0E3-4E5B-A9C3-621F00061F9F}" dt="2026-03-19T09:29:41.029" v="153" actId="1076"/>
          <ac:spMkLst>
            <pc:docMk/>
            <pc:sldMk cId="0" sldId="277"/>
            <ac:spMk id="2" creationId="{00000000-0000-0000-0000-000000000000}"/>
          </ac:spMkLst>
        </pc:spChg>
        <pc:spChg chg="mod">
          <ac:chgData name="Sonali Shekhawat" userId="0309683e1721122f" providerId="LiveId" clId="{81579934-A0E3-4E5B-A9C3-621F00061F9F}" dt="2026-03-19T09:29:48.911" v="154" actId="14100"/>
          <ac:spMkLst>
            <pc:docMk/>
            <pc:sldMk cId="0" sldId="277"/>
            <ac:spMk id="3" creationId="{00000000-0000-0000-0000-000000000000}"/>
          </ac:spMkLst>
        </pc:spChg>
        <pc:spChg chg="mod">
          <ac:chgData name="Sonali Shekhawat" userId="0309683e1721122f" providerId="LiveId" clId="{81579934-A0E3-4E5B-A9C3-621F00061F9F}" dt="2026-03-19T09:29:41.029" v="153" actId="1076"/>
          <ac:spMkLst>
            <pc:docMk/>
            <pc:sldMk cId="0" sldId="277"/>
            <ac:spMk id="4" creationId="{00000000-0000-0000-0000-000000000000}"/>
          </ac:spMkLst>
        </pc:spChg>
      </pc:sldChg>
      <pc:sldChg chg="modSp mod">
        <pc:chgData name="Sonali Shekhawat" userId="0309683e1721122f" providerId="LiveId" clId="{81579934-A0E3-4E5B-A9C3-621F00061F9F}" dt="2026-03-19T09:32:09.991" v="159" actId="14100"/>
        <pc:sldMkLst>
          <pc:docMk/>
          <pc:sldMk cId="0" sldId="280"/>
        </pc:sldMkLst>
        <pc:spChg chg="mod">
          <ac:chgData name="Sonali Shekhawat" userId="0309683e1721122f" providerId="LiveId" clId="{81579934-A0E3-4E5B-A9C3-621F00061F9F}" dt="2026-03-19T09:32:09.991" v="159" actId="14100"/>
          <ac:spMkLst>
            <pc:docMk/>
            <pc:sldMk cId="0" sldId="280"/>
            <ac:spMk id="2" creationId="{00000000-0000-0000-0000-000000000000}"/>
          </ac:spMkLst>
        </pc:spChg>
        <pc:spChg chg="mod">
          <ac:chgData name="Sonali Shekhawat" userId="0309683e1721122f" providerId="LiveId" clId="{81579934-A0E3-4E5B-A9C3-621F00061F9F}" dt="2026-03-19T09:31:59.025" v="158" actId="14100"/>
          <ac:spMkLst>
            <pc:docMk/>
            <pc:sldMk cId="0" sldId="280"/>
            <ac:spMk id="3" creationId="{00000000-0000-0000-0000-000000000000}"/>
          </ac:spMkLst>
        </pc:spChg>
        <pc:spChg chg="mod">
          <ac:chgData name="Sonali Shekhawat" userId="0309683e1721122f" providerId="LiveId" clId="{81579934-A0E3-4E5B-A9C3-621F00061F9F}" dt="2026-03-19T09:31:49.948" v="157" actId="1076"/>
          <ac:spMkLst>
            <pc:docMk/>
            <pc:sldMk cId="0" sldId="280"/>
            <ac:spMk id="4" creationId="{00000000-0000-0000-0000-000000000000}"/>
          </ac:spMkLst>
        </pc:spChg>
      </pc:sldChg>
      <pc:sldChg chg="delSp mod">
        <pc:chgData name="Sonali Shekhawat" userId="0309683e1721122f" providerId="LiveId" clId="{81579934-A0E3-4E5B-A9C3-621F00061F9F}" dt="2026-03-19T09:32:48.882" v="160" actId="478"/>
        <pc:sldMkLst>
          <pc:docMk/>
          <pc:sldMk cId="0" sldId="283"/>
        </pc:sldMkLst>
        <pc:spChg chg="del">
          <ac:chgData name="Sonali Shekhawat" userId="0309683e1721122f" providerId="LiveId" clId="{81579934-A0E3-4E5B-A9C3-621F00061F9F}" dt="2026-03-19T09:32:48.882" v="160" actId="478"/>
          <ac:spMkLst>
            <pc:docMk/>
            <pc:sldMk cId="0" sldId="283"/>
            <ac:spMk id="26" creationId="{00000000-0000-0000-0000-000000000000}"/>
          </ac:spMkLst>
        </pc:spChg>
        <pc:spChg chg="del">
          <ac:chgData name="Sonali Shekhawat" userId="0309683e1721122f" providerId="LiveId" clId="{81579934-A0E3-4E5B-A9C3-621F00061F9F}" dt="2026-03-19T09:32:48.882" v="160" actId="478"/>
          <ac:spMkLst>
            <pc:docMk/>
            <pc:sldMk cId="0" sldId="283"/>
            <ac:spMk id="27" creationId="{00000000-0000-0000-0000-000000000000}"/>
          </ac:spMkLst>
        </pc:spChg>
      </pc:sldChg>
      <pc:sldChg chg="modSp mod">
        <pc:chgData name="Sonali Shekhawat" userId="0309683e1721122f" providerId="LiveId" clId="{81579934-A0E3-4E5B-A9C3-621F00061F9F}" dt="2026-03-19T09:33:26.763" v="164" actId="14100"/>
        <pc:sldMkLst>
          <pc:docMk/>
          <pc:sldMk cId="0" sldId="284"/>
        </pc:sldMkLst>
        <pc:spChg chg="mod">
          <ac:chgData name="Sonali Shekhawat" userId="0309683e1721122f" providerId="LiveId" clId="{81579934-A0E3-4E5B-A9C3-621F00061F9F}" dt="2026-03-19T09:33:16.255" v="162" actId="14100"/>
          <ac:spMkLst>
            <pc:docMk/>
            <pc:sldMk cId="0" sldId="284"/>
            <ac:spMk id="2" creationId="{00000000-0000-0000-0000-000000000000}"/>
          </ac:spMkLst>
        </pc:spChg>
        <pc:spChg chg="mod">
          <ac:chgData name="Sonali Shekhawat" userId="0309683e1721122f" providerId="LiveId" clId="{81579934-A0E3-4E5B-A9C3-621F00061F9F}" dt="2026-03-19T09:33:26.763" v="164" actId="14100"/>
          <ac:spMkLst>
            <pc:docMk/>
            <pc:sldMk cId="0" sldId="284"/>
            <ac:spMk id="3" creationId="{00000000-0000-0000-0000-000000000000}"/>
          </ac:spMkLst>
        </pc:spChg>
        <pc:spChg chg="mod">
          <ac:chgData name="Sonali Shekhawat" userId="0309683e1721122f" providerId="LiveId" clId="{81579934-A0E3-4E5B-A9C3-621F00061F9F}" dt="2026-03-19T09:33:23.663" v="163" actId="1076"/>
          <ac:spMkLst>
            <pc:docMk/>
            <pc:sldMk cId="0" sldId="284"/>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Sum of ATH</c:v>
                </c:pt>
              </c:strCache>
            </c:strRef>
          </c:tx>
          <c:spPr>
            <a:solidFill>
              <a:srgbClr val="00C9A7"/>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Function FBTC</c:v>
                </c:pt>
                <c:pt idx="1">
                  <c:v>Coinbase WBTC</c:v>
                </c:pt>
                <c:pt idx="2">
                  <c:v>Wrapped Bitcoin</c:v>
                </c:pt>
                <c:pt idx="3">
                  <c:v>Lombard stBTC</c:v>
                </c:pt>
                <c:pt idx="4">
                  <c:v>Wrapped stETH</c:v>
                </c:pt>
                <c:pt idx="5">
                  <c:v>PAX Gold</c:v>
                </c:pt>
                <c:pt idx="6">
                  <c:v>Rocket Pool ETH</c:v>
                </c:pt>
                <c:pt idx="7">
                  <c:v>Tether Gold</c:v>
                </c:pt>
                <c:pt idx="8">
                  <c:v>Wrapped Beacon ETH</c:v>
                </c:pt>
                <c:pt idx="9">
                  <c:v>Wrapped eETH</c:v>
                </c:pt>
              </c:strCache>
            </c:strRef>
          </c:cat>
          <c:val>
            <c:numRef>
              <c:f>Sheet1!$B$2:$B$11</c:f>
              <c:numCache>
                <c:formatCode>General</c:formatCode>
                <c:ptCount val="10"/>
                <c:pt idx="0">
                  <c:v>128000</c:v>
                </c:pt>
                <c:pt idx="1">
                  <c:v>126000</c:v>
                </c:pt>
                <c:pt idx="2">
                  <c:v>126000</c:v>
                </c:pt>
                <c:pt idx="3">
                  <c:v>126000</c:v>
                </c:pt>
                <c:pt idx="4">
                  <c:v>52000</c:v>
                </c:pt>
                <c:pt idx="5">
                  <c:v>6000</c:v>
                </c:pt>
                <c:pt idx="6">
                  <c:v>6000</c:v>
                </c:pt>
                <c:pt idx="7">
                  <c:v>6000</c:v>
                </c:pt>
                <c:pt idx="8">
                  <c:v>5000</c:v>
                </c:pt>
                <c:pt idx="9">
                  <c:v>5000</c:v>
                </c:pt>
              </c:numCache>
            </c:numRef>
          </c:val>
          <c:extLst>
            <c:ext xmlns:c16="http://schemas.microsoft.com/office/drawing/2014/chart" uri="{C3380CC4-5D6E-409C-BE32-E72D297353CC}">
              <c16:uniqueId val="{00000000-EDDD-4452-B466-BB3BF4259F49}"/>
            </c:ext>
          </c:extLst>
        </c:ser>
        <c:ser>
          <c:idx val="1"/>
          <c:order val="1"/>
          <c:tx>
            <c:strRef>
              <c:f>Sheet1!$C$1</c:f>
              <c:strCache>
                <c:ptCount val="1"/>
                <c:pt idx="0">
                  <c:v>Sum of ATL</c:v>
                </c:pt>
              </c:strCache>
            </c:strRef>
          </c:tx>
          <c:spPr>
            <a:solidFill>
              <a:srgbClr val="F4A261"/>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Function FBTC</c:v>
                </c:pt>
                <c:pt idx="1">
                  <c:v>Coinbase WBTC</c:v>
                </c:pt>
                <c:pt idx="2">
                  <c:v>Wrapped Bitcoin</c:v>
                </c:pt>
                <c:pt idx="3">
                  <c:v>Lombard stBTC</c:v>
                </c:pt>
                <c:pt idx="4">
                  <c:v>Wrapped stETH</c:v>
                </c:pt>
                <c:pt idx="5">
                  <c:v>PAX Gold</c:v>
                </c:pt>
                <c:pt idx="6">
                  <c:v>Rocket Pool ETH</c:v>
                </c:pt>
                <c:pt idx="7">
                  <c:v>Tether Gold</c:v>
                </c:pt>
                <c:pt idx="8">
                  <c:v>Wrapped Beacon ETH</c:v>
                </c:pt>
                <c:pt idx="9">
                  <c:v>Wrapped eETH</c:v>
                </c:pt>
              </c:strCache>
            </c:strRef>
          </c:cat>
          <c:val>
            <c:numRef>
              <c:f>Sheet1!$C$2:$C$11</c:f>
              <c:numCache>
                <c:formatCode>General</c:formatCode>
                <c:ptCount val="10"/>
                <c:pt idx="0">
                  <c:v>11000</c:v>
                </c:pt>
                <c:pt idx="1">
                  <c:v>3000</c:v>
                </c:pt>
                <c:pt idx="2">
                  <c:v>1000</c:v>
                </c:pt>
                <c:pt idx="3">
                  <c:v>0</c:v>
                </c:pt>
                <c:pt idx="4">
                  <c:v>2000</c:v>
                </c:pt>
                <c:pt idx="5">
                  <c:v>0</c:v>
                </c:pt>
                <c:pt idx="6">
                  <c:v>0</c:v>
                </c:pt>
                <c:pt idx="7">
                  <c:v>0</c:v>
                </c:pt>
                <c:pt idx="8">
                  <c:v>0</c:v>
                </c:pt>
                <c:pt idx="9">
                  <c:v>0</c:v>
                </c:pt>
              </c:numCache>
            </c:numRef>
          </c:val>
          <c:extLst>
            <c:ext xmlns:c16="http://schemas.microsoft.com/office/drawing/2014/chart" uri="{C3380CC4-5D6E-409C-BE32-E72D297353CC}">
              <c16:uniqueId val="{00000001-EDDD-4452-B466-BB3BF4259F4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4A3B8"/>
                </a:solidFill>
                <a:latin typeface="Arial"/>
              </a:defRPr>
            </a:pPr>
            <a:endParaRPr lang="en-US"/>
          </a:p>
        </c:txPr>
        <c:crossAx val="2094734554"/>
        <c:crosses val="autoZero"/>
        <c:crossBetween val="between"/>
      </c:valAx>
      <c:spPr>
        <a:solidFill>
          <a:srgbClr val="16213E"/>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16213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ATH Value (K USD)</c:v>
                </c:pt>
              </c:strCache>
            </c:strRef>
          </c:tx>
          <c:spPr>
            <a:ln w="38100" cap="flat">
              <a:solidFill>
                <a:srgbClr val="00C9A7"/>
              </a:solidFill>
              <a:prstDash val="solid"/>
              <a:round/>
            </a:ln>
            <a:effectLst/>
          </c:spPr>
          <c:marker>
            <c:symbol val="circle"/>
            <c:size val="6"/>
            <c:spPr>
              <a:solidFill>
                <a:srgbClr val="00C9A7"/>
              </a:solidFill>
              <a:ln w="9525" cap="flat">
                <a:solidFill>
                  <a:srgbClr val="00C9A7"/>
                </a:solidFill>
                <a:prstDash val="solid"/>
                <a:round/>
              </a:ln>
              <a:effectLst/>
            </c:spPr>
          </c:marker>
          <c:cat>
            <c:strRef>
              <c:f>Sheet1!$A$2:$A$14</c:f>
              <c:strCache>
                <c:ptCount val="13"/>
                <c:pt idx="0">
                  <c:v>2014</c:v>
                </c:pt>
                <c:pt idx="1">
                  <c:v>2015</c:v>
                </c:pt>
                <c:pt idx="2">
                  <c:v>2016</c:v>
                </c:pt>
                <c:pt idx="3">
                  <c:v>2017</c:v>
                </c:pt>
                <c:pt idx="4">
                  <c:v>2018</c:v>
                </c:pt>
                <c:pt idx="5">
                  <c:v>2019</c:v>
                </c:pt>
                <c:pt idx="6">
                  <c:v>2020</c:v>
                </c:pt>
                <c:pt idx="7">
                  <c:v>2021</c:v>
                </c:pt>
                <c:pt idx="8">
                  <c:v>2022</c:v>
                </c:pt>
                <c:pt idx="9">
                  <c:v>2023</c:v>
                </c:pt>
                <c:pt idx="10">
                  <c:v>2024</c:v>
                </c:pt>
                <c:pt idx="11">
                  <c:v>2025</c:v>
                </c:pt>
                <c:pt idx="12">
                  <c:v>2026</c:v>
                </c:pt>
              </c:strCache>
            </c:strRef>
          </c:cat>
          <c:val>
            <c:numRef>
              <c:f>Sheet1!$B$2:$B$14</c:f>
              <c:numCache>
                <c:formatCode>General</c:formatCode>
                <c:ptCount val="13"/>
                <c:pt idx="0">
                  <c:v>0.1</c:v>
                </c:pt>
                <c:pt idx="1">
                  <c:v>0.2</c:v>
                </c:pt>
                <c:pt idx="2">
                  <c:v>0.8</c:v>
                </c:pt>
                <c:pt idx="3">
                  <c:v>5</c:v>
                </c:pt>
                <c:pt idx="4">
                  <c:v>0.2</c:v>
                </c:pt>
                <c:pt idx="5">
                  <c:v>0.3</c:v>
                </c:pt>
                <c:pt idx="6">
                  <c:v>0.5</c:v>
                </c:pt>
                <c:pt idx="7">
                  <c:v>5</c:v>
                </c:pt>
                <c:pt idx="8">
                  <c:v>0.2</c:v>
                </c:pt>
                <c:pt idx="9">
                  <c:v>0.5</c:v>
                </c:pt>
                <c:pt idx="10">
                  <c:v>121</c:v>
                </c:pt>
                <c:pt idx="11">
                  <c:v>12</c:v>
                </c:pt>
                <c:pt idx="12">
                  <c:v>0.2</c:v>
                </c:pt>
              </c:numCache>
            </c:numRef>
          </c:val>
          <c:smooth val="1"/>
          <c:extLst>
            <c:ext xmlns:c16="http://schemas.microsoft.com/office/drawing/2014/chart" uri="{C3380CC4-5D6E-409C-BE32-E72D297353CC}">
              <c16:uniqueId val="{00000000-9F98-4D8E-8484-6565E66FF17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Market Cap Share</c:v>
                </c:pt>
              </c:strCache>
            </c:strRef>
          </c:tx>
          <c:spPr>
            <a:solidFill>
              <a:schemeClr val="accent1"/>
            </a:solidFill>
            <a:ln w="9525" cap="flat">
              <a:solidFill>
                <a:srgbClr val="F9F9F9"/>
              </a:solidFill>
              <a:prstDash val="solid"/>
              <a:round/>
            </a:ln>
            <a:effectLst/>
          </c:spPr>
          <c:dPt>
            <c:idx val="0"/>
            <c:bubble3D val="0"/>
            <c:spPr>
              <a:solidFill>
                <a:srgbClr val="FFB703"/>
              </a:solidFill>
              <a:effectLst/>
            </c:spPr>
            <c:extLst>
              <c:ext xmlns:c16="http://schemas.microsoft.com/office/drawing/2014/chart" uri="{C3380CC4-5D6E-409C-BE32-E72D297353CC}">
                <c16:uniqueId val="{00000001-03BB-447F-8391-F998AD713447}"/>
              </c:ext>
            </c:extLst>
          </c:dPt>
          <c:dPt>
            <c:idx val="1"/>
            <c:bubble3D val="0"/>
            <c:spPr>
              <a:solidFill>
                <a:srgbClr val="00C9A7"/>
              </a:solidFill>
              <a:effectLst/>
            </c:spPr>
            <c:extLst>
              <c:ext xmlns:c16="http://schemas.microsoft.com/office/drawing/2014/chart" uri="{C3380CC4-5D6E-409C-BE32-E72D297353CC}">
                <c16:uniqueId val="{00000003-03BB-447F-8391-F998AD713447}"/>
              </c:ext>
            </c:extLst>
          </c:dPt>
          <c:dPt>
            <c:idx val="2"/>
            <c:bubble3D val="0"/>
            <c:spPr>
              <a:solidFill>
                <a:srgbClr val="4ECDC4"/>
              </a:solidFill>
              <a:effectLst/>
            </c:spPr>
            <c:extLst>
              <c:ext xmlns:c16="http://schemas.microsoft.com/office/drawing/2014/chart" uri="{C3380CC4-5D6E-409C-BE32-E72D297353CC}">
                <c16:uniqueId val="{00000005-03BB-447F-8391-F998AD713447}"/>
              </c:ext>
            </c:extLst>
          </c:dPt>
          <c:dPt>
            <c:idx val="3"/>
            <c:bubble3D val="0"/>
            <c:spPr>
              <a:solidFill>
                <a:srgbClr val="F4A261"/>
              </a:solidFill>
              <a:effectLst/>
            </c:spPr>
            <c:extLst>
              <c:ext xmlns:c16="http://schemas.microsoft.com/office/drawing/2014/chart" uri="{C3380CC4-5D6E-409C-BE32-E72D297353CC}">
                <c16:uniqueId val="{00000007-03BB-447F-8391-F998AD713447}"/>
              </c:ext>
            </c:extLst>
          </c:dPt>
          <c:dPt>
            <c:idx val="4"/>
            <c:bubble3D val="0"/>
            <c:spPr>
              <a:solidFill>
                <a:srgbClr val="FF6B9D"/>
              </a:solidFill>
              <a:effectLst/>
            </c:spPr>
            <c:extLst>
              <c:ext xmlns:c16="http://schemas.microsoft.com/office/drawing/2014/chart" uri="{C3380CC4-5D6E-409C-BE32-E72D297353CC}">
                <c16:uniqueId val="{00000009-03BB-447F-8391-F998AD713447}"/>
              </c:ext>
            </c:extLst>
          </c:dPt>
          <c:dPt>
            <c:idx val="5"/>
            <c:bubble3D val="0"/>
            <c:spPr>
              <a:solidFill>
                <a:srgbClr val="6C63FF"/>
              </a:solidFill>
              <a:effectLst/>
            </c:spPr>
            <c:extLst>
              <c:ext xmlns:c16="http://schemas.microsoft.com/office/drawing/2014/chart" uri="{C3380CC4-5D6E-409C-BE32-E72D297353CC}">
                <c16:uniqueId val="{0000000B-03BB-447F-8391-F998AD713447}"/>
              </c:ext>
            </c:extLst>
          </c:dPt>
          <c:dPt>
            <c:idx val="6"/>
            <c:bubble3D val="0"/>
            <c:spPr>
              <a:solidFill>
                <a:srgbClr val="48CAE4"/>
              </a:solidFill>
              <a:effectLst/>
            </c:spPr>
            <c:extLst>
              <c:ext xmlns:c16="http://schemas.microsoft.com/office/drawing/2014/chart" uri="{C3380CC4-5D6E-409C-BE32-E72D297353CC}">
                <c16:uniqueId val="{0000000D-03BB-447F-8391-F998AD713447}"/>
              </c:ext>
            </c:extLst>
          </c:dPt>
          <c:dPt>
            <c:idx val="7"/>
            <c:bubble3D val="0"/>
            <c:spPr>
              <a:solidFill>
                <a:srgbClr val="2EC4B6"/>
              </a:solidFill>
              <a:effectLst/>
            </c:spPr>
            <c:extLst>
              <c:ext xmlns:c16="http://schemas.microsoft.com/office/drawing/2014/chart" uri="{C3380CC4-5D6E-409C-BE32-E72D297353CC}">
                <c16:uniqueId val="{0000000F-03BB-447F-8391-F998AD713447}"/>
              </c:ext>
            </c:extLst>
          </c:dPt>
          <c:dPt>
            <c:idx val="8"/>
            <c:bubble3D val="0"/>
            <c:spPr>
              <a:solidFill>
                <a:srgbClr val="E9C46A"/>
              </a:solidFill>
              <a:effectLst/>
            </c:spPr>
            <c:extLst>
              <c:ext xmlns:c16="http://schemas.microsoft.com/office/drawing/2014/chart" uri="{C3380CC4-5D6E-409C-BE32-E72D297353CC}">
                <c16:uniqueId val="{00000011-03BB-447F-8391-F998AD713447}"/>
              </c:ext>
            </c:extLst>
          </c:dPt>
          <c:dPt>
            <c:idx val="9"/>
            <c:bubble3D val="0"/>
            <c:spPr>
              <a:solidFill>
                <a:srgbClr val="264653"/>
              </a:solidFill>
              <a:effectLst/>
            </c:spPr>
            <c:extLst>
              <c:ext xmlns:c16="http://schemas.microsoft.com/office/drawing/2014/chart" uri="{C3380CC4-5D6E-409C-BE32-E72D297353CC}">
                <c16:uniqueId val="{00000013-03BB-447F-8391-F998AD713447}"/>
              </c:ext>
            </c:extLst>
          </c:dPt>
          <c:dLbls>
            <c:dLbl>
              <c:idx val="0"/>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3BB-447F-8391-F998AD713447}"/>
                </c:ext>
              </c:extLst>
            </c:dLbl>
            <c:dLbl>
              <c:idx val="1"/>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3BB-447F-8391-F998AD713447}"/>
                </c:ext>
              </c:extLst>
            </c:dLbl>
            <c:dLbl>
              <c:idx val="2"/>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3BB-447F-8391-F998AD713447}"/>
                </c:ext>
              </c:extLst>
            </c:dLbl>
            <c:dLbl>
              <c:idx val="3"/>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03BB-447F-8391-F998AD713447}"/>
                </c:ext>
              </c:extLst>
            </c:dLbl>
            <c:dLbl>
              <c:idx val="4"/>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03BB-447F-8391-F998AD713447}"/>
                </c:ext>
              </c:extLst>
            </c:dLbl>
            <c:dLbl>
              <c:idx val="5"/>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03BB-447F-8391-F998AD713447}"/>
                </c:ext>
              </c:extLst>
            </c:dLbl>
            <c:dLbl>
              <c:idx val="6"/>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03BB-447F-8391-F998AD713447}"/>
                </c:ext>
              </c:extLst>
            </c:dLbl>
            <c:dLbl>
              <c:idx val="7"/>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03BB-447F-8391-F998AD713447}"/>
                </c:ext>
              </c:extLst>
            </c:dLbl>
            <c:dLbl>
              <c:idx val="8"/>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1-03BB-447F-8391-F998AD713447}"/>
                </c:ext>
              </c:extLst>
            </c:dLbl>
            <c:dLbl>
              <c:idx val="9"/>
              <c:numFmt formatCode="0%" sourceLinked="0"/>
              <c:spPr/>
              <c:txPr>
                <a:bodyPr/>
                <a:lstStyle/>
                <a:p>
                  <a:pPr>
                    <a:defRPr sz="900" b="0" i="0" u="none" strike="noStrike">
                      <a:solidFill>
                        <a:srgbClr val="0A16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3-03BB-447F-8391-F998AD713447}"/>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Sheet1!$A$2:$A$11</c:f>
              <c:strCache>
                <c:ptCount val="10"/>
                <c:pt idx="0">
                  <c:v>Bitcoin</c:v>
                </c:pt>
                <c:pt idx="1">
                  <c:v>Ethereum</c:v>
                </c:pt>
                <c:pt idx="2">
                  <c:v>Tether</c:v>
                </c:pt>
                <c:pt idx="3">
                  <c:v>BNB</c:v>
                </c:pt>
                <c:pt idx="4">
                  <c:v>XRP</c:v>
                </c:pt>
                <c:pt idx="5">
                  <c:v>USDC</c:v>
                </c:pt>
                <c:pt idx="6">
                  <c:v>Solana</c:v>
                </c:pt>
                <c:pt idx="7">
                  <c:v>TRON</c:v>
                </c:pt>
                <c:pt idx="8">
                  <c:v>Lido St.ETH</c:v>
                </c:pt>
                <c:pt idx="9">
                  <c:v>Others (90)</c:v>
                </c:pt>
              </c:strCache>
            </c:strRef>
          </c:cat>
          <c:val>
            <c:numRef>
              <c:f>Sheet1!$B$2:$B$11</c:f>
              <c:numCache>
                <c:formatCode>General</c:formatCode>
                <c:ptCount val="10"/>
                <c:pt idx="0">
                  <c:v>1657</c:v>
                </c:pt>
                <c:pt idx="1">
                  <c:v>319</c:v>
                </c:pt>
                <c:pt idx="2">
                  <c:v>186</c:v>
                </c:pt>
                <c:pt idx="3">
                  <c:v>114</c:v>
                </c:pt>
                <c:pt idx="4">
                  <c:v>104</c:v>
                </c:pt>
                <c:pt idx="5">
                  <c:v>70</c:v>
                </c:pt>
                <c:pt idx="6">
                  <c:v>66</c:v>
                </c:pt>
                <c:pt idx="7">
                  <c:v>28</c:v>
                </c:pt>
                <c:pt idx="8">
                  <c:v>25</c:v>
                </c:pt>
                <c:pt idx="9">
                  <c:v>431</c:v>
                </c:pt>
              </c:numCache>
            </c:numRef>
          </c:val>
          <c:extLst>
            <c:ext xmlns:c16="http://schemas.microsoft.com/office/drawing/2014/chart" uri="{C3380CC4-5D6E-409C-BE32-E72D297353CC}">
              <c16:uniqueId val="{00000014-03BB-447F-8391-F998AD713447}"/>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solidFill>
                <a:schemeClr val="bg1"/>
              </a:solidFill>
            </a:defRPr>
          </a:pPr>
          <a:endParaRPr lang="en-US"/>
        </a:p>
      </c:txPr>
    </c:legend>
    <c:plotVisOnly val="1"/>
    <c:dispBlanksAs val="span"/>
    <c:showDLblsOverMax val="1"/>
  </c:chart>
  <c:spPr>
    <a:solidFill>
      <a:srgbClr val="0A1628"/>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7-Day % Change</c:v>
                </c:pt>
              </c:strCache>
            </c:strRef>
          </c:tx>
          <c:spPr>
            <a:solidFill>
              <a:srgbClr val="E63946"/>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Sheet1!$A$2:$A$24</c:f>
              <c:strCache>
                <c:ptCount val="23"/>
                <c:pt idx="0">
                  <c:v>Bitcoin</c:v>
                </c:pt>
                <c:pt idx="1">
                  <c:v>Ethereum</c:v>
                </c:pt>
                <c:pt idx="2">
                  <c:v>Tether</c:v>
                </c:pt>
                <c:pt idx="3">
                  <c:v>BNB</c:v>
                </c:pt>
                <c:pt idx="4">
                  <c:v>XRP</c:v>
                </c:pt>
                <c:pt idx="5">
                  <c:v>USDC</c:v>
                </c:pt>
                <c:pt idx="6">
                  <c:v>Solana</c:v>
                </c:pt>
                <c:pt idx="7">
                  <c:v>TRON</c:v>
                </c:pt>
                <c:pt idx="8">
                  <c:v>Lido stETH</c:v>
                </c:pt>
                <c:pt idx="9">
                  <c:v>Dogecoin</c:v>
                </c:pt>
                <c:pt idx="10">
                  <c:v>Figure Heloc</c:v>
                </c:pt>
                <c:pt idx="11">
                  <c:v>Cardano</c:v>
                </c:pt>
                <c:pt idx="12">
                  <c:v>Wrapped stETH</c:v>
                </c:pt>
                <c:pt idx="13">
                  <c:v>WhiteBIT</c:v>
                </c:pt>
                <c:pt idx="14">
                  <c:v>Bitcoin Cash</c:v>
                </c:pt>
                <c:pt idx="15">
                  <c:v>Wrapped BTC</c:v>
                </c:pt>
                <c:pt idx="16">
                  <c:v>Wrapped Beacon ETH</c:v>
                </c:pt>
                <c:pt idx="17">
                  <c:v>USDS</c:v>
                </c:pt>
                <c:pt idx="18">
                  <c:v>Monero</c:v>
                </c:pt>
                <c:pt idx="19">
                  <c:v>Binance USDT</c:v>
                </c:pt>
                <c:pt idx="20">
                  <c:v>Wrapped eETH</c:v>
                </c:pt>
                <c:pt idx="21">
                  <c:v>LEO Token</c:v>
                </c:pt>
                <c:pt idx="22">
                  <c:v>Chainlink</c:v>
                </c:pt>
              </c:strCache>
            </c:strRef>
          </c:cat>
          <c:val>
            <c:numRef>
              <c:f>Sheet1!$B$2:$B$24</c:f>
              <c:numCache>
                <c:formatCode>General</c:formatCode>
                <c:ptCount val="23"/>
                <c:pt idx="0">
                  <c:v>-7.32</c:v>
                </c:pt>
                <c:pt idx="1">
                  <c:v>-10.66</c:v>
                </c:pt>
                <c:pt idx="2">
                  <c:v>-0.01</c:v>
                </c:pt>
                <c:pt idx="3">
                  <c:v>-6.15</c:v>
                </c:pt>
                <c:pt idx="4">
                  <c:v>-11.09</c:v>
                </c:pt>
                <c:pt idx="5">
                  <c:v>0.01</c:v>
                </c:pt>
                <c:pt idx="6">
                  <c:v>-8.2100000000000009</c:v>
                </c:pt>
                <c:pt idx="7">
                  <c:v>-1.97</c:v>
                </c:pt>
                <c:pt idx="8">
                  <c:v>-10.57</c:v>
                </c:pt>
                <c:pt idx="9">
                  <c:v>-10.14</c:v>
                </c:pt>
                <c:pt idx="10">
                  <c:v>-0.16</c:v>
                </c:pt>
                <c:pt idx="11">
                  <c:v>-13.45</c:v>
                </c:pt>
                <c:pt idx="12">
                  <c:v>-10.57</c:v>
                </c:pt>
                <c:pt idx="13">
                  <c:v>-5.96</c:v>
                </c:pt>
                <c:pt idx="14">
                  <c:v>-9.83</c:v>
                </c:pt>
                <c:pt idx="15">
                  <c:v>-7.48</c:v>
                </c:pt>
                <c:pt idx="16">
                  <c:v>-10.56</c:v>
                </c:pt>
                <c:pt idx="17">
                  <c:v>0.01</c:v>
                </c:pt>
                <c:pt idx="18">
                  <c:v>-6.77</c:v>
                </c:pt>
                <c:pt idx="19">
                  <c:v>-0.01</c:v>
                </c:pt>
                <c:pt idx="20">
                  <c:v>-10.66</c:v>
                </c:pt>
                <c:pt idx="21">
                  <c:v>2.78</c:v>
                </c:pt>
                <c:pt idx="22">
                  <c:v>-13.98</c:v>
                </c:pt>
              </c:numCache>
            </c:numRef>
          </c:val>
          <c:extLst>
            <c:ext xmlns:c16="http://schemas.microsoft.com/office/drawing/2014/chart" uri="{C3380CC4-5D6E-409C-BE32-E72D297353CC}">
              <c16:uniqueId val="{00000000-33EB-4F75-86E6-C14D3CA43C5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3A5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4A3B8"/>
                </a:solidFill>
                <a:latin typeface="Arial"/>
              </a:defRPr>
            </a:pPr>
            <a:endParaRPr lang="en-US"/>
          </a:p>
        </c:txPr>
        <c:crossAx val="2094734554"/>
        <c:crosses val="autoZero"/>
        <c:crossBetween val="between"/>
      </c:valAx>
      <c:spPr>
        <a:solidFill>
          <a:srgbClr val="16213E"/>
        </a:solidFill>
        <a:ln>
          <a:noFill/>
        </a:ln>
        <a:effectLst/>
      </c:spPr>
    </c:plotArea>
    <c:plotVisOnly val="1"/>
    <c:dispBlanksAs val="span"/>
    <c:showDLblsOverMax val="1"/>
  </c:chart>
  <c:spPr>
    <a:solidFill>
      <a:srgbClr val="16213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US" sz="1100" b="0" i="0" u="none" strike="noStrike">
                <a:solidFill>
                  <a:srgbClr val="1E293B"/>
                </a:solidFill>
                <a:latin typeface="Arial"/>
              </a:rPr>
              <a:t>Current Price (USD) — Log Scale</a:t>
            </a:r>
          </a:p>
        </c:rich>
      </c:tx>
      <c:overlay val="0"/>
    </c:title>
    <c:autoTitleDeleted val="0"/>
    <c:plotArea>
      <c:layout/>
      <c:barChart>
        <c:barDir val="col"/>
        <c:grouping val="clustered"/>
        <c:varyColors val="0"/>
        <c:ser>
          <c:idx val="0"/>
          <c:order val="0"/>
          <c:tx>
            <c:strRef>
              <c:f>Sheet1!$B$1</c:f>
              <c:strCache>
                <c:ptCount val="1"/>
                <c:pt idx="0">
                  <c:v>Current Price (USD)</c:v>
                </c:pt>
              </c:strCache>
            </c:strRef>
          </c:tx>
          <c:spPr>
            <a:solidFill>
              <a:srgbClr val="0F3460"/>
            </a:solidFill>
            <a:effectLst/>
          </c:spPr>
          <c:invertIfNegative val="0"/>
          <c:cat>
            <c:strRef>
              <c:f>Sheet1!$A$2:$A$11</c:f>
              <c:strCache>
                <c:ptCount val="10"/>
                <c:pt idx="0">
                  <c:v>Bitcoin</c:v>
                </c:pt>
                <c:pt idx="1">
                  <c:v>Ethereum</c:v>
                </c:pt>
                <c:pt idx="2">
                  <c:v>Tether</c:v>
                </c:pt>
                <c:pt idx="3">
                  <c:v>BNB</c:v>
                </c:pt>
                <c:pt idx="4">
                  <c:v>XRP</c:v>
                </c:pt>
                <c:pt idx="5">
                  <c:v>USDC</c:v>
                </c:pt>
                <c:pt idx="6">
                  <c:v>Solana</c:v>
                </c:pt>
                <c:pt idx="7">
                  <c:v>TRON</c:v>
                </c:pt>
                <c:pt idx="8">
                  <c:v>Dogecoin</c:v>
                </c:pt>
                <c:pt idx="9">
                  <c:v>Cardano</c:v>
                </c:pt>
              </c:strCache>
            </c:strRef>
          </c:cat>
          <c:val>
            <c:numRef>
              <c:f>Sheet1!$B$2:$B$11</c:f>
              <c:numCache>
                <c:formatCode>General</c:formatCode>
                <c:ptCount val="10"/>
                <c:pt idx="0">
                  <c:v>82932</c:v>
                </c:pt>
                <c:pt idx="1">
                  <c:v>2641</c:v>
                </c:pt>
                <c:pt idx="2">
                  <c:v>1</c:v>
                </c:pt>
                <c:pt idx="3">
                  <c:v>836</c:v>
                </c:pt>
                <c:pt idx="4">
                  <c:v>1.7</c:v>
                </c:pt>
                <c:pt idx="5">
                  <c:v>1</c:v>
                </c:pt>
                <c:pt idx="6">
                  <c:v>116</c:v>
                </c:pt>
                <c:pt idx="7">
                  <c:v>0.28999999999999998</c:v>
                </c:pt>
                <c:pt idx="8">
                  <c:v>0.11</c:v>
                </c:pt>
                <c:pt idx="9">
                  <c:v>0.31</c:v>
                </c:pt>
              </c:numCache>
            </c:numRef>
          </c:val>
          <c:extLst>
            <c:ext xmlns:c16="http://schemas.microsoft.com/office/drawing/2014/chart" uri="{C3380CC4-5D6E-409C-BE32-E72D297353CC}">
              <c16:uniqueId val="{00000000-F35E-49D2-9ABB-940A2042A48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IN" sz="1100" b="0" i="0" u="none" strike="noStrike">
                <a:solidFill>
                  <a:srgbClr val="1E293B"/>
                </a:solidFill>
                <a:latin typeface="Arial"/>
              </a:rPr>
              <a:t>Market Cap (Billion USD)</a:t>
            </a:r>
          </a:p>
        </c:rich>
      </c:tx>
      <c:overlay val="0"/>
    </c:title>
    <c:autoTitleDeleted val="0"/>
    <c:plotArea>
      <c:layout/>
      <c:barChart>
        <c:barDir val="col"/>
        <c:grouping val="clustered"/>
        <c:varyColors val="0"/>
        <c:ser>
          <c:idx val="0"/>
          <c:order val="0"/>
          <c:tx>
            <c:strRef>
              <c:f>Sheet1!$B$1</c:f>
              <c:strCache>
                <c:ptCount val="1"/>
                <c:pt idx="0">
                  <c:v>Market Cap (B USD)</c:v>
                </c:pt>
              </c:strCache>
            </c:strRef>
          </c:tx>
          <c:spPr>
            <a:solidFill>
              <a:srgbClr val="00C9A7"/>
            </a:solidFill>
            <a:effectLst/>
          </c:spPr>
          <c:invertIfNegative val="0"/>
          <c:dLbls>
            <c:numFmt formatCode="#,##0" sourceLinked="0"/>
            <c:spPr>
              <a:noFill/>
              <a:ln>
                <a:noFill/>
              </a:ln>
              <a:effectLst/>
            </c:spPr>
            <c:txPr>
              <a:bodyPr/>
              <a:lstStyle/>
              <a:p>
                <a:pPr>
                  <a:defRPr sz="75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Bitcoin</c:v>
                </c:pt>
                <c:pt idx="1">
                  <c:v>Ethereum</c:v>
                </c:pt>
                <c:pt idx="2">
                  <c:v>Tether</c:v>
                </c:pt>
                <c:pt idx="3">
                  <c:v>BNB</c:v>
                </c:pt>
                <c:pt idx="4">
                  <c:v>XRP</c:v>
                </c:pt>
                <c:pt idx="5">
                  <c:v>USDC</c:v>
                </c:pt>
                <c:pt idx="6">
                  <c:v>Solana</c:v>
                </c:pt>
                <c:pt idx="7">
                  <c:v>TRON</c:v>
                </c:pt>
                <c:pt idx="8">
                  <c:v>Dogecoin</c:v>
                </c:pt>
                <c:pt idx="9">
                  <c:v>Cardano</c:v>
                </c:pt>
              </c:strCache>
            </c:strRef>
          </c:cat>
          <c:val>
            <c:numRef>
              <c:f>Sheet1!$B$2:$B$11</c:f>
              <c:numCache>
                <c:formatCode>General</c:formatCode>
                <c:ptCount val="10"/>
                <c:pt idx="0">
                  <c:v>1657</c:v>
                </c:pt>
                <c:pt idx="1">
                  <c:v>319</c:v>
                </c:pt>
                <c:pt idx="2">
                  <c:v>186</c:v>
                </c:pt>
                <c:pt idx="3">
                  <c:v>114</c:v>
                </c:pt>
                <c:pt idx="4">
                  <c:v>104</c:v>
                </c:pt>
                <c:pt idx="5">
                  <c:v>70</c:v>
                </c:pt>
                <c:pt idx="6">
                  <c:v>66</c:v>
                </c:pt>
                <c:pt idx="7">
                  <c:v>28</c:v>
                </c:pt>
                <c:pt idx="8">
                  <c:v>18</c:v>
                </c:pt>
                <c:pt idx="9">
                  <c:v>11</c:v>
                </c:pt>
              </c:numCache>
            </c:numRef>
          </c:val>
          <c:extLst>
            <c:ext xmlns:c16="http://schemas.microsoft.com/office/drawing/2014/chart" uri="{C3380CC4-5D6E-409C-BE32-E72D297353CC}">
              <c16:uniqueId val="{00000000-968F-4BAF-9E62-E57F26279D2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Altcoin ATH (M USD)</c:v>
                </c:pt>
              </c:strCache>
            </c:strRef>
          </c:tx>
          <c:spPr>
            <a:ln w="38100" cap="flat">
              <a:solidFill>
                <a:srgbClr val="F4A261"/>
              </a:solidFill>
              <a:prstDash val="solid"/>
              <a:round/>
            </a:ln>
            <a:effectLst/>
          </c:spPr>
          <c:marker>
            <c:symbol val="circle"/>
            <c:size val="6"/>
            <c:spPr>
              <a:solidFill>
                <a:srgbClr val="F4A261"/>
              </a:solidFill>
              <a:ln w="9525" cap="flat">
                <a:solidFill>
                  <a:srgbClr val="F4A261"/>
                </a:solidFill>
                <a:prstDash val="solid"/>
                <a:round/>
              </a:ln>
              <a:effectLst/>
            </c:spPr>
          </c:marker>
          <c:dLbls>
            <c:numFmt formatCode="#,##0" sourceLinked="0"/>
            <c:spPr>
              <a:noFill/>
              <a:ln>
                <a:noFill/>
              </a:ln>
              <a:effectLst/>
            </c:spPr>
            <c:txPr>
              <a:bodyPr/>
              <a:lstStyle/>
              <a:p>
                <a:pPr>
                  <a:defRPr sz="900" b="0" i="0" u="none" strike="noStrike">
                    <a:solidFill>
                      <a:srgbClr val="F4A2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Sheet1!$B$2:$B$12</c:f>
              <c:numCache>
                <c:formatCode>General</c:formatCode>
                <c:ptCount val="11"/>
                <c:pt idx="0">
                  <c:v>0</c:v>
                </c:pt>
                <c:pt idx="1">
                  <c:v>0</c:v>
                </c:pt>
                <c:pt idx="2">
                  <c:v>0</c:v>
                </c:pt>
                <c:pt idx="3">
                  <c:v>0</c:v>
                </c:pt>
                <c:pt idx="4">
                  <c:v>0</c:v>
                </c:pt>
                <c:pt idx="5">
                  <c:v>0.01</c:v>
                </c:pt>
                <c:pt idx="6">
                  <c:v>0</c:v>
                </c:pt>
                <c:pt idx="7">
                  <c:v>0</c:v>
                </c:pt>
                <c:pt idx="8">
                  <c:v>0.68</c:v>
                </c:pt>
                <c:pt idx="9">
                  <c:v>0.01</c:v>
                </c:pt>
                <c:pt idx="10">
                  <c:v>0.01</c:v>
                </c:pt>
              </c:numCache>
            </c:numRef>
          </c:val>
          <c:smooth val="0"/>
          <c:extLst>
            <c:ext xmlns:c16="http://schemas.microsoft.com/office/drawing/2014/chart" uri="{C3380CC4-5D6E-409C-BE32-E72D297353CC}">
              <c16:uniqueId val="{00000000-0811-4926-B712-806CF112F1FB}"/>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4A3B8"/>
                </a:solidFill>
                <a:latin typeface="Arial"/>
              </a:defRPr>
            </a:pPr>
            <a:endParaRPr lang="en-US"/>
          </a:p>
        </c:txPr>
        <c:crossAx val="2094734554"/>
        <c:crosses val="autoZero"/>
        <c:crossBetween val="between"/>
      </c:valAx>
      <c:spPr>
        <a:solidFill>
          <a:srgbClr val="16213E"/>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16213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9218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2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rot="900000">
            <a:off x="-457200" y="-450000"/>
            <a:ext cx="4114800" cy="6400800"/>
          </a:xfrm>
          <a:prstGeom prst="rect">
            <a:avLst/>
          </a:prstGeom>
          <a:solidFill>
            <a:srgbClr val="0F3460">
              <a:alpha val="65000"/>
            </a:srgbClr>
          </a:solidFill>
          <a:ln w="12700">
            <a:solidFill>
              <a:srgbClr val="0F3460">
                <a:alpha val="65000"/>
              </a:srgbClr>
            </a:solidFill>
            <a:prstDash val="solid"/>
          </a:ln>
        </p:spPr>
      </p:sp>
      <p:sp>
        <p:nvSpPr>
          <p:cNvPr id="3" name="Shape 1"/>
          <p:cNvSpPr/>
          <p:nvPr/>
        </p:nvSpPr>
        <p:spPr>
          <a:xfrm rot="-600000">
            <a:off x="6858000" y="2286000"/>
            <a:ext cx="2743200" cy="3657600"/>
          </a:xfrm>
          <a:prstGeom prst="rect">
            <a:avLst/>
          </a:prstGeom>
          <a:solidFill>
            <a:srgbClr val="0F3460">
              <a:alpha val="50000"/>
            </a:srgbClr>
          </a:solidFill>
          <a:ln w="12700">
            <a:solidFill>
              <a:srgbClr val="0F3460"/>
            </a:solidFill>
            <a:prstDash val="solid"/>
          </a:ln>
        </p:spPr>
      </p:sp>
      <p:sp>
        <p:nvSpPr>
          <p:cNvPr id="4" name="Shape 2"/>
          <p:cNvSpPr/>
          <p:nvPr/>
        </p:nvSpPr>
        <p:spPr>
          <a:xfrm>
            <a:off x="0" y="0"/>
            <a:ext cx="164592" cy="5143500"/>
          </a:xfrm>
          <a:prstGeom prst="rect">
            <a:avLst/>
          </a:prstGeom>
          <a:solidFill>
            <a:srgbClr val="F4A261"/>
          </a:solidFill>
          <a:ln w="12700">
            <a:solidFill>
              <a:srgbClr val="F4A261"/>
            </a:solidFill>
            <a:prstDash val="solid"/>
          </a:ln>
        </p:spPr>
      </p:sp>
      <p:sp>
        <p:nvSpPr>
          <p:cNvPr id="5" name="Shape 3"/>
          <p:cNvSpPr/>
          <p:nvPr/>
        </p:nvSpPr>
        <p:spPr>
          <a:xfrm>
            <a:off x="6766560" y="457200"/>
            <a:ext cx="1920240" cy="1920240"/>
          </a:xfrm>
          <a:prstGeom prst="ellipse">
            <a:avLst/>
          </a:prstGeom>
          <a:solidFill>
            <a:srgbClr val="0F3460"/>
          </a:solidFill>
          <a:ln w="12700">
            <a:solidFill>
              <a:srgbClr val="F4A261"/>
            </a:solidFill>
            <a:prstDash val="solid"/>
          </a:ln>
        </p:spPr>
      </p:sp>
      <p:sp>
        <p:nvSpPr>
          <p:cNvPr id="6" name="Text 4"/>
          <p:cNvSpPr/>
          <p:nvPr/>
        </p:nvSpPr>
        <p:spPr>
          <a:xfrm>
            <a:off x="6766560" y="548640"/>
            <a:ext cx="1920240" cy="1737360"/>
          </a:xfrm>
          <a:prstGeom prst="rect">
            <a:avLst/>
          </a:prstGeom>
          <a:noFill/>
          <a:ln/>
        </p:spPr>
        <p:txBody>
          <a:bodyPr wrap="square" rtlCol="0" anchor="ctr"/>
          <a:lstStyle/>
          <a:p>
            <a:pPr marL="0" indent="0" algn="ctr">
              <a:buNone/>
            </a:pPr>
            <a:r>
              <a:rPr lang="en-US" sz="6000" b="1" dirty="0">
                <a:solidFill>
                  <a:srgbClr val="FFB703"/>
                </a:solidFill>
              </a:rPr>
              <a:t>₿</a:t>
            </a:r>
            <a:endParaRPr lang="en-US" sz="6000" dirty="0"/>
          </a:p>
        </p:txBody>
      </p:sp>
      <p:sp>
        <p:nvSpPr>
          <p:cNvPr id="7" name="Text 5"/>
          <p:cNvSpPr/>
          <p:nvPr/>
        </p:nvSpPr>
        <p:spPr>
          <a:xfrm>
            <a:off x="457200" y="822960"/>
            <a:ext cx="6217920" cy="731520"/>
          </a:xfrm>
          <a:prstGeom prst="rect">
            <a:avLst/>
          </a:prstGeom>
          <a:noFill/>
          <a:ln/>
        </p:spPr>
        <p:txBody>
          <a:bodyPr wrap="square" rtlCol="0" anchor="ctr"/>
          <a:lstStyle/>
          <a:p>
            <a:pPr marL="0" indent="0">
              <a:buNone/>
            </a:pPr>
            <a:r>
              <a:rPr lang="en-US" sz="3800" b="1" kern="0" spc="400" dirty="0">
                <a:solidFill>
                  <a:srgbClr val="FFFFFF"/>
                </a:solidFill>
                <a:latin typeface="Trebuchet MS" pitchFamily="34" charset="0"/>
                <a:ea typeface="Trebuchet MS" pitchFamily="34" charset="-122"/>
                <a:cs typeface="Trebuchet MS" pitchFamily="34" charset="-120"/>
              </a:rPr>
              <a:t>CRYPTOCURRENCY</a:t>
            </a:r>
            <a:endParaRPr lang="en-US" sz="3800" dirty="0"/>
          </a:p>
        </p:txBody>
      </p:sp>
      <p:sp>
        <p:nvSpPr>
          <p:cNvPr id="8" name="Text 6"/>
          <p:cNvSpPr/>
          <p:nvPr/>
        </p:nvSpPr>
        <p:spPr>
          <a:xfrm>
            <a:off x="457200" y="1600200"/>
            <a:ext cx="6400800" cy="548640"/>
          </a:xfrm>
          <a:prstGeom prst="rect">
            <a:avLst/>
          </a:prstGeom>
          <a:noFill/>
          <a:ln/>
        </p:spPr>
        <p:txBody>
          <a:bodyPr wrap="square" rtlCol="0" anchor="ctr"/>
          <a:lstStyle/>
          <a:p>
            <a:pPr marL="0" indent="0">
              <a:buNone/>
            </a:pPr>
            <a:r>
              <a:rPr lang="en-US" sz="2000" i="1" dirty="0">
                <a:solidFill>
                  <a:srgbClr val="F4A261"/>
                </a:solidFill>
                <a:latin typeface="Trebuchet MS" pitchFamily="34" charset="0"/>
                <a:ea typeface="Trebuchet MS" pitchFamily="34" charset="-122"/>
                <a:cs typeface="Trebuchet MS" pitchFamily="34" charset="-120"/>
              </a:rPr>
              <a:t>Market Analysis &amp; Intelligence Dashboard</a:t>
            </a:r>
            <a:endParaRPr lang="en-US" sz="2000" dirty="0"/>
          </a:p>
        </p:txBody>
      </p:sp>
      <p:sp>
        <p:nvSpPr>
          <p:cNvPr id="9" name="Shape 7"/>
          <p:cNvSpPr/>
          <p:nvPr/>
        </p:nvSpPr>
        <p:spPr>
          <a:xfrm>
            <a:off x="457200" y="2286000"/>
            <a:ext cx="5943600" cy="45720"/>
          </a:xfrm>
          <a:prstGeom prst="rect">
            <a:avLst/>
          </a:prstGeom>
          <a:solidFill>
            <a:srgbClr val="00C9A7"/>
          </a:solidFill>
          <a:ln w="12700">
            <a:solidFill>
              <a:srgbClr val="00C9A7"/>
            </a:solidFill>
            <a:prstDash val="solid"/>
          </a:ln>
        </p:spPr>
      </p:sp>
      <p:sp>
        <p:nvSpPr>
          <p:cNvPr id="10" name="Text 8"/>
          <p:cNvSpPr/>
          <p:nvPr/>
        </p:nvSpPr>
        <p:spPr>
          <a:xfrm>
            <a:off x="457200" y="2468880"/>
            <a:ext cx="7315200" cy="822960"/>
          </a:xfrm>
          <a:prstGeom prst="rect">
            <a:avLst/>
          </a:prstGeom>
          <a:noFill/>
          <a:ln/>
        </p:spPr>
        <p:txBody>
          <a:bodyPr wrap="square" rtlCol="0" anchor="ctr"/>
          <a:lstStyle/>
          <a:p>
            <a:pPr marL="0" indent="0">
              <a:buNone/>
            </a:pPr>
            <a:r>
              <a:rPr lang="en-US" sz="1400" dirty="0">
                <a:solidFill>
                  <a:srgbClr val="F0F4F8"/>
                </a:solidFill>
                <a:latin typeface="Calibri" pitchFamily="34" charset="0"/>
                <a:ea typeface="Calibri" pitchFamily="34" charset="-122"/>
                <a:cs typeface="Calibri" pitchFamily="34" charset="-120"/>
              </a:rPr>
              <a:t>An end-to-end Business Intelligence analysis of </a:t>
            </a:r>
            <a:r>
              <a:rPr lang="en-US" sz="1400" b="1" dirty="0">
                <a:solidFill>
                  <a:srgbClr val="00C9A7"/>
                </a:solidFill>
                <a:latin typeface="Calibri" pitchFamily="34" charset="0"/>
                <a:ea typeface="Calibri" pitchFamily="34" charset="-122"/>
                <a:cs typeface="Calibri" pitchFamily="34" charset="-120"/>
              </a:rPr>
              <a:t>100 leading cryptocurrencies</a:t>
            </a:r>
            <a:r>
              <a:rPr lang="en-US" sz="1400" dirty="0">
                <a:solidFill>
                  <a:srgbClr val="F0F4F8"/>
                </a:solidFill>
                <a:latin typeface="Calibri" pitchFamily="34" charset="0"/>
                <a:ea typeface="Calibri" pitchFamily="34" charset="-122"/>
                <a:cs typeface="Calibri" pitchFamily="34" charset="-120"/>
              </a:rPr>
              <a:t> covering market capitalisation,</a:t>
            </a:r>
            <a:endParaRPr lang="en-US" sz="1400" dirty="0"/>
          </a:p>
          <a:p>
            <a:pPr marL="0" indent="0">
              <a:buNone/>
            </a:pPr>
            <a:r>
              <a:rPr lang="en-US" sz="1400" dirty="0">
                <a:solidFill>
                  <a:srgbClr val="F0F4F8"/>
                </a:solidFill>
                <a:latin typeface="Calibri" pitchFamily="34" charset="0"/>
                <a:ea typeface="Calibri" pitchFamily="34" charset="-122"/>
                <a:cs typeface="Calibri" pitchFamily="34" charset="-120"/>
              </a:rPr>
              <a:t>price trends, ATH/ATL patterns, and actionable investment insights.</a:t>
            </a:r>
            <a:endParaRPr lang="en-US" sz="1400" dirty="0"/>
          </a:p>
        </p:txBody>
      </p:sp>
      <p:sp>
        <p:nvSpPr>
          <p:cNvPr id="13" name="Text 11"/>
          <p:cNvSpPr/>
          <p:nvPr/>
        </p:nvSpPr>
        <p:spPr>
          <a:xfrm>
            <a:off x="640080" y="3995928"/>
            <a:ext cx="457200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Tool: Power BI  |  Source: CoinGecko API</a:t>
            </a:r>
            <a:endParaRPr lang="en-US" sz="1200" dirty="0"/>
          </a:p>
        </p:txBody>
      </p:sp>
      <p:sp>
        <p:nvSpPr>
          <p:cNvPr id="14" name="Shape 12"/>
          <p:cNvSpPr/>
          <p:nvPr/>
        </p:nvSpPr>
        <p:spPr>
          <a:xfrm>
            <a:off x="0" y="4846320"/>
            <a:ext cx="9144000" cy="297180"/>
          </a:xfrm>
          <a:prstGeom prst="rect">
            <a:avLst/>
          </a:prstGeom>
          <a:solidFill>
            <a:srgbClr val="F4A261"/>
          </a:solidFill>
          <a:ln w="12700">
            <a:solidFill>
              <a:srgbClr val="F4A261"/>
            </a:solidFill>
            <a:prstDash val="solid"/>
          </a:ln>
        </p:spPr>
      </p:sp>
      <p:sp>
        <p:nvSpPr>
          <p:cNvPr id="15" name="Text 13"/>
          <p:cNvSpPr/>
          <p:nvPr/>
        </p:nvSpPr>
        <p:spPr>
          <a:xfrm>
            <a:off x="0" y="4864608"/>
            <a:ext cx="9144000" cy="274320"/>
          </a:xfrm>
          <a:prstGeom prst="rect">
            <a:avLst/>
          </a:prstGeom>
          <a:noFill/>
          <a:ln/>
        </p:spPr>
        <p:txBody>
          <a:bodyPr wrap="square" rtlCol="0" anchor="ctr"/>
          <a:lstStyle/>
          <a:p>
            <a:pPr marL="0" indent="0" algn="ctr">
              <a:buNone/>
            </a:pPr>
            <a:r>
              <a:rPr lang="en-US" sz="900" b="1" dirty="0">
                <a:solidFill>
                  <a:srgbClr val="0A1628"/>
                </a:solidFill>
                <a:latin typeface="Trebuchet MS" pitchFamily="34" charset="0"/>
                <a:ea typeface="Trebuchet MS" pitchFamily="34" charset="-122"/>
                <a:cs typeface="Trebuchet MS" pitchFamily="34" charset="-120"/>
              </a:rPr>
              <a:t>CONFIDENTIAL  |  DATA ANALYTICS DIVISION  |  CRYPTO INTELLIGENCE REPORT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TABLE OF CONTENTS</a:t>
            </a:r>
            <a:endParaRPr lang="en-US" sz="2200" dirty="0"/>
          </a:p>
        </p:txBody>
      </p:sp>
      <p:sp>
        <p:nvSpPr>
          <p:cNvPr id="5" name="Shape 3"/>
          <p:cNvSpPr/>
          <p:nvPr/>
        </p:nvSpPr>
        <p:spPr>
          <a:xfrm>
            <a:off x="274320" y="685800"/>
            <a:ext cx="4297680" cy="868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685800"/>
            <a:ext cx="502920" cy="868680"/>
          </a:xfrm>
          <a:prstGeom prst="rect">
            <a:avLst/>
          </a:prstGeom>
          <a:solidFill>
            <a:srgbClr val="F4A261"/>
          </a:solidFill>
          <a:ln w="12700">
            <a:solidFill>
              <a:srgbClr val="F4A261"/>
            </a:solidFill>
            <a:prstDash val="solid"/>
          </a:ln>
        </p:spPr>
      </p:sp>
      <p:sp>
        <p:nvSpPr>
          <p:cNvPr id="7" name="Text 5"/>
          <p:cNvSpPr/>
          <p:nvPr/>
        </p:nvSpPr>
        <p:spPr>
          <a:xfrm>
            <a:off x="292608" y="868680"/>
            <a:ext cx="475488"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01</a:t>
            </a:r>
            <a:endParaRPr lang="en-US" sz="1500" dirty="0"/>
          </a:p>
        </p:txBody>
      </p:sp>
      <p:sp>
        <p:nvSpPr>
          <p:cNvPr id="8" name="Text 6"/>
          <p:cNvSpPr/>
          <p:nvPr/>
        </p:nvSpPr>
        <p:spPr>
          <a:xfrm>
            <a:off x="868680" y="740664"/>
            <a:ext cx="3611880" cy="347472"/>
          </a:xfrm>
          <a:prstGeom prst="rect">
            <a:avLst/>
          </a:prstGeom>
          <a:noFill/>
          <a:ln/>
        </p:spPr>
        <p:txBody>
          <a:bodyPr wrap="square" rtlCol="0" anchor="b"/>
          <a:lstStyle/>
          <a:p>
            <a:pPr marL="0" indent="0">
              <a:buNone/>
            </a:pPr>
            <a:r>
              <a:rPr lang="en-US" sz="1200" b="1" dirty="0">
                <a:solidFill>
                  <a:srgbClr val="FFFFFF"/>
                </a:solidFill>
                <a:latin typeface="Trebuchet MS" pitchFamily="34" charset="0"/>
                <a:ea typeface="Trebuchet MS" pitchFamily="34" charset="-122"/>
                <a:cs typeface="Trebuchet MS" pitchFamily="34" charset="-120"/>
              </a:rPr>
              <a:t>Introduction &amp; Domain Overview</a:t>
            </a:r>
            <a:endParaRPr lang="en-US" sz="1200" dirty="0"/>
          </a:p>
        </p:txBody>
      </p:sp>
      <p:sp>
        <p:nvSpPr>
          <p:cNvPr id="9" name="Text 7"/>
          <p:cNvSpPr/>
          <p:nvPr/>
        </p:nvSpPr>
        <p:spPr>
          <a:xfrm>
            <a:off x="868680" y="1124712"/>
            <a:ext cx="3611880" cy="347472"/>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Background, context, and industry explanation</a:t>
            </a:r>
            <a:endParaRPr lang="en-US" sz="1000" dirty="0"/>
          </a:p>
        </p:txBody>
      </p:sp>
      <p:sp>
        <p:nvSpPr>
          <p:cNvPr id="10" name="Shape 8"/>
          <p:cNvSpPr/>
          <p:nvPr/>
        </p:nvSpPr>
        <p:spPr>
          <a:xfrm>
            <a:off x="274320" y="1737360"/>
            <a:ext cx="4297680" cy="868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1" name="Shape 9"/>
          <p:cNvSpPr/>
          <p:nvPr/>
        </p:nvSpPr>
        <p:spPr>
          <a:xfrm>
            <a:off x="274320" y="1737360"/>
            <a:ext cx="502920" cy="868680"/>
          </a:xfrm>
          <a:prstGeom prst="rect">
            <a:avLst/>
          </a:prstGeom>
          <a:solidFill>
            <a:srgbClr val="F4A261"/>
          </a:solidFill>
          <a:ln w="12700">
            <a:solidFill>
              <a:srgbClr val="F4A261"/>
            </a:solidFill>
            <a:prstDash val="solid"/>
          </a:ln>
        </p:spPr>
      </p:sp>
      <p:sp>
        <p:nvSpPr>
          <p:cNvPr id="12" name="Text 10"/>
          <p:cNvSpPr/>
          <p:nvPr/>
        </p:nvSpPr>
        <p:spPr>
          <a:xfrm>
            <a:off x="292608" y="1920240"/>
            <a:ext cx="475488"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02</a:t>
            </a:r>
            <a:endParaRPr lang="en-US" sz="1500" dirty="0"/>
          </a:p>
        </p:txBody>
      </p:sp>
      <p:sp>
        <p:nvSpPr>
          <p:cNvPr id="13" name="Text 11"/>
          <p:cNvSpPr/>
          <p:nvPr/>
        </p:nvSpPr>
        <p:spPr>
          <a:xfrm>
            <a:off x="868680" y="1792224"/>
            <a:ext cx="3611880" cy="347472"/>
          </a:xfrm>
          <a:prstGeom prst="rect">
            <a:avLst/>
          </a:prstGeom>
          <a:noFill/>
          <a:ln/>
        </p:spPr>
        <p:txBody>
          <a:bodyPr wrap="square" rtlCol="0" anchor="b"/>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Problem Statement &amp; Objectives</a:t>
            </a:r>
            <a:endParaRPr lang="en-US" sz="1200" dirty="0"/>
          </a:p>
        </p:txBody>
      </p:sp>
      <p:sp>
        <p:nvSpPr>
          <p:cNvPr id="14" name="Text 12"/>
          <p:cNvSpPr/>
          <p:nvPr/>
        </p:nvSpPr>
        <p:spPr>
          <a:xfrm>
            <a:off x="868680" y="2176272"/>
            <a:ext cx="3611880" cy="347472"/>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Business problem, goals, and expected outcomes</a:t>
            </a:r>
            <a:endParaRPr lang="en-US" sz="1000" dirty="0"/>
          </a:p>
        </p:txBody>
      </p:sp>
      <p:sp>
        <p:nvSpPr>
          <p:cNvPr id="15" name="Shape 13"/>
          <p:cNvSpPr/>
          <p:nvPr/>
        </p:nvSpPr>
        <p:spPr>
          <a:xfrm>
            <a:off x="274320" y="2788920"/>
            <a:ext cx="4297680" cy="868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6" name="Shape 14"/>
          <p:cNvSpPr/>
          <p:nvPr/>
        </p:nvSpPr>
        <p:spPr>
          <a:xfrm>
            <a:off x="274320" y="2788920"/>
            <a:ext cx="502920" cy="868680"/>
          </a:xfrm>
          <a:prstGeom prst="rect">
            <a:avLst/>
          </a:prstGeom>
          <a:solidFill>
            <a:srgbClr val="F4A261"/>
          </a:solidFill>
          <a:ln w="12700">
            <a:solidFill>
              <a:srgbClr val="F4A261"/>
            </a:solidFill>
            <a:prstDash val="solid"/>
          </a:ln>
        </p:spPr>
      </p:sp>
      <p:sp>
        <p:nvSpPr>
          <p:cNvPr id="17" name="Text 15"/>
          <p:cNvSpPr/>
          <p:nvPr/>
        </p:nvSpPr>
        <p:spPr>
          <a:xfrm>
            <a:off x="292608" y="2971800"/>
            <a:ext cx="475488"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03</a:t>
            </a:r>
            <a:endParaRPr lang="en-US" sz="1500" dirty="0"/>
          </a:p>
        </p:txBody>
      </p:sp>
      <p:sp>
        <p:nvSpPr>
          <p:cNvPr id="18" name="Text 16"/>
          <p:cNvSpPr/>
          <p:nvPr/>
        </p:nvSpPr>
        <p:spPr>
          <a:xfrm>
            <a:off x="868680" y="2843784"/>
            <a:ext cx="3611880" cy="347472"/>
          </a:xfrm>
          <a:prstGeom prst="rect">
            <a:avLst/>
          </a:prstGeom>
          <a:noFill/>
          <a:ln/>
        </p:spPr>
        <p:txBody>
          <a:bodyPr wrap="square" rtlCol="0" anchor="b"/>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Dataset Overview &amp; Summary</a:t>
            </a:r>
            <a:endParaRPr lang="en-US" sz="1200" dirty="0"/>
          </a:p>
        </p:txBody>
      </p:sp>
      <p:sp>
        <p:nvSpPr>
          <p:cNvPr id="19" name="Text 17"/>
          <p:cNvSpPr/>
          <p:nvPr/>
        </p:nvSpPr>
        <p:spPr>
          <a:xfrm>
            <a:off x="868680" y="3227832"/>
            <a:ext cx="3611880" cy="347472"/>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Data source, structure, statistics, and variables</a:t>
            </a:r>
            <a:endParaRPr lang="en-US" sz="1000" dirty="0"/>
          </a:p>
        </p:txBody>
      </p:sp>
      <p:sp>
        <p:nvSpPr>
          <p:cNvPr id="20" name="Shape 18"/>
          <p:cNvSpPr/>
          <p:nvPr/>
        </p:nvSpPr>
        <p:spPr>
          <a:xfrm>
            <a:off x="274320" y="3840480"/>
            <a:ext cx="4297680" cy="868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1" name="Shape 19"/>
          <p:cNvSpPr/>
          <p:nvPr/>
        </p:nvSpPr>
        <p:spPr>
          <a:xfrm>
            <a:off x="274320" y="3840480"/>
            <a:ext cx="502920" cy="868680"/>
          </a:xfrm>
          <a:prstGeom prst="rect">
            <a:avLst/>
          </a:prstGeom>
          <a:solidFill>
            <a:srgbClr val="F4A261"/>
          </a:solidFill>
          <a:ln w="12700">
            <a:solidFill>
              <a:srgbClr val="F4A261"/>
            </a:solidFill>
            <a:prstDash val="solid"/>
          </a:ln>
        </p:spPr>
      </p:sp>
      <p:sp>
        <p:nvSpPr>
          <p:cNvPr id="22" name="Text 20"/>
          <p:cNvSpPr/>
          <p:nvPr/>
        </p:nvSpPr>
        <p:spPr>
          <a:xfrm>
            <a:off x="292608" y="4023360"/>
            <a:ext cx="475488"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04</a:t>
            </a:r>
            <a:endParaRPr lang="en-US" sz="1500" dirty="0"/>
          </a:p>
        </p:txBody>
      </p:sp>
      <p:sp>
        <p:nvSpPr>
          <p:cNvPr id="23" name="Text 21"/>
          <p:cNvSpPr/>
          <p:nvPr/>
        </p:nvSpPr>
        <p:spPr>
          <a:xfrm>
            <a:off x="868680" y="3895344"/>
            <a:ext cx="3611880" cy="347472"/>
          </a:xfrm>
          <a:prstGeom prst="rect">
            <a:avLst/>
          </a:prstGeom>
          <a:noFill/>
          <a:ln/>
        </p:spPr>
        <p:txBody>
          <a:bodyPr wrap="square" rtlCol="0" anchor="b"/>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Data Cleaning &amp; Transformation</a:t>
            </a:r>
            <a:endParaRPr lang="en-US" sz="1200" dirty="0"/>
          </a:p>
        </p:txBody>
      </p:sp>
      <p:sp>
        <p:nvSpPr>
          <p:cNvPr id="24" name="Text 22"/>
          <p:cNvSpPr/>
          <p:nvPr/>
        </p:nvSpPr>
        <p:spPr>
          <a:xfrm>
            <a:off x="868680" y="4279392"/>
            <a:ext cx="3611880" cy="347472"/>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Handling missing values, new columns, aggregations</a:t>
            </a:r>
            <a:endParaRPr lang="en-US" sz="1000" dirty="0"/>
          </a:p>
        </p:txBody>
      </p:sp>
      <p:sp>
        <p:nvSpPr>
          <p:cNvPr id="25" name="Shape 23"/>
          <p:cNvSpPr/>
          <p:nvPr/>
        </p:nvSpPr>
        <p:spPr>
          <a:xfrm>
            <a:off x="4754880" y="685800"/>
            <a:ext cx="4297680" cy="868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6" name="Shape 24"/>
          <p:cNvSpPr/>
          <p:nvPr/>
        </p:nvSpPr>
        <p:spPr>
          <a:xfrm>
            <a:off x="4754880" y="685800"/>
            <a:ext cx="502920" cy="868680"/>
          </a:xfrm>
          <a:prstGeom prst="rect">
            <a:avLst/>
          </a:prstGeom>
          <a:solidFill>
            <a:srgbClr val="F4A261"/>
          </a:solidFill>
          <a:ln w="12700">
            <a:solidFill>
              <a:srgbClr val="F4A261"/>
            </a:solidFill>
            <a:prstDash val="solid"/>
          </a:ln>
        </p:spPr>
      </p:sp>
      <p:sp>
        <p:nvSpPr>
          <p:cNvPr id="27" name="Text 25"/>
          <p:cNvSpPr/>
          <p:nvPr/>
        </p:nvSpPr>
        <p:spPr>
          <a:xfrm>
            <a:off x="4773168" y="868680"/>
            <a:ext cx="475488"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05</a:t>
            </a:r>
            <a:endParaRPr lang="en-US" sz="1500" dirty="0"/>
          </a:p>
        </p:txBody>
      </p:sp>
      <p:sp>
        <p:nvSpPr>
          <p:cNvPr id="28" name="Text 26"/>
          <p:cNvSpPr/>
          <p:nvPr/>
        </p:nvSpPr>
        <p:spPr>
          <a:xfrm>
            <a:off x="5349240" y="740664"/>
            <a:ext cx="3611880" cy="347472"/>
          </a:xfrm>
          <a:prstGeom prst="rect">
            <a:avLst/>
          </a:prstGeom>
          <a:noFill/>
          <a:ln/>
        </p:spPr>
        <p:txBody>
          <a:bodyPr wrap="square" rtlCol="0" anchor="b"/>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Tools &amp; Business Questions</a:t>
            </a:r>
            <a:endParaRPr lang="en-US" sz="1200" dirty="0"/>
          </a:p>
        </p:txBody>
      </p:sp>
      <p:sp>
        <p:nvSpPr>
          <p:cNvPr id="29" name="Text 27"/>
          <p:cNvSpPr/>
          <p:nvPr/>
        </p:nvSpPr>
        <p:spPr>
          <a:xfrm>
            <a:off x="5349240" y="1124712"/>
            <a:ext cx="3611880" cy="347472"/>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Technologies used and 7 key analytical questions</a:t>
            </a:r>
            <a:endParaRPr lang="en-US" sz="1000" dirty="0"/>
          </a:p>
        </p:txBody>
      </p:sp>
      <p:sp>
        <p:nvSpPr>
          <p:cNvPr id="30" name="Shape 28"/>
          <p:cNvSpPr/>
          <p:nvPr/>
        </p:nvSpPr>
        <p:spPr>
          <a:xfrm>
            <a:off x="4754880" y="1737360"/>
            <a:ext cx="4297680" cy="868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txBody>
          <a:bodyPr/>
          <a:lstStyle/>
          <a:p>
            <a:endParaRPr lang="en-IN" dirty="0"/>
          </a:p>
        </p:txBody>
      </p:sp>
      <p:sp>
        <p:nvSpPr>
          <p:cNvPr id="31" name="Shape 29"/>
          <p:cNvSpPr/>
          <p:nvPr/>
        </p:nvSpPr>
        <p:spPr>
          <a:xfrm>
            <a:off x="4754880" y="1737360"/>
            <a:ext cx="502920" cy="868680"/>
          </a:xfrm>
          <a:prstGeom prst="rect">
            <a:avLst/>
          </a:prstGeom>
          <a:solidFill>
            <a:srgbClr val="F4A261"/>
          </a:solidFill>
          <a:ln w="12700">
            <a:solidFill>
              <a:srgbClr val="F4A261"/>
            </a:solidFill>
            <a:prstDash val="solid"/>
          </a:ln>
        </p:spPr>
      </p:sp>
      <p:sp>
        <p:nvSpPr>
          <p:cNvPr id="32" name="Text 30"/>
          <p:cNvSpPr/>
          <p:nvPr/>
        </p:nvSpPr>
        <p:spPr>
          <a:xfrm>
            <a:off x="4773168" y="1920240"/>
            <a:ext cx="475488"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06</a:t>
            </a:r>
            <a:endParaRPr lang="en-US" sz="1500" dirty="0"/>
          </a:p>
        </p:txBody>
      </p:sp>
      <p:sp>
        <p:nvSpPr>
          <p:cNvPr id="33" name="Text 31"/>
          <p:cNvSpPr/>
          <p:nvPr/>
        </p:nvSpPr>
        <p:spPr>
          <a:xfrm>
            <a:off x="5349240" y="1792224"/>
            <a:ext cx="3611880" cy="347472"/>
          </a:xfrm>
          <a:prstGeom prst="rect">
            <a:avLst/>
          </a:prstGeom>
          <a:noFill/>
          <a:ln/>
        </p:spPr>
        <p:txBody>
          <a:bodyPr wrap="square" rtlCol="0" anchor="b"/>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Exploratory Data Analysis (EDA)</a:t>
            </a:r>
            <a:endParaRPr lang="en-US" sz="1200" dirty="0"/>
          </a:p>
        </p:txBody>
      </p:sp>
      <p:sp>
        <p:nvSpPr>
          <p:cNvPr id="34" name="Text 32"/>
          <p:cNvSpPr/>
          <p:nvPr/>
        </p:nvSpPr>
        <p:spPr>
          <a:xfrm>
            <a:off x="5349240" y="2176272"/>
            <a:ext cx="3611880" cy="347472"/>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Initial trends, chart-by-chart deep dive </a:t>
            </a:r>
            <a:endParaRPr lang="en-US" sz="1000" dirty="0"/>
          </a:p>
        </p:txBody>
      </p:sp>
      <p:sp>
        <p:nvSpPr>
          <p:cNvPr id="35" name="Shape 33"/>
          <p:cNvSpPr/>
          <p:nvPr/>
        </p:nvSpPr>
        <p:spPr>
          <a:xfrm>
            <a:off x="4754880" y="2788920"/>
            <a:ext cx="4297680" cy="868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36" name="Shape 34"/>
          <p:cNvSpPr/>
          <p:nvPr/>
        </p:nvSpPr>
        <p:spPr>
          <a:xfrm>
            <a:off x="4754880" y="2788920"/>
            <a:ext cx="502920" cy="868680"/>
          </a:xfrm>
          <a:prstGeom prst="rect">
            <a:avLst/>
          </a:prstGeom>
          <a:solidFill>
            <a:srgbClr val="F4A261"/>
          </a:solidFill>
          <a:ln w="12700">
            <a:solidFill>
              <a:srgbClr val="F4A261"/>
            </a:solidFill>
            <a:prstDash val="solid"/>
          </a:ln>
        </p:spPr>
      </p:sp>
      <p:sp>
        <p:nvSpPr>
          <p:cNvPr id="37" name="Text 35"/>
          <p:cNvSpPr/>
          <p:nvPr/>
        </p:nvSpPr>
        <p:spPr>
          <a:xfrm>
            <a:off x="4773168" y="2971800"/>
            <a:ext cx="475488"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07</a:t>
            </a:r>
            <a:endParaRPr lang="en-US" sz="1500" dirty="0"/>
          </a:p>
        </p:txBody>
      </p:sp>
      <p:sp>
        <p:nvSpPr>
          <p:cNvPr id="38" name="Text 36"/>
          <p:cNvSpPr/>
          <p:nvPr/>
        </p:nvSpPr>
        <p:spPr>
          <a:xfrm>
            <a:off x="5349240" y="2843784"/>
            <a:ext cx="3611880" cy="347472"/>
          </a:xfrm>
          <a:prstGeom prst="rect">
            <a:avLst/>
          </a:prstGeom>
          <a:noFill/>
          <a:ln/>
        </p:spPr>
        <p:txBody>
          <a:bodyPr wrap="square" rtlCol="0" anchor="b"/>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Dashboard Walkthrough</a:t>
            </a:r>
            <a:endParaRPr lang="en-US" sz="1200" dirty="0"/>
          </a:p>
        </p:txBody>
      </p:sp>
      <p:sp>
        <p:nvSpPr>
          <p:cNvPr id="39" name="Text 37"/>
          <p:cNvSpPr/>
          <p:nvPr/>
        </p:nvSpPr>
        <p:spPr>
          <a:xfrm>
            <a:off x="5349240" y="3227832"/>
            <a:ext cx="3611880" cy="347472"/>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Power BI KPIs, filters, layout, and interactivity</a:t>
            </a:r>
            <a:endParaRPr lang="en-US" sz="1000" dirty="0"/>
          </a:p>
        </p:txBody>
      </p:sp>
      <p:sp>
        <p:nvSpPr>
          <p:cNvPr id="40" name="Shape 38"/>
          <p:cNvSpPr/>
          <p:nvPr/>
        </p:nvSpPr>
        <p:spPr>
          <a:xfrm>
            <a:off x="4754880" y="3840480"/>
            <a:ext cx="4297680" cy="868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41" name="Shape 39"/>
          <p:cNvSpPr/>
          <p:nvPr/>
        </p:nvSpPr>
        <p:spPr>
          <a:xfrm>
            <a:off x="4754880" y="3840480"/>
            <a:ext cx="502920" cy="868680"/>
          </a:xfrm>
          <a:prstGeom prst="rect">
            <a:avLst/>
          </a:prstGeom>
          <a:solidFill>
            <a:srgbClr val="F4A261"/>
          </a:solidFill>
          <a:ln w="12700">
            <a:solidFill>
              <a:srgbClr val="F4A261"/>
            </a:solidFill>
            <a:prstDash val="solid"/>
          </a:ln>
        </p:spPr>
      </p:sp>
      <p:sp>
        <p:nvSpPr>
          <p:cNvPr id="42" name="Text 40"/>
          <p:cNvSpPr/>
          <p:nvPr/>
        </p:nvSpPr>
        <p:spPr>
          <a:xfrm>
            <a:off x="4773168" y="4023360"/>
            <a:ext cx="475488"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08</a:t>
            </a:r>
            <a:endParaRPr lang="en-US" sz="1500" dirty="0"/>
          </a:p>
        </p:txBody>
      </p:sp>
      <p:sp>
        <p:nvSpPr>
          <p:cNvPr id="43" name="Text 41"/>
          <p:cNvSpPr/>
          <p:nvPr/>
        </p:nvSpPr>
        <p:spPr>
          <a:xfrm>
            <a:off x="5349240" y="3895344"/>
            <a:ext cx="3611880" cy="347472"/>
          </a:xfrm>
          <a:prstGeom prst="rect">
            <a:avLst/>
          </a:prstGeom>
          <a:noFill/>
          <a:ln/>
        </p:spPr>
        <p:txBody>
          <a:bodyPr wrap="square" rtlCol="0" anchor="b"/>
          <a:lstStyle/>
          <a:p>
            <a:pPr marL="0" indent="0">
              <a:buNone/>
            </a:pPr>
            <a:r>
              <a:rPr lang="en-US" sz="1200" b="1" dirty="0">
                <a:solidFill>
                  <a:srgbClr val="FFFFFF"/>
                </a:solidFill>
                <a:latin typeface="Trebuchet MS" pitchFamily="34" charset="0"/>
                <a:ea typeface="Trebuchet MS" pitchFamily="34" charset="-122"/>
                <a:cs typeface="Trebuchet MS" pitchFamily="34" charset="-120"/>
              </a:rPr>
              <a:t>Key Insights, Recommendations &amp; Conclusion</a:t>
            </a:r>
            <a:endParaRPr lang="en-US" sz="1200" dirty="0"/>
          </a:p>
        </p:txBody>
      </p:sp>
      <p:sp>
        <p:nvSpPr>
          <p:cNvPr id="44" name="Text 42"/>
          <p:cNvSpPr/>
          <p:nvPr/>
        </p:nvSpPr>
        <p:spPr>
          <a:xfrm>
            <a:off x="5349240" y="4279392"/>
            <a:ext cx="3611880" cy="347472"/>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Findings, actions, and future scope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INTRODUCTION</a:t>
            </a:r>
            <a:endParaRPr lang="en-US" sz="2200" dirty="0"/>
          </a:p>
        </p:txBody>
      </p:sp>
      <p:sp>
        <p:nvSpPr>
          <p:cNvPr id="5" name="Shape 3"/>
          <p:cNvSpPr/>
          <p:nvPr/>
        </p:nvSpPr>
        <p:spPr>
          <a:xfrm>
            <a:off x="274320" y="685800"/>
            <a:ext cx="521208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685800"/>
            <a:ext cx="228600" cy="1188720"/>
          </a:xfrm>
          <a:prstGeom prst="rect">
            <a:avLst/>
          </a:prstGeom>
          <a:solidFill>
            <a:srgbClr val="0F3460"/>
          </a:solidFill>
          <a:ln w="12700">
            <a:solidFill>
              <a:srgbClr val="0F3460"/>
            </a:solidFill>
            <a:prstDash val="solid"/>
          </a:ln>
        </p:spPr>
      </p:sp>
      <p:sp>
        <p:nvSpPr>
          <p:cNvPr id="7" name="Text 5"/>
          <p:cNvSpPr/>
          <p:nvPr/>
        </p:nvSpPr>
        <p:spPr>
          <a:xfrm>
            <a:off x="594360" y="758952"/>
            <a:ext cx="4754880" cy="347472"/>
          </a:xfrm>
          <a:prstGeom prst="rect">
            <a:avLst/>
          </a:prstGeom>
          <a:noFill/>
          <a:ln/>
        </p:spPr>
        <p:txBody>
          <a:bodyPr wrap="square"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Background</a:t>
            </a:r>
            <a:endParaRPr lang="en-US" sz="1400" dirty="0"/>
          </a:p>
        </p:txBody>
      </p:sp>
      <p:sp>
        <p:nvSpPr>
          <p:cNvPr id="8" name="Text 6"/>
          <p:cNvSpPr/>
          <p:nvPr/>
        </p:nvSpPr>
        <p:spPr>
          <a:xfrm>
            <a:off x="594360" y="1124712"/>
            <a:ext cx="4754880" cy="68580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Cryptocurrency has emerged as one of the most disruptive asset classes in the last decade. From Bitcoin's inception in 2009 to thousands of altcoins today, the market has grown to multi-trillion-dollar valuations.</a:t>
            </a:r>
            <a:endParaRPr lang="en-US" sz="1100" dirty="0"/>
          </a:p>
        </p:txBody>
      </p:sp>
      <p:sp>
        <p:nvSpPr>
          <p:cNvPr id="9" name="Shape 7"/>
          <p:cNvSpPr/>
          <p:nvPr/>
        </p:nvSpPr>
        <p:spPr>
          <a:xfrm>
            <a:off x="274320" y="2011680"/>
            <a:ext cx="521208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0" name="Shape 8"/>
          <p:cNvSpPr/>
          <p:nvPr/>
        </p:nvSpPr>
        <p:spPr>
          <a:xfrm>
            <a:off x="274320" y="2011680"/>
            <a:ext cx="228600" cy="1188720"/>
          </a:xfrm>
          <a:prstGeom prst="rect">
            <a:avLst/>
          </a:prstGeom>
          <a:solidFill>
            <a:srgbClr val="0F3460"/>
          </a:solidFill>
          <a:ln w="12700">
            <a:solidFill>
              <a:srgbClr val="0F3460"/>
            </a:solidFill>
            <a:prstDash val="solid"/>
          </a:ln>
        </p:spPr>
      </p:sp>
      <p:sp>
        <p:nvSpPr>
          <p:cNvPr id="11" name="Text 9"/>
          <p:cNvSpPr/>
          <p:nvPr/>
        </p:nvSpPr>
        <p:spPr>
          <a:xfrm>
            <a:off x="594360" y="2084832"/>
            <a:ext cx="4754880" cy="347472"/>
          </a:xfrm>
          <a:prstGeom prst="rect">
            <a:avLst/>
          </a:prstGeom>
          <a:noFill/>
          <a:ln/>
        </p:spPr>
        <p:txBody>
          <a:bodyPr wrap="square"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Context</a:t>
            </a:r>
            <a:endParaRPr lang="en-US" sz="1400" dirty="0"/>
          </a:p>
        </p:txBody>
      </p:sp>
      <p:sp>
        <p:nvSpPr>
          <p:cNvPr id="12" name="Text 10"/>
          <p:cNvSpPr/>
          <p:nvPr/>
        </p:nvSpPr>
        <p:spPr>
          <a:xfrm>
            <a:off x="594360" y="2450592"/>
            <a:ext cx="4754880" cy="68580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This project analyses a dataset of 100 top cryptocurrencies sourced via the CoinGecko API, providing a comprehensive snapshot of market conditions, historical highs/lows, and price dynamics.</a:t>
            </a:r>
            <a:endParaRPr lang="en-US" sz="1100" dirty="0"/>
          </a:p>
        </p:txBody>
      </p:sp>
      <p:sp>
        <p:nvSpPr>
          <p:cNvPr id="13" name="Shape 11"/>
          <p:cNvSpPr/>
          <p:nvPr/>
        </p:nvSpPr>
        <p:spPr>
          <a:xfrm>
            <a:off x="274320" y="3337560"/>
            <a:ext cx="521208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4" name="Shape 12"/>
          <p:cNvSpPr/>
          <p:nvPr/>
        </p:nvSpPr>
        <p:spPr>
          <a:xfrm>
            <a:off x="274320" y="3337560"/>
            <a:ext cx="228600" cy="1188720"/>
          </a:xfrm>
          <a:prstGeom prst="rect">
            <a:avLst/>
          </a:prstGeom>
          <a:solidFill>
            <a:srgbClr val="0F3460"/>
          </a:solidFill>
          <a:ln w="12700">
            <a:solidFill>
              <a:srgbClr val="0F3460"/>
            </a:solidFill>
            <a:prstDash val="solid"/>
          </a:ln>
        </p:spPr>
      </p:sp>
      <p:sp>
        <p:nvSpPr>
          <p:cNvPr id="15" name="Text 13"/>
          <p:cNvSpPr/>
          <p:nvPr/>
        </p:nvSpPr>
        <p:spPr>
          <a:xfrm>
            <a:off x="594360" y="3410712"/>
            <a:ext cx="4754880" cy="347472"/>
          </a:xfrm>
          <a:prstGeom prst="rect">
            <a:avLst/>
          </a:prstGeom>
          <a:noFill/>
          <a:ln/>
        </p:spPr>
        <p:txBody>
          <a:bodyPr wrap="square"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Importance</a:t>
            </a:r>
            <a:endParaRPr lang="en-US" sz="1400" dirty="0"/>
          </a:p>
        </p:txBody>
      </p:sp>
      <p:sp>
        <p:nvSpPr>
          <p:cNvPr id="16" name="Text 14"/>
          <p:cNvSpPr/>
          <p:nvPr/>
        </p:nvSpPr>
        <p:spPr>
          <a:xfrm>
            <a:off x="594360" y="3776472"/>
            <a:ext cx="4754880" cy="68580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For investors, analysts, and institutions, understanding market patterns is critical. This analysis provides data-driven insights to support investment decisions, risk assessment, and market monitoring.</a:t>
            </a:r>
            <a:endParaRPr lang="en-US" sz="1100" dirty="0"/>
          </a:p>
        </p:txBody>
      </p:sp>
      <p:sp>
        <p:nvSpPr>
          <p:cNvPr id="17" name="Shape 15"/>
          <p:cNvSpPr/>
          <p:nvPr/>
        </p:nvSpPr>
        <p:spPr>
          <a:xfrm>
            <a:off x="5760720" y="777240"/>
            <a:ext cx="1280160" cy="1280160"/>
          </a:xfrm>
          <a:prstGeom prst="ellipse">
            <a:avLst/>
          </a:prstGeom>
          <a:solidFill>
            <a:srgbClr val="0F3460"/>
          </a:solidFill>
          <a:ln w="12700">
            <a:solidFill>
              <a:srgbClr val="F4A261"/>
            </a:solidFill>
            <a:prstDash val="solid"/>
          </a:ln>
        </p:spPr>
      </p:sp>
      <p:sp>
        <p:nvSpPr>
          <p:cNvPr id="18" name="Text 16"/>
          <p:cNvSpPr/>
          <p:nvPr/>
        </p:nvSpPr>
        <p:spPr>
          <a:xfrm>
            <a:off x="5760720" y="914400"/>
            <a:ext cx="1280160" cy="502920"/>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100</a:t>
            </a:r>
            <a:endParaRPr lang="en-US" sz="1800" dirty="0"/>
          </a:p>
        </p:txBody>
      </p:sp>
      <p:sp>
        <p:nvSpPr>
          <p:cNvPr id="19" name="Text 17"/>
          <p:cNvSpPr/>
          <p:nvPr/>
        </p:nvSpPr>
        <p:spPr>
          <a:xfrm>
            <a:off x="5760720" y="1435608"/>
            <a:ext cx="1280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Coins</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Tracked</a:t>
            </a:r>
            <a:endParaRPr lang="en-US" sz="900" dirty="0"/>
          </a:p>
        </p:txBody>
      </p:sp>
      <p:sp>
        <p:nvSpPr>
          <p:cNvPr id="20" name="Shape 18"/>
          <p:cNvSpPr/>
          <p:nvPr/>
        </p:nvSpPr>
        <p:spPr>
          <a:xfrm>
            <a:off x="7315200" y="777240"/>
            <a:ext cx="1280160" cy="1280160"/>
          </a:xfrm>
          <a:prstGeom prst="ellipse">
            <a:avLst/>
          </a:prstGeom>
          <a:solidFill>
            <a:srgbClr val="0F3460"/>
          </a:solidFill>
          <a:ln w="12700">
            <a:solidFill>
              <a:srgbClr val="F4A261"/>
            </a:solidFill>
            <a:prstDash val="solid"/>
          </a:ln>
        </p:spPr>
      </p:sp>
      <p:sp>
        <p:nvSpPr>
          <p:cNvPr id="21" name="Text 19"/>
          <p:cNvSpPr/>
          <p:nvPr/>
        </p:nvSpPr>
        <p:spPr>
          <a:xfrm>
            <a:off x="7315200" y="914400"/>
            <a:ext cx="1280160" cy="502920"/>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$3T</a:t>
            </a:r>
            <a:endParaRPr lang="en-US" sz="1800" dirty="0"/>
          </a:p>
        </p:txBody>
      </p:sp>
      <p:sp>
        <p:nvSpPr>
          <p:cNvPr id="22" name="Text 20"/>
          <p:cNvSpPr/>
          <p:nvPr/>
        </p:nvSpPr>
        <p:spPr>
          <a:xfrm>
            <a:off x="7315200" y="1435608"/>
            <a:ext cx="1280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Total</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Market Cap</a:t>
            </a:r>
            <a:endParaRPr lang="en-US" sz="900" dirty="0"/>
          </a:p>
        </p:txBody>
      </p:sp>
      <p:sp>
        <p:nvSpPr>
          <p:cNvPr id="23" name="Shape 21"/>
          <p:cNvSpPr/>
          <p:nvPr/>
        </p:nvSpPr>
        <p:spPr>
          <a:xfrm>
            <a:off x="5760720" y="2880360"/>
            <a:ext cx="1280160" cy="1280160"/>
          </a:xfrm>
          <a:prstGeom prst="ellipse">
            <a:avLst/>
          </a:prstGeom>
          <a:solidFill>
            <a:srgbClr val="0F3460"/>
          </a:solidFill>
          <a:ln w="12700">
            <a:solidFill>
              <a:srgbClr val="F4A261"/>
            </a:solidFill>
            <a:prstDash val="solid"/>
          </a:ln>
        </p:spPr>
      </p:sp>
      <p:sp>
        <p:nvSpPr>
          <p:cNvPr id="24" name="Text 22"/>
          <p:cNvSpPr/>
          <p:nvPr/>
        </p:nvSpPr>
        <p:spPr>
          <a:xfrm>
            <a:off x="5760720" y="3017520"/>
            <a:ext cx="1280160" cy="502920"/>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$453.8K</a:t>
            </a:r>
            <a:endParaRPr lang="en-US" sz="1800" dirty="0"/>
          </a:p>
        </p:txBody>
      </p:sp>
      <p:sp>
        <p:nvSpPr>
          <p:cNvPr id="25" name="Text 23"/>
          <p:cNvSpPr/>
          <p:nvPr/>
        </p:nvSpPr>
        <p:spPr>
          <a:xfrm>
            <a:off x="5760720" y="3538728"/>
            <a:ext cx="1280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Current</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Highest Price</a:t>
            </a:r>
            <a:endParaRPr lang="en-US" sz="900" dirty="0"/>
          </a:p>
        </p:txBody>
      </p:sp>
      <p:sp>
        <p:nvSpPr>
          <p:cNvPr id="26" name="Shape 24"/>
          <p:cNvSpPr/>
          <p:nvPr/>
        </p:nvSpPr>
        <p:spPr>
          <a:xfrm>
            <a:off x="7315200" y="2880360"/>
            <a:ext cx="1280160" cy="1280160"/>
          </a:xfrm>
          <a:prstGeom prst="ellipse">
            <a:avLst/>
          </a:prstGeom>
          <a:solidFill>
            <a:srgbClr val="0F3460"/>
          </a:solidFill>
          <a:ln w="12700">
            <a:solidFill>
              <a:srgbClr val="F4A261"/>
            </a:solidFill>
            <a:prstDash val="solid"/>
          </a:ln>
        </p:spPr>
      </p:sp>
      <p:sp>
        <p:nvSpPr>
          <p:cNvPr id="27" name="Text 25"/>
          <p:cNvSpPr/>
          <p:nvPr/>
        </p:nvSpPr>
        <p:spPr>
          <a:xfrm>
            <a:off x="7315200" y="3017520"/>
            <a:ext cx="1280160" cy="502920"/>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2009</a:t>
            </a:r>
            <a:endParaRPr lang="en-US" sz="1800" dirty="0"/>
          </a:p>
        </p:txBody>
      </p:sp>
      <p:sp>
        <p:nvSpPr>
          <p:cNvPr id="28" name="Text 26"/>
          <p:cNvSpPr/>
          <p:nvPr/>
        </p:nvSpPr>
        <p:spPr>
          <a:xfrm>
            <a:off x="7315200" y="3538728"/>
            <a:ext cx="1280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Crypto</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Born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DOMAIN OVERVIEW  —  CRYPTOCURRENCY ECOSYSTEM</a:t>
            </a:r>
            <a:endParaRPr lang="en-US" sz="2200" dirty="0"/>
          </a:p>
        </p:txBody>
      </p:sp>
      <p:sp>
        <p:nvSpPr>
          <p:cNvPr id="5" name="Shape 3"/>
          <p:cNvSpPr/>
          <p:nvPr/>
        </p:nvSpPr>
        <p:spPr>
          <a:xfrm>
            <a:off x="228600" y="713232"/>
            <a:ext cx="2788920" cy="18288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1234440" y="822960"/>
            <a:ext cx="731520" cy="731520"/>
          </a:xfrm>
          <a:prstGeom prst="ellipse">
            <a:avLst/>
          </a:prstGeom>
          <a:solidFill>
            <a:srgbClr val="0F3460"/>
          </a:solidFill>
          <a:ln w="12700">
            <a:solidFill>
              <a:srgbClr val="F4A261"/>
            </a:solidFill>
            <a:prstDash val="solid"/>
          </a:ln>
        </p:spPr>
      </p:sp>
      <p:sp>
        <p:nvSpPr>
          <p:cNvPr id="7" name="Text 5"/>
          <p:cNvSpPr/>
          <p:nvPr/>
        </p:nvSpPr>
        <p:spPr>
          <a:xfrm>
            <a:off x="1234440" y="82296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320040" y="1627632"/>
            <a:ext cx="2606040" cy="347472"/>
          </a:xfrm>
          <a:prstGeom prst="rect">
            <a:avLst/>
          </a:prstGeom>
          <a:noFill/>
          <a:ln/>
        </p:spPr>
        <p:txBody>
          <a:bodyPr wrap="square" rtlCol="0" anchor="ctr"/>
          <a:lstStyle/>
          <a:p>
            <a:pPr marL="0" indent="0" algn="ctr">
              <a:buNone/>
            </a:pPr>
            <a:r>
              <a:rPr lang="en-US" sz="1300" b="1" dirty="0">
                <a:solidFill>
                  <a:srgbClr val="F4A261"/>
                </a:solidFill>
                <a:latin typeface="Trebuchet MS" pitchFamily="34" charset="0"/>
                <a:ea typeface="Trebuchet MS" pitchFamily="34" charset="-122"/>
                <a:cs typeface="Trebuchet MS" pitchFamily="34" charset="-120"/>
              </a:rPr>
              <a:t>Blockchain</a:t>
            </a:r>
            <a:endParaRPr lang="en-US" sz="1300" dirty="0"/>
          </a:p>
        </p:txBody>
      </p:sp>
      <p:sp>
        <p:nvSpPr>
          <p:cNvPr id="9" name="Text 7"/>
          <p:cNvSpPr/>
          <p:nvPr/>
        </p:nvSpPr>
        <p:spPr>
          <a:xfrm>
            <a:off x="320040" y="1993392"/>
            <a:ext cx="2606040" cy="475488"/>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Decentralised, immutable distributed ledger technology underpinning all crypto transactions</a:t>
            </a:r>
            <a:endParaRPr lang="en-US" sz="950" dirty="0"/>
          </a:p>
        </p:txBody>
      </p:sp>
      <p:sp>
        <p:nvSpPr>
          <p:cNvPr id="10" name="Shape 8"/>
          <p:cNvSpPr/>
          <p:nvPr/>
        </p:nvSpPr>
        <p:spPr>
          <a:xfrm>
            <a:off x="3172968" y="713232"/>
            <a:ext cx="2788920" cy="18288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1" name="Shape 9"/>
          <p:cNvSpPr/>
          <p:nvPr/>
        </p:nvSpPr>
        <p:spPr>
          <a:xfrm>
            <a:off x="4178808" y="822960"/>
            <a:ext cx="731520" cy="731520"/>
          </a:xfrm>
          <a:prstGeom prst="ellipse">
            <a:avLst/>
          </a:prstGeom>
          <a:solidFill>
            <a:srgbClr val="0F3460"/>
          </a:solidFill>
          <a:ln w="12700">
            <a:solidFill>
              <a:srgbClr val="F4A261"/>
            </a:solidFill>
            <a:prstDash val="solid"/>
          </a:ln>
        </p:spPr>
      </p:sp>
      <p:sp>
        <p:nvSpPr>
          <p:cNvPr id="12" name="Text 10"/>
          <p:cNvSpPr/>
          <p:nvPr/>
        </p:nvSpPr>
        <p:spPr>
          <a:xfrm>
            <a:off x="4178808" y="82296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3264408" y="1627632"/>
            <a:ext cx="2606040" cy="347472"/>
          </a:xfrm>
          <a:prstGeom prst="rect">
            <a:avLst/>
          </a:prstGeom>
          <a:noFill/>
          <a:ln/>
        </p:spPr>
        <p:txBody>
          <a:bodyPr wrap="square" rtlCol="0" anchor="ctr"/>
          <a:lstStyle/>
          <a:p>
            <a:pPr marL="0" indent="0" algn="ctr">
              <a:buNone/>
            </a:pPr>
            <a:r>
              <a:rPr lang="en-US" sz="1300" b="1" dirty="0">
                <a:solidFill>
                  <a:srgbClr val="F4A261"/>
                </a:solidFill>
                <a:latin typeface="Trebuchet MS" pitchFamily="34" charset="0"/>
                <a:ea typeface="Trebuchet MS" pitchFamily="34" charset="-122"/>
                <a:cs typeface="Trebuchet MS" pitchFamily="34" charset="-120"/>
              </a:rPr>
              <a:t>Market Cap</a:t>
            </a:r>
            <a:endParaRPr lang="en-US" sz="1300" dirty="0"/>
          </a:p>
        </p:txBody>
      </p:sp>
      <p:sp>
        <p:nvSpPr>
          <p:cNvPr id="14" name="Text 12"/>
          <p:cNvSpPr/>
          <p:nvPr/>
        </p:nvSpPr>
        <p:spPr>
          <a:xfrm>
            <a:off x="3264408" y="1993392"/>
            <a:ext cx="2606040" cy="475488"/>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Total value of a cryptocurrency: Circulating Supply × Current Price</a:t>
            </a:r>
            <a:endParaRPr lang="en-US" sz="950" dirty="0"/>
          </a:p>
        </p:txBody>
      </p:sp>
      <p:sp>
        <p:nvSpPr>
          <p:cNvPr id="15" name="Shape 13"/>
          <p:cNvSpPr/>
          <p:nvPr/>
        </p:nvSpPr>
        <p:spPr>
          <a:xfrm>
            <a:off x="6117336" y="713232"/>
            <a:ext cx="2788920" cy="18288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6" name="Shape 14"/>
          <p:cNvSpPr/>
          <p:nvPr/>
        </p:nvSpPr>
        <p:spPr>
          <a:xfrm>
            <a:off x="7123176" y="822960"/>
            <a:ext cx="731520" cy="731520"/>
          </a:xfrm>
          <a:prstGeom prst="ellipse">
            <a:avLst/>
          </a:prstGeom>
          <a:solidFill>
            <a:srgbClr val="0F3460"/>
          </a:solidFill>
          <a:ln w="12700">
            <a:solidFill>
              <a:srgbClr val="F4A261"/>
            </a:solidFill>
            <a:prstDash val="solid"/>
          </a:ln>
        </p:spPr>
      </p:sp>
      <p:sp>
        <p:nvSpPr>
          <p:cNvPr id="17" name="Text 15"/>
          <p:cNvSpPr/>
          <p:nvPr/>
        </p:nvSpPr>
        <p:spPr>
          <a:xfrm>
            <a:off x="7123176" y="82296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6208776" y="1627632"/>
            <a:ext cx="2606040" cy="347472"/>
          </a:xfrm>
          <a:prstGeom prst="rect">
            <a:avLst/>
          </a:prstGeom>
          <a:noFill/>
          <a:ln/>
        </p:spPr>
        <p:txBody>
          <a:bodyPr wrap="square" rtlCol="0" anchor="ctr"/>
          <a:lstStyle/>
          <a:p>
            <a:pPr marL="0" indent="0" algn="ctr">
              <a:buNone/>
            </a:pPr>
            <a:r>
              <a:rPr lang="en-US" sz="1300" b="1" dirty="0">
                <a:solidFill>
                  <a:srgbClr val="F4A261"/>
                </a:solidFill>
                <a:latin typeface="Trebuchet MS" pitchFamily="34" charset="0"/>
                <a:ea typeface="Trebuchet MS" pitchFamily="34" charset="-122"/>
                <a:cs typeface="Trebuchet MS" pitchFamily="34" charset="-120"/>
              </a:rPr>
              <a:t>ATH / ATL</a:t>
            </a:r>
            <a:endParaRPr lang="en-US" sz="1300" dirty="0"/>
          </a:p>
        </p:txBody>
      </p:sp>
      <p:sp>
        <p:nvSpPr>
          <p:cNvPr id="19" name="Text 17"/>
          <p:cNvSpPr/>
          <p:nvPr/>
        </p:nvSpPr>
        <p:spPr>
          <a:xfrm>
            <a:off x="6208776" y="1993392"/>
            <a:ext cx="2606040" cy="475488"/>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All-Time High and All-Time Low price points – key indicators of historic volatility</a:t>
            </a:r>
            <a:endParaRPr lang="en-US" sz="950" dirty="0"/>
          </a:p>
        </p:txBody>
      </p:sp>
      <p:sp>
        <p:nvSpPr>
          <p:cNvPr id="20" name="Shape 18"/>
          <p:cNvSpPr/>
          <p:nvPr/>
        </p:nvSpPr>
        <p:spPr>
          <a:xfrm>
            <a:off x="228600" y="2770632"/>
            <a:ext cx="2788920" cy="18288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1" name="Shape 19"/>
          <p:cNvSpPr/>
          <p:nvPr/>
        </p:nvSpPr>
        <p:spPr>
          <a:xfrm>
            <a:off x="1234440" y="2880360"/>
            <a:ext cx="731520" cy="731520"/>
          </a:xfrm>
          <a:prstGeom prst="ellipse">
            <a:avLst/>
          </a:prstGeom>
          <a:solidFill>
            <a:srgbClr val="0F3460"/>
          </a:solidFill>
          <a:ln w="12700">
            <a:solidFill>
              <a:srgbClr val="F4A261"/>
            </a:solidFill>
            <a:prstDash val="solid"/>
          </a:ln>
        </p:spPr>
      </p:sp>
      <p:sp>
        <p:nvSpPr>
          <p:cNvPr id="22" name="Text 20"/>
          <p:cNvSpPr/>
          <p:nvPr/>
        </p:nvSpPr>
        <p:spPr>
          <a:xfrm>
            <a:off x="1234440" y="288036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320040" y="3685032"/>
            <a:ext cx="2606040" cy="347472"/>
          </a:xfrm>
          <a:prstGeom prst="rect">
            <a:avLst/>
          </a:prstGeom>
          <a:noFill/>
          <a:ln/>
        </p:spPr>
        <p:txBody>
          <a:bodyPr wrap="square" rtlCol="0" anchor="ctr"/>
          <a:lstStyle/>
          <a:p>
            <a:pPr marL="0" indent="0" algn="ctr">
              <a:buNone/>
            </a:pPr>
            <a:r>
              <a:rPr lang="en-US" sz="1300" b="1" dirty="0">
                <a:solidFill>
                  <a:srgbClr val="F4A261"/>
                </a:solidFill>
                <a:latin typeface="Trebuchet MS" pitchFamily="34" charset="0"/>
                <a:ea typeface="Trebuchet MS" pitchFamily="34" charset="-122"/>
                <a:cs typeface="Trebuchet MS" pitchFamily="34" charset="-120"/>
              </a:rPr>
              <a:t>Wrapped Tokens</a:t>
            </a:r>
            <a:endParaRPr lang="en-US" sz="1300" dirty="0"/>
          </a:p>
        </p:txBody>
      </p:sp>
      <p:sp>
        <p:nvSpPr>
          <p:cNvPr id="24" name="Text 22"/>
          <p:cNvSpPr/>
          <p:nvPr/>
        </p:nvSpPr>
        <p:spPr>
          <a:xfrm>
            <a:off x="320040" y="4050792"/>
            <a:ext cx="2606040" cy="475488"/>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Pegged representations of assets from other blockchains (e.g., Wrapped Bitcoin on Ethereum)</a:t>
            </a:r>
            <a:endParaRPr lang="en-US" sz="950" dirty="0"/>
          </a:p>
        </p:txBody>
      </p:sp>
      <p:sp>
        <p:nvSpPr>
          <p:cNvPr id="25" name="Shape 23"/>
          <p:cNvSpPr/>
          <p:nvPr/>
        </p:nvSpPr>
        <p:spPr>
          <a:xfrm>
            <a:off x="3172968" y="2770632"/>
            <a:ext cx="2788920" cy="18288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6" name="Shape 24"/>
          <p:cNvSpPr/>
          <p:nvPr/>
        </p:nvSpPr>
        <p:spPr>
          <a:xfrm>
            <a:off x="4178808" y="2880360"/>
            <a:ext cx="731520" cy="731520"/>
          </a:xfrm>
          <a:prstGeom prst="ellipse">
            <a:avLst/>
          </a:prstGeom>
          <a:solidFill>
            <a:srgbClr val="0F3460"/>
          </a:solidFill>
          <a:ln w="12700">
            <a:solidFill>
              <a:srgbClr val="F4A261"/>
            </a:solidFill>
            <a:prstDash val="solid"/>
          </a:ln>
        </p:spPr>
      </p:sp>
      <p:sp>
        <p:nvSpPr>
          <p:cNvPr id="27" name="Text 25"/>
          <p:cNvSpPr/>
          <p:nvPr/>
        </p:nvSpPr>
        <p:spPr>
          <a:xfrm>
            <a:off x="4178808" y="288036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3264408" y="3685032"/>
            <a:ext cx="2606040" cy="347472"/>
          </a:xfrm>
          <a:prstGeom prst="rect">
            <a:avLst/>
          </a:prstGeom>
          <a:noFill/>
          <a:ln/>
        </p:spPr>
        <p:txBody>
          <a:bodyPr wrap="square" rtlCol="0" anchor="ctr"/>
          <a:lstStyle/>
          <a:p>
            <a:pPr marL="0" indent="0" algn="ctr">
              <a:buNone/>
            </a:pPr>
            <a:r>
              <a:rPr lang="en-US" sz="1300" b="1" dirty="0">
                <a:solidFill>
                  <a:srgbClr val="F4A261"/>
                </a:solidFill>
                <a:latin typeface="Trebuchet MS" pitchFamily="34" charset="0"/>
                <a:ea typeface="Trebuchet MS" pitchFamily="34" charset="-122"/>
                <a:cs typeface="Trebuchet MS" pitchFamily="34" charset="-120"/>
              </a:rPr>
              <a:t>Price Change %</a:t>
            </a:r>
            <a:endParaRPr lang="en-US" sz="1300" dirty="0"/>
          </a:p>
        </p:txBody>
      </p:sp>
      <p:sp>
        <p:nvSpPr>
          <p:cNvPr id="29" name="Text 27"/>
          <p:cNvSpPr/>
          <p:nvPr/>
        </p:nvSpPr>
        <p:spPr>
          <a:xfrm>
            <a:off x="3264408" y="4050792"/>
            <a:ext cx="2606040" cy="475488"/>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24h and 7d percentage change metrics that signal short-term market momentum</a:t>
            </a:r>
            <a:endParaRPr lang="en-US" sz="950" dirty="0"/>
          </a:p>
        </p:txBody>
      </p:sp>
      <p:sp>
        <p:nvSpPr>
          <p:cNvPr id="30" name="Shape 28"/>
          <p:cNvSpPr/>
          <p:nvPr/>
        </p:nvSpPr>
        <p:spPr>
          <a:xfrm>
            <a:off x="6117336" y="2770632"/>
            <a:ext cx="2788920" cy="18288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31" name="Shape 29"/>
          <p:cNvSpPr/>
          <p:nvPr/>
        </p:nvSpPr>
        <p:spPr>
          <a:xfrm>
            <a:off x="7123176" y="2880360"/>
            <a:ext cx="731520" cy="731520"/>
          </a:xfrm>
          <a:prstGeom prst="ellipse">
            <a:avLst/>
          </a:prstGeom>
          <a:solidFill>
            <a:srgbClr val="0F3460"/>
          </a:solidFill>
          <a:ln w="12700">
            <a:solidFill>
              <a:srgbClr val="F4A261"/>
            </a:solidFill>
            <a:prstDash val="solid"/>
          </a:ln>
        </p:spPr>
      </p:sp>
      <p:sp>
        <p:nvSpPr>
          <p:cNvPr id="32" name="Text 30"/>
          <p:cNvSpPr/>
          <p:nvPr/>
        </p:nvSpPr>
        <p:spPr>
          <a:xfrm>
            <a:off x="7123176" y="288036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6208776" y="3685032"/>
            <a:ext cx="2606040" cy="347472"/>
          </a:xfrm>
          <a:prstGeom prst="rect">
            <a:avLst/>
          </a:prstGeom>
          <a:noFill/>
          <a:ln/>
        </p:spPr>
        <p:txBody>
          <a:bodyPr wrap="square" rtlCol="0" anchor="ctr"/>
          <a:lstStyle/>
          <a:p>
            <a:pPr marL="0" indent="0" algn="ctr">
              <a:buNone/>
            </a:pPr>
            <a:r>
              <a:rPr lang="en-US" sz="1300" b="1" dirty="0">
                <a:solidFill>
                  <a:srgbClr val="F4A261"/>
                </a:solidFill>
                <a:latin typeface="Trebuchet MS" pitchFamily="34" charset="0"/>
                <a:ea typeface="Trebuchet MS" pitchFamily="34" charset="-122"/>
                <a:cs typeface="Trebuchet MS" pitchFamily="34" charset="-120"/>
              </a:rPr>
              <a:t>Stablecoin</a:t>
            </a:r>
            <a:endParaRPr lang="en-US" sz="1300" dirty="0"/>
          </a:p>
        </p:txBody>
      </p:sp>
      <p:sp>
        <p:nvSpPr>
          <p:cNvPr id="34" name="Text 32"/>
          <p:cNvSpPr/>
          <p:nvPr/>
        </p:nvSpPr>
        <p:spPr>
          <a:xfrm>
            <a:off x="6208776" y="4050792"/>
            <a:ext cx="2606040" cy="475488"/>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Crypto pegged to fiat (e.g., USDT, USDC) to minimise price volatility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PROBLEM STATEMENT</a:t>
            </a:r>
            <a:endParaRPr lang="en-US" sz="2200" dirty="0"/>
          </a:p>
        </p:txBody>
      </p:sp>
      <p:sp>
        <p:nvSpPr>
          <p:cNvPr id="5" name="Shape 3"/>
          <p:cNvSpPr/>
          <p:nvPr/>
        </p:nvSpPr>
        <p:spPr>
          <a:xfrm>
            <a:off x="274320" y="713232"/>
            <a:ext cx="8595360" cy="1234440"/>
          </a:xfrm>
          <a:prstGeom prst="rect">
            <a:avLst/>
          </a:prstGeom>
          <a:solidFill>
            <a:srgbClr val="0F3460"/>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13232"/>
            <a:ext cx="8595360" cy="109728"/>
          </a:xfrm>
          <a:prstGeom prst="rect">
            <a:avLst/>
          </a:prstGeom>
          <a:solidFill>
            <a:srgbClr val="F4A261"/>
          </a:solidFill>
          <a:ln w="12700">
            <a:solidFill>
              <a:srgbClr val="F4A261"/>
            </a:solidFill>
            <a:prstDash val="solid"/>
          </a:ln>
        </p:spPr>
      </p:sp>
      <p:sp>
        <p:nvSpPr>
          <p:cNvPr id="7" name="Text 5"/>
          <p:cNvSpPr/>
          <p:nvPr/>
        </p:nvSpPr>
        <p:spPr>
          <a:xfrm>
            <a:off x="457200" y="868680"/>
            <a:ext cx="8229600" cy="347472"/>
          </a:xfrm>
          <a:prstGeom prst="rect">
            <a:avLst/>
          </a:prstGeom>
          <a:noFill/>
          <a:ln/>
        </p:spPr>
        <p:txBody>
          <a:bodyPr wrap="square" rtlCol="0" anchor="ctr"/>
          <a:lstStyle/>
          <a:p>
            <a:pPr marL="0" indent="0">
              <a:buNone/>
            </a:pPr>
            <a:r>
              <a:rPr lang="en-US" sz="1500" b="1" dirty="0">
                <a:solidFill>
                  <a:srgbClr val="F4A261"/>
                </a:solidFill>
                <a:latin typeface="Trebuchet MS" pitchFamily="34" charset="0"/>
                <a:ea typeface="Trebuchet MS" pitchFamily="34" charset="-122"/>
                <a:cs typeface="Trebuchet MS" pitchFamily="34" charset="-120"/>
              </a:rPr>
              <a:t>Core Business Problem</a:t>
            </a:r>
            <a:endParaRPr lang="en-US" sz="1500" dirty="0"/>
          </a:p>
        </p:txBody>
      </p:sp>
      <p:sp>
        <p:nvSpPr>
          <p:cNvPr id="8" name="Text 6"/>
          <p:cNvSpPr/>
          <p:nvPr/>
        </p:nvSpPr>
        <p:spPr>
          <a:xfrm>
            <a:off x="457200" y="1188720"/>
            <a:ext cx="822960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cryptocurrency market is highly volatile and data-rich, yet difficult to monitor holistically. Investors, analysts, and institutions lack a consolidated, interactive view of multi-coin performance, historical pricing patterns, and real-time market metrics — leading to uninformed decisions and missed opportunities.</a:t>
            </a:r>
            <a:endParaRPr lang="en-US" sz="1150" dirty="0"/>
          </a:p>
        </p:txBody>
      </p:sp>
      <p:sp>
        <p:nvSpPr>
          <p:cNvPr id="9" name="Shape 7"/>
          <p:cNvSpPr/>
          <p:nvPr/>
        </p:nvSpPr>
        <p:spPr>
          <a:xfrm>
            <a:off x="274320" y="2148840"/>
            <a:ext cx="278892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0" name="Shape 8"/>
          <p:cNvSpPr/>
          <p:nvPr/>
        </p:nvSpPr>
        <p:spPr>
          <a:xfrm>
            <a:off x="274320" y="2148840"/>
            <a:ext cx="2788920" cy="109728"/>
          </a:xfrm>
          <a:prstGeom prst="rect">
            <a:avLst/>
          </a:prstGeom>
          <a:solidFill>
            <a:srgbClr val="E63946"/>
          </a:solidFill>
          <a:ln w="12700">
            <a:solidFill>
              <a:srgbClr val="E63946"/>
            </a:solidFill>
            <a:prstDash val="solid"/>
          </a:ln>
        </p:spPr>
      </p:sp>
      <p:sp>
        <p:nvSpPr>
          <p:cNvPr id="11" name="Text 9"/>
          <p:cNvSpPr/>
          <p:nvPr/>
        </p:nvSpPr>
        <p:spPr>
          <a:xfrm>
            <a:off x="365760" y="2313432"/>
            <a:ext cx="26060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 Volatility</a:t>
            </a:r>
            <a:endParaRPr lang="en-US" sz="1200" dirty="0"/>
          </a:p>
        </p:txBody>
      </p:sp>
      <p:sp>
        <p:nvSpPr>
          <p:cNvPr id="12" name="Text 10"/>
          <p:cNvSpPr/>
          <p:nvPr/>
        </p:nvSpPr>
        <p:spPr>
          <a:xfrm>
            <a:off x="365760" y="2679192"/>
            <a:ext cx="260604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Extreme 24hr and 7-day price swings make it hard to track exposure</a:t>
            </a:r>
            <a:endParaRPr lang="en-US" sz="1000" dirty="0"/>
          </a:p>
        </p:txBody>
      </p:sp>
      <p:sp>
        <p:nvSpPr>
          <p:cNvPr id="13" name="Shape 11"/>
          <p:cNvSpPr/>
          <p:nvPr/>
        </p:nvSpPr>
        <p:spPr>
          <a:xfrm>
            <a:off x="3200400" y="2148840"/>
            <a:ext cx="278892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4" name="Shape 12"/>
          <p:cNvSpPr/>
          <p:nvPr/>
        </p:nvSpPr>
        <p:spPr>
          <a:xfrm>
            <a:off x="3200400" y="2148840"/>
            <a:ext cx="2788920" cy="109728"/>
          </a:xfrm>
          <a:prstGeom prst="rect">
            <a:avLst/>
          </a:prstGeom>
          <a:solidFill>
            <a:srgbClr val="E63946"/>
          </a:solidFill>
          <a:ln w="12700">
            <a:solidFill>
              <a:srgbClr val="E63946"/>
            </a:solidFill>
            <a:prstDash val="solid"/>
          </a:ln>
        </p:spPr>
      </p:sp>
      <p:sp>
        <p:nvSpPr>
          <p:cNvPr id="15" name="Text 13"/>
          <p:cNvSpPr/>
          <p:nvPr/>
        </p:nvSpPr>
        <p:spPr>
          <a:xfrm>
            <a:off x="3291840" y="2313432"/>
            <a:ext cx="26060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 Fragmented Data</a:t>
            </a:r>
            <a:endParaRPr lang="en-US" sz="1200" dirty="0"/>
          </a:p>
        </p:txBody>
      </p:sp>
      <p:sp>
        <p:nvSpPr>
          <p:cNvPr id="16" name="Text 14"/>
          <p:cNvSpPr/>
          <p:nvPr/>
        </p:nvSpPr>
        <p:spPr>
          <a:xfrm>
            <a:off x="3291840" y="2679192"/>
            <a:ext cx="260604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Data across 100+ coins is spread across multiple platforms and APIs</a:t>
            </a:r>
            <a:endParaRPr lang="en-US" sz="1000" dirty="0"/>
          </a:p>
        </p:txBody>
      </p:sp>
      <p:sp>
        <p:nvSpPr>
          <p:cNvPr id="17" name="Shape 15"/>
          <p:cNvSpPr/>
          <p:nvPr/>
        </p:nvSpPr>
        <p:spPr>
          <a:xfrm>
            <a:off x="6126480" y="2148840"/>
            <a:ext cx="278892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8" name="Shape 16"/>
          <p:cNvSpPr/>
          <p:nvPr/>
        </p:nvSpPr>
        <p:spPr>
          <a:xfrm>
            <a:off x="6126480" y="2148840"/>
            <a:ext cx="2788920" cy="109728"/>
          </a:xfrm>
          <a:prstGeom prst="rect">
            <a:avLst/>
          </a:prstGeom>
          <a:solidFill>
            <a:srgbClr val="E63946"/>
          </a:solidFill>
          <a:ln w="12700">
            <a:solidFill>
              <a:srgbClr val="E63946"/>
            </a:solidFill>
            <a:prstDash val="solid"/>
          </a:ln>
        </p:spPr>
      </p:sp>
      <p:sp>
        <p:nvSpPr>
          <p:cNvPr id="19" name="Text 17"/>
          <p:cNvSpPr/>
          <p:nvPr/>
        </p:nvSpPr>
        <p:spPr>
          <a:xfrm>
            <a:off x="6217920" y="2313432"/>
            <a:ext cx="26060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 Missing Historical Context</a:t>
            </a:r>
            <a:endParaRPr lang="en-US" sz="1200" dirty="0"/>
          </a:p>
        </p:txBody>
      </p:sp>
      <p:sp>
        <p:nvSpPr>
          <p:cNvPr id="20" name="Text 18"/>
          <p:cNvSpPr/>
          <p:nvPr/>
        </p:nvSpPr>
        <p:spPr>
          <a:xfrm>
            <a:off x="6217920" y="2679192"/>
            <a:ext cx="260604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Investors cannot correlate ATH/ATL patterns with current prices</a:t>
            </a:r>
            <a:endParaRPr lang="en-US" sz="1000" dirty="0"/>
          </a:p>
        </p:txBody>
      </p:sp>
      <p:sp>
        <p:nvSpPr>
          <p:cNvPr id="21" name="Shape 19"/>
          <p:cNvSpPr/>
          <p:nvPr/>
        </p:nvSpPr>
        <p:spPr>
          <a:xfrm>
            <a:off x="274320" y="3520440"/>
            <a:ext cx="278892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2" name="Shape 20"/>
          <p:cNvSpPr/>
          <p:nvPr/>
        </p:nvSpPr>
        <p:spPr>
          <a:xfrm>
            <a:off x="274320" y="3520440"/>
            <a:ext cx="2788920" cy="109728"/>
          </a:xfrm>
          <a:prstGeom prst="rect">
            <a:avLst/>
          </a:prstGeom>
          <a:solidFill>
            <a:srgbClr val="E63946"/>
          </a:solidFill>
          <a:ln w="12700">
            <a:solidFill>
              <a:srgbClr val="E63946"/>
            </a:solidFill>
            <a:prstDash val="solid"/>
          </a:ln>
        </p:spPr>
      </p:sp>
      <p:sp>
        <p:nvSpPr>
          <p:cNvPr id="23" name="Text 21"/>
          <p:cNvSpPr/>
          <p:nvPr/>
        </p:nvSpPr>
        <p:spPr>
          <a:xfrm>
            <a:off x="365760" y="3685032"/>
            <a:ext cx="26060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 No Unified KPIs</a:t>
            </a:r>
            <a:endParaRPr lang="en-US" sz="1200" dirty="0"/>
          </a:p>
        </p:txBody>
      </p:sp>
      <p:sp>
        <p:nvSpPr>
          <p:cNvPr id="24" name="Text 22"/>
          <p:cNvSpPr/>
          <p:nvPr/>
        </p:nvSpPr>
        <p:spPr>
          <a:xfrm>
            <a:off x="365760" y="4050792"/>
            <a:ext cx="260604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Lack of a single dashboard to monitor Market Cap, Coin Count, and price changes</a:t>
            </a:r>
            <a:endParaRPr lang="en-US" sz="1000" dirty="0"/>
          </a:p>
        </p:txBody>
      </p:sp>
      <p:sp>
        <p:nvSpPr>
          <p:cNvPr id="25" name="Shape 23"/>
          <p:cNvSpPr/>
          <p:nvPr/>
        </p:nvSpPr>
        <p:spPr>
          <a:xfrm>
            <a:off x="3200400" y="3520440"/>
            <a:ext cx="278892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6" name="Shape 24"/>
          <p:cNvSpPr/>
          <p:nvPr/>
        </p:nvSpPr>
        <p:spPr>
          <a:xfrm>
            <a:off x="3200400" y="3520440"/>
            <a:ext cx="2788920" cy="109728"/>
          </a:xfrm>
          <a:prstGeom prst="rect">
            <a:avLst/>
          </a:prstGeom>
          <a:solidFill>
            <a:srgbClr val="E63946"/>
          </a:solidFill>
          <a:ln w="12700">
            <a:solidFill>
              <a:srgbClr val="E63946"/>
            </a:solidFill>
            <a:prstDash val="solid"/>
          </a:ln>
        </p:spPr>
      </p:sp>
      <p:sp>
        <p:nvSpPr>
          <p:cNvPr id="27" name="Text 25"/>
          <p:cNvSpPr/>
          <p:nvPr/>
        </p:nvSpPr>
        <p:spPr>
          <a:xfrm>
            <a:off x="3291840" y="3685032"/>
            <a:ext cx="26060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 Timeliness</a:t>
            </a:r>
            <a:endParaRPr lang="en-US" sz="1200" dirty="0"/>
          </a:p>
        </p:txBody>
      </p:sp>
      <p:sp>
        <p:nvSpPr>
          <p:cNvPr id="28" name="Text 26"/>
          <p:cNvSpPr/>
          <p:nvPr/>
        </p:nvSpPr>
        <p:spPr>
          <a:xfrm>
            <a:off x="3291840" y="4050792"/>
            <a:ext cx="260604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Static reports fail to capture rapidly changing market conditions</a:t>
            </a:r>
            <a:endParaRPr lang="en-US" sz="1000" dirty="0"/>
          </a:p>
        </p:txBody>
      </p:sp>
      <p:sp>
        <p:nvSpPr>
          <p:cNvPr id="29" name="Shape 27"/>
          <p:cNvSpPr/>
          <p:nvPr/>
        </p:nvSpPr>
        <p:spPr>
          <a:xfrm>
            <a:off x="6126480" y="3520440"/>
            <a:ext cx="2788920" cy="118872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30" name="Shape 28"/>
          <p:cNvSpPr/>
          <p:nvPr/>
        </p:nvSpPr>
        <p:spPr>
          <a:xfrm>
            <a:off x="6126480" y="3520440"/>
            <a:ext cx="2788920" cy="109728"/>
          </a:xfrm>
          <a:prstGeom prst="rect">
            <a:avLst/>
          </a:prstGeom>
          <a:solidFill>
            <a:srgbClr val="E63946"/>
          </a:solidFill>
          <a:ln w="12700">
            <a:solidFill>
              <a:srgbClr val="E63946"/>
            </a:solidFill>
            <a:prstDash val="solid"/>
          </a:ln>
        </p:spPr>
      </p:sp>
      <p:sp>
        <p:nvSpPr>
          <p:cNvPr id="31" name="Text 29"/>
          <p:cNvSpPr/>
          <p:nvPr/>
        </p:nvSpPr>
        <p:spPr>
          <a:xfrm>
            <a:off x="6217920" y="3685032"/>
            <a:ext cx="26060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 Comparison Gap</a:t>
            </a:r>
            <a:endParaRPr lang="en-US" sz="1200" dirty="0"/>
          </a:p>
        </p:txBody>
      </p:sp>
      <p:sp>
        <p:nvSpPr>
          <p:cNvPr id="32" name="Text 30"/>
          <p:cNvSpPr/>
          <p:nvPr/>
        </p:nvSpPr>
        <p:spPr>
          <a:xfrm>
            <a:off x="6217920" y="4050792"/>
            <a:ext cx="260604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Difficult to compare Wrapped, Staked, and Native tokens in one view</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PROJECT OBJECTIVES</a:t>
            </a:r>
            <a:endParaRPr lang="en-US" sz="2200" dirty="0"/>
          </a:p>
        </p:txBody>
      </p:sp>
      <p:sp>
        <p:nvSpPr>
          <p:cNvPr id="5" name="Shape 3"/>
          <p:cNvSpPr/>
          <p:nvPr/>
        </p:nvSpPr>
        <p:spPr>
          <a:xfrm>
            <a:off x="228600" y="685800"/>
            <a:ext cx="2788920" cy="416052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28600" y="685800"/>
            <a:ext cx="2788920" cy="548640"/>
          </a:xfrm>
          <a:prstGeom prst="rect">
            <a:avLst/>
          </a:prstGeom>
          <a:solidFill>
            <a:srgbClr val="F4A261"/>
          </a:solidFill>
          <a:ln w="12700">
            <a:solidFill>
              <a:srgbClr val="F4A261"/>
            </a:solidFill>
            <a:prstDash val="solid"/>
          </a:ln>
        </p:spPr>
      </p:sp>
      <p:sp>
        <p:nvSpPr>
          <p:cNvPr id="7" name="Text 5"/>
          <p:cNvSpPr/>
          <p:nvPr/>
        </p:nvSpPr>
        <p:spPr>
          <a:xfrm>
            <a:off x="301752" y="713232"/>
            <a:ext cx="502920"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01</a:t>
            </a:r>
            <a:endParaRPr lang="en-US" sz="1500" dirty="0"/>
          </a:p>
        </p:txBody>
      </p:sp>
      <p:sp>
        <p:nvSpPr>
          <p:cNvPr id="8" name="Text 6"/>
          <p:cNvSpPr/>
          <p:nvPr/>
        </p:nvSpPr>
        <p:spPr>
          <a:xfrm>
            <a:off x="822960" y="749808"/>
            <a:ext cx="2103120" cy="411480"/>
          </a:xfrm>
          <a:prstGeom prst="rect">
            <a:avLst/>
          </a:prstGeom>
          <a:noFill/>
          <a:ln/>
        </p:spPr>
        <p:txBody>
          <a:bodyPr wrap="square" rtlCol="0" anchor="ctr"/>
          <a:lstStyle/>
          <a:p>
            <a:pPr marL="0" indent="0">
              <a:buNone/>
            </a:pPr>
            <a:r>
              <a:rPr lang="en-US" sz="1100" b="1" dirty="0">
                <a:solidFill>
                  <a:srgbClr val="0A1628"/>
                </a:solidFill>
                <a:latin typeface="Trebuchet MS" pitchFamily="34" charset="0"/>
                <a:ea typeface="Trebuchet MS" pitchFamily="34" charset="-122"/>
                <a:cs typeface="Trebuchet MS" pitchFamily="34" charset="-120"/>
              </a:rPr>
              <a:t>Business Goal</a:t>
            </a:r>
            <a:endParaRPr lang="en-US" sz="1100" dirty="0"/>
          </a:p>
        </p:txBody>
      </p:sp>
      <p:sp>
        <p:nvSpPr>
          <p:cNvPr id="9" name="Text 7"/>
          <p:cNvSpPr/>
          <p:nvPr/>
        </p:nvSpPr>
        <p:spPr>
          <a:xfrm>
            <a:off x="320040" y="1298448"/>
            <a:ext cx="2606040" cy="411480"/>
          </a:xfrm>
          <a:prstGeom prst="rect">
            <a:avLst/>
          </a:prstGeom>
          <a:noFill/>
          <a:ln/>
        </p:spPr>
        <p:txBody>
          <a:bodyPr wrap="square"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Centralised Market Intelligence</a:t>
            </a:r>
            <a:endParaRPr lang="en-US" sz="1300" dirty="0"/>
          </a:p>
        </p:txBody>
      </p:sp>
      <p:sp>
        <p:nvSpPr>
          <p:cNvPr id="10" name="Text 8"/>
          <p:cNvSpPr/>
          <p:nvPr/>
        </p:nvSpPr>
        <p:spPr>
          <a:xfrm>
            <a:off x="338328" y="178308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Build a unified Power BI dashboard tracking 100 cryptocurrencies</a:t>
            </a:r>
            <a:endParaRPr lang="en-US" sz="1000" dirty="0"/>
          </a:p>
        </p:txBody>
      </p:sp>
      <p:sp>
        <p:nvSpPr>
          <p:cNvPr id="11" name="Text 9"/>
          <p:cNvSpPr/>
          <p:nvPr/>
        </p:nvSpPr>
        <p:spPr>
          <a:xfrm>
            <a:off x="338328" y="242316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Monitor KPIs: Market Cap ($3T), Coin Count, Current Price ($453.8K)</a:t>
            </a:r>
            <a:endParaRPr lang="en-US" sz="1000" dirty="0"/>
          </a:p>
        </p:txBody>
      </p:sp>
      <p:sp>
        <p:nvSpPr>
          <p:cNvPr id="12" name="Text 10"/>
          <p:cNvSpPr/>
          <p:nvPr/>
        </p:nvSpPr>
        <p:spPr>
          <a:xfrm>
            <a:off x="338328" y="306324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Enable comparison of price changes across 24hr and 7-day windows</a:t>
            </a:r>
            <a:endParaRPr lang="en-US" sz="1000" dirty="0"/>
          </a:p>
        </p:txBody>
      </p:sp>
      <p:sp>
        <p:nvSpPr>
          <p:cNvPr id="13" name="Text 11"/>
          <p:cNvSpPr/>
          <p:nvPr/>
        </p:nvSpPr>
        <p:spPr>
          <a:xfrm>
            <a:off x="338328" y="370332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Support investment decisions with real-time and historical data</a:t>
            </a:r>
            <a:endParaRPr lang="en-US" sz="1000" dirty="0"/>
          </a:p>
        </p:txBody>
      </p:sp>
      <p:sp>
        <p:nvSpPr>
          <p:cNvPr id="14" name="Shape 12"/>
          <p:cNvSpPr/>
          <p:nvPr/>
        </p:nvSpPr>
        <p:spPr>
          <a:xfrm>
            <a:off x="3154680" y="685800"/>
            <a:ext cx="2788920" cy="416052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5" name="Shape 13"/>
          <p:cNvSpPr/>
          <p:nvPr/>
        </p:nvSpPr>
        <p:spPr>
          <a:xfrm>
            <a:off x="3154680" y="685800"/>
            <a:ext cx="2788920" cy="548640"/>
          </a:xfrm>
          <a:prstGeom prst="rect">
            <a:avLst/>
          </a:prstGeom>
          <a:solidFill>
            <a:srgbClr val="00C9A7"/>
          </a:solidFill>
          <a:ln w="12700">
            <a:solidFill>
              <a:srgbClr val="00C9A7"/>
            </a:solidFill>
            <a:prstDash val="solid"/>
          </a:ln>
        </p:spPr>
      </p:sp>
      <p:sp>
        <p:nvSpPr>
          <p:cNvPr id="16" name="Text 14"/>
          <p:cNvSpPr/>
          <p:nvPr/>
        </p:nvSpPr>
        <p:spPr>
          <a:xfrm>
            <a:off x="3227832" y="713232"/>
            <a:ext cx="502920"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02</a:t>
            </a:r>
            <a:endParaRPr lang="en-US" sz="1500" dirty="0"/>
          </a:p>
        </p:txBody>
      </p:sp>
      <p:sp>
        <p:nvSpPr>
          <p:cNvPr id="17" name="Text 15"/>
          <p:cNvSpPr/>
          <p:nvPr/>
        </p:nvSpPr>
        <p:spPr>
          <a:xfrm>
            <a:off x="3749040" y="749808"/>
            <a:ext cx="2103120" cy="411480"/>
          </a:xfrm>
          <a:prstGeom prst="rect">
            <a:avLst/>
          </a:prstGeom>
          <a:noFill/>
          <a:ln/>
        </p:spPr>
        <p:txBody>
          <a:bodyPr wrap="square" rtlCol="0" anchor="ctr"/>
          <a:lstStyle/>
          <a:p>
            <a:pPr marL="0" indent="0">
              <a:buNone/>
            </a:pPr>
            <a:r>
              <a:rPr lang="en-US" sz="1100" b="1" dirty="0">
                <a:solidFill>
                  <a:srgbClr val="0A1628"/>
                </a:solidFill>
                <a:latin typeface="Trebuchet MS" pitchFamily="34" charset="0"/>
                <a:ea typeface="Trebuchet MS" pitchFamily="34" charset="-122"/>
                <a:cs typeface="Trebuchet MS" pitchFamily="34" charset="-120"/>
              </a:rPr>
              <a:t>End Goal (Expected Outcome)</a:t>
            </a:r>
            <a:endParaRPr lang="en-US" sz="1100" dirty="0"/>
          </a:p>
        </p:txBody>
      </p:sp>
      <p:sp>
        <p:nvSpPr>
          <p:cNvPr id="18" name="Text 16"/>
          <p:cNvSpPr/>
          <p:nvPr/>
        </p:nvSpPr>
        <p:spPr>
          <a:xfrm>
            <a:off x="3246120" y="1298448"/>
            <a:ext cx="2606040" cy="411480"/>
          </a:xfrm>
          <a:prstGeom prst="rect">
            <a:avLst/>
          </a:prstGeom>
          <a:noFill/>
          <a:ln/>
        </p:spPr>
        <p:txBody>
          <a:bodyPr wrap="square" rtlCol="0" anchor="ctr"/>
          <a:lstStyle/>
          <a:p>
            <a:pPr marL="0" indent="0">
              <a:buNone/>
            </a:pPr>
            <a:r>
              <a:rPr lang="en-US" sz="1300" b="1" dirty="0">
                <a:solidFill>
                  <a:srgbClr val="00C9A7"/>
                </a:solidFill>
                <a:latin typeface="Trebuchet MS" pitchFamily="34" charset="0"/>
                <a:ea typeface="Trebuchet MS" pitchFamily="34" charset="-122"/>
                <a:cs typeface="Trebuchet MS" pitchFamily="34" charset="-120"/>
              </a:rPr>
              <a:t>Actionable Insights &amp; Reporting</a:t>
            </a:r>
            <a:endParaRPr lang="en-US" sz="1300" dirty="0"/>
          </a:p>
        </p:txBody>
      </p:sp>
      <p:sp>
        <p:nvSpPr>
          <p:cNvPr id="19" name="Text 17"/>
          <p:cNvSpPr/>
          <p:nvPr/>
        </p:nvSpPr>
        <p:spPr>
          <a:xfrm>
            <a:off x="3264408" y="178308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Identify top-performing and underperforming cryptocurrencies</a:t>
            </a:r>
            <a:endParaRPr lang="en-US" sz="1000" dirty="0"/>
          </a:p>
        </p:txBody>
      </p:sp>
      <p:sp>
        <p:nvSpPr>
          <p:cNvPr id="20" name="Text 18"/>
          <p:cNvSpPr/>
          <p:nvPr/>
        </p:nvSpPr>
        <p:spPr>
          <a:xfrm>
            <a:off x="3264408" y="242316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Reveal ATH/ATL trend patterns by year (2014–2026)</a:t>
            </a:r>
            <a:endParaRPr lang="en-US" sz="1000" dirty="0"/>
          </a:p>
        </p:txBody>
      </p:sp>
      <p:sp>
        <p:nvSpPr>
          <p:cNvPr id="21" name="Text 19"/>
          <p:cNvSpPr/>
          <p:nvPr/>
        </p:nvSpPr>
        <p:spPr>
          <a:xfrm>
            <a:off x="3264408" y="306324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Provide a ranked overview page by Market Cap with visual indicators</a:t>
            </a:r>
            <a:endParaRPr lang="en-US" sz="1000" dirty="0"/>
          </a:p>
        </p:txBody>
      </p:sp>
      <p:sp>
        <p:nvSpPr>
          <p:cNvPr id="22" name="Text 20"/>
          <p:cNvSpPr/>
          <p:nvPr/>
        </p:nvSpPr>
        <p:spPr>
          <a:xfrm>
            <a:off x="3264408" y="370332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Deliver recommendations for portfolio allocation strategy</a:t>
            </a:r>
            <a:endParaRPr lang="en-US" sz="1000" dirty="0"/>
          </a:p>
        </p:txBody>
      </p:sp>
      <p:sp>
        <p:nvSpPr>
          <p:cNvPr id="23" name="Shape 21"/>
          <p:cNvSpPr/>
          <p:nvPr/>
        </p:nvSpPr>
        <p:spPr>
          <a:xfrm>
            <a:off x="6080760" y="685800"/>
            <a:ext cx="2788920" cy="416052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4" name="Shape 22"/>
          <p:cNvSpPr/>
          <p:nvPr/>
        </p:nvSpPr>
        <p:spPr>
          <a:xfrm>
            <a:off x="6080760" y="685800"/>
            <a:ext cx="2788920" cy="548640"/>
          </a:xfrm>
          <a:prstGeom prst="rect">
            <a:avLst/>
          </a:prstGeom>
          <a:solidFill>
            <a:srgbClr val="FFB703"/>
          </a:solidFill>
          <a:ln w="12700">
            <a:solidFill>
              <a:srgbClr val="FFB703"/>
            </a:solidFill>
            <a:prstDash val="solid"/>
          </a:ln>
        </p:spPr>
      </p:sp>
      <p:sp>
        <p:nvSpPr>
          <p:cNvPr id="25" name="Text 23"/>
          <p:cNvSpPr/>
          <p:nvPr/>
        </p:nvSpPr>
        <p:spPr>
          <a:xfrm>
            <a:off x="6153912" y="713232"/>
            <a:ext cx="502920" cy="502920"/>
          </a:xfrm>
          <a:prstGeom prst="rect">
            <a:avLst/>
          </a:prstGeom>
          <a:noFill/>
          <a:ln/>
        </p:spPr>
        <p:txBody>
          <a:bodyPr wrap="square" rtlCol="0" anchor="ctr"/>
          <a:lstStyle/>
          <a:p>
            <a:pPr marL="0" indent="0" algn="ctr">
              <a:buNone/>
            </a:pPr>
            <a:r>
              <a:rPr lang="en-US" sz="1500" b="1" dirty="0">
                <a:solidFill>
                  <a:srgbClr val="0A1628"/>
                </a:solidFill>
                <a:latin typeface="Trebuchet MS" pitchFamily="34" charset="0"/>
                <a:ea typeface="Trebuchet MS" pitchFamily="34" charset="-122"/>
                <a:cs typeface="Trebuchet MS" pitchFamily="34" charset="-120"/>
              </a:rPr>
              <a:t>03</a:t>
            </a:r>
            <a:endParaRPr lang="en-US" sz="1500" dirty="0"/>
          </a:p>
        </p:txBody>
      </p:sp>
      <p:sp>
        <p:nvSpPr>
          <p:cNvPr id="26" name="Text 24"/>
          <p:cNvSpPr/>
          <p:nvPr/>
        </p:nvSpPr>
        <p:spPr>
          <a:xfrm>
            <a:off x="6675120" y="749808"/>
            <a:ext cx="2103120" cy="411480"/>
          </a:xfrm>
          <a:prstGeom prst="rect">
            <a:avLst/>
          </a:prstGeom>
          <a:noFill/>
          <a:ln/>
        </p:spPr>
        <p:txBody>
          <a:bodyPr wrap="square" rtlCol="0" anchor="ctr"/>
          <a:lstStyle/>
          <a:p>
            <a:pPr marL="0" indent="0">
              <a:buNone/>
            </a:pPr>
            <a:r>
              <a:rPr lang="en-US" sz="1100" b="1" dirty="0">
                <a:solidFill>
                  <a:srgbClr val="0A1628"/>
                </a:solidFill>
                <a:latin typeface="Trebuchet MS" pitchFamily="34" charset="0"/>
                <a:ea typeface="Trebuchet MS" pitchFamily="34" charset="-122"/>
                <a:cs typeface="Trebuchet MS" pitchFamily="34" charset="-120"/>
              </a:rPr>
              <a:t>Analytical Goal</a:t>
            </a:r>
            <a:endParaRPr lang="en-US" sz="1100" dirty="0"/>
          </a:p>
        </p:txBody>
      </p:sp>
      <p:sp>
        <p:nvSpPr>
          <p:cNvPr id="27" name="Text 25"/>
          <p:cNvSpPr/>
          <p:nvPr/>
        </p:nvSpPr>
        <p:spPr>
          <a:xfrm>
            <a:off x="6172200" y="1298448"/>
            <a:ext cx="2606040" cy="411480"/>
          </a:xfrm>
          <a:prstGeom prst="rect">
            <a:avLst/>
          </a:prstGeom>
          <a:noFill/>
          <a:ln/>
        </p:spPr>
        <p:txBody>
          <a:bodyPr wrap="square" rtlCol="0" anchor="ctr"/>
          <a:lstStyle/>
          <a:p>
            <a:pPr marL="0" indent="0">
              <a:buNone/>
            </a:pPr>
            <a:r>
              <a:rPr lang="en-US" sz="1300" b="1" dirty="0">
                <a:solidFill>
                  <a:srgbClr val="FFB703"/>
                </a:solidFill>
                <a:latin typeface="Trebuchet MS" pitchFamily="34" charset="0"/>
                <a:ea typeface="Trebuchet MS" pitchFamily="34" charset="-122"/>
                <a:cs typeface="Trebuchet MS" pitchFamily="34" charset="-120"/>
              </a:rPr>
              <a:t>Data Storytelling Excellence</a:t>
            </a:r>
            <a:endParaRPr lang="en-US" sz="1300" dirty="0"/>
          </a:p>
        </p:txBody>
      </p:sp>
      <p:sp>
        <p:nvSpPr>
          <p:cNvPr id="28" name="Text 26"/>
          <p:cNvSpPr/>
          <p:nvPr/>
        </p:nvSpPr>
        <p:spPr>
          <a:xfrm>
            <a:off x="6190488" y="178308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Apply statistical analysis to identify outliers and anomalies</a:t>
            </a:r>
            <a:endParaRPr lang="en-US" sz="1000" dirty="0"/>
          </a:p>
        </p:txBody>
      </p:sp>
      <p:sp>
        <p:nvSpPr>
          <p:cNvPr id="29" name="Text 27"/>
          <p:cNvSpPr/>
          <p:nvPr/>
        </p:nvSpPr>
        <p:spPr>
          <a:xfrm>
            <a:off x="6190488" y="242316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Correlate market cap rank with price change behaviour</a:t>
            </a:r>
            <a:endParaRPr lang="en-US" sz="1000" dirty="0"/>
          </a:p>
        </p:txBody>
      </p:sp>
      <p:sp>
        <p:nvSpPr>
          <p:cNvPr id="30" name="Text 28"/>
          <p:cNvSpPr/>
          <p:nvPr/>
        </p:nvSpPr>
        <p:spPr>
          <a:xfrm>
            <a:off x="6190488" y="306324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Uncover relationships between coin type and historic performance</a:t>
            </a:r>
            <a:endParaRPr lang="en-US" sz="1000" dirty="0"/>
          </a:p>
        </p:txBody>
      </p:sp>
      <p:sp>
        <p:nvSpPr>
          <p:cNvPr id="31" name="Text 29"/>
          <p:cNvSpPr/>
          <p:nvPr/>
        </p:nvSpPr>
        <p:spPr>
          <a:xfrm>
            <a:off x="6190488" y="3703320"/>
            <a:ext cx="2560320" cy="566928"/>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Demonstrate end-to-end BI workflow from raw data to insight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DATASET OVERVIEW</a:t>
            </a:r>
            <a:endParaRPr lang="en-US" sz="2200" dirty="0"/>
          </a:p>
        </p:txBody>
      </p:sp>
      <p:sp>
        <p:nvSpPr>
          <p:cNvPr id="5" name="Shape 3"/>
          <p:cNvSpPr/>
          <p:nvPr/>
        </p:nvSpPr>
        <p:spPr>
          <a:xfrm>
            <a:off x="274320" y="579940"/>
            <a:ext cx="4114800" cy="2011680"/>
          </a:xfrm>
          <a:prstGeom prst="rect">
            <a:avLst/>
          </a:prstGeom>
          <a:solidFill>
            <a:srgbClr val="0F3460"/>
          </a:solidFill>
          <a:ln w="12700">
            <a:solidFill>
              <a:srgbClr val="1E4976"/>
            </a:solidFill>
            <a:prstDash val="solid"/>
          </a:ln>
          <a:effectLst>
            <a:outerShdw blurRad="101600" dist="38100" dir="8100000" algn="bl" rotWithShape="0">
              <a:srgbClr val="000000">
                <a:alpha val="25000"/>
              </a:srgbClr>
            </a:outerShdw>
          </a:effectLst>
        </p:spPr>
      </p:sp>
      <p:sp>
        <p:nvSpPr>
          <p:cNvPr id="6" name="Text 4"/>
          <p:cNvSpPr/>
          <p:nvPr/>
        </p:nvSpPr>
        <p:spPr>
          <a:xfrm>
            <a:off x="457200" y="722376"/>
            <a:ext cx="3749040" cy="347472"/>
          </a:xfrm>
          <a:prstGeom prst="rect">
            <a:avLst/>
          </a:prstGeom>
          <a:noFill/>
          <a:ln/>
        </p:spPr>
        <p:txBody>
          <a:bodyPr wrap="square" rtlCol="0" anchor="ctr"/>
          <a:lstStyle/>
          <a:p>
            <a:pPr marL="0" indent="0">
              <a:buNone/>
            </a:pPr>
            <a:r>
              <a:rPr lang="en-US" sz="1400" b="1" dirty="0">
                <a:solidFill>
                  <a:srgbClr val="F4A261"/>
                </a:solidFill>
                <a:latin typeface="Trebuchet MS" pitchFamily="34" charset="0"/>
                <a:ea typeface="Trebuchet MS" pitchFamily="34" charset="-122"/>
                <a:cs typeface="Trebuchet MS" pitchFamily="34" charset="-120"/>
              </a:rPr>
              <a:t>Data Source</a:t>
            </a:r>
            <a:endParaRPr lang="en-US" sz="1400" dirty="0"/>
          </a:p>
        </p:txBody>
      </p:sp>
      <p:sp>
        <p:nvSpPr>
          <p:cNvPr id="7" name="Text 5"/>
          <p:cNvSpPr/>
          <p:nvPr/>
        </p:nvSpPr>
        <p:spPr>
          <a:xfrm>
            <a:off x="457200" y="1124712"/>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Platform: CoinGecko Public API</a:t>
            </a:r>
            <a:endParaRPr lang="en-US" sz="1100" dirty="0"/>
          </a:p>
        </p:txBody>
      </p:sp>
      <p:sp>
        <p:nvSpPr>
          <p:cNvPr id="8" name="Text 6"/>
          <p:cNvSpPr/>
          <p:nvPr/>
        </p:nvSpPr>
        <p:spPr>
          <a:xfrm>
            <a:off x="457200" y="1380744"/>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Format: Datalink → Power BI Dataset</a:t>
            </a:r>
            <a:endParaRPr lang="en-US" sz="1100" dirty="0"/>
          </a:p>
        </p:txBody>
      </p:sp>
      <p:sp>
        <p:nvSpPr>
          <p:cNvPr id="9" name="Text 7"/>
          <p:cNvSpPr/>
          <p:nvPr/>
        </p:nvSpPr>
        <p:spPr>
          <a:xfrm>
            <a:off x="457200" y="1636776"/>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File: Crypto_Currency.pbix</a:t>
            </a:r>
            <a:endParaRPr lang="en-US" sz="1100" dirty="0"/>
          </a:p>
        </p:txBody>
      </p:sp>
      <p:sp>
        <p:nvSpPr>
          <p:cNvPr id="10" name="Text 8"/>
          <p:cNvSpPr/>
          <p:nvPr/>
        </p:nvSpPr>
        <p:spPr>
          <a:xfrm>
            <a:off x="457200" y="1892808"/>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Refresh: Live API integration</a:t>
            </a:r>
            <a:endParaRPr lang="en-US" sz="1100" dirty="0"/>
          </a:p>
        </p:txBody>
      </p:sp>
      <p:sp>
        <p:nvSpPr>
          <p:cNvPr id="11" name="Text 9"/>
          <p:cNvSpPr/>
          <p:nvPr/>
        </p:nvSpPr>
        <p:spPr>
          <a:xfrm>
            <a:off x="457200" y="2148840"/>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Coverage: Global cryptocurrency market</a:t>
            </a:r>
            <a:endParaRPr lang="en-US" sz="1100" dirty="0"/>
          </a:p>
        </p:txBody>
      </p:sp>
      <p:sp>
        <p:nvSpPr>
          <p:cNvPr id="12" name="Shape 10"/>
          <p:cNvSpPr/>
          <p:nvPr/>
        </p:nvSpPr>
        <p:spPr>
          <a:xfrm>
            <a:off x="4663440" y="579940"/>
            <a:ext cx="4114800" cy="2011680"/>
          </a:xfrm>
          <a:prstGeom prst="rect">
            <a:avLst/>
          </a:prstGeom>
          <a:solidFill>
            <a:srgbClr val="0F3460"/>
          </a:solidFill>
          <a:ln w="12700">
            <a:solidFill>
              <a:srgbClr val="1E4976"/>
            </a:solidFill>
            <a:prstDash val="solid"/>
          </a:ln>
          <a:effectLst>
            <a:outerShdw blurRad="101600" dist="38100" dir="8100000" algn="bl" rotWithShape="0">
              <a:srgbClr val="000000">
                <a:alpha val="25000"/>
              </a:srgbClr>
            </a:outerShdw>
          </a:effectLst>
        </p:spPr>
      </p:sp>
      <p:sp>
        <p:nvSpPr>
          <p:cNvPr id="13" name="Text 11"/>
          <p:cNvSpPr/>
          <p:nvPr/>
        </p:nvSpPr>
        <p:spPr>
          <a:xfrm>
            <a:off x="4846320" y="726245"/>
            <a:ext cx="3749040" cy="347472"/>
          </a:xfrm>
          <a:prstGeom prst="rect">
            <a:avLst/>
          </a:prstGeom>
          <a:noFill/>
          <a:ln/>
        </p:spPr>
        <p:txBody>
          <a:bodyPr wrap="square" rtlCol="0" anchor="ctr"/>
          <a:lstStyle/>
          <a:p>
            <a:pPr marL="0" indent="0">
              <a:buNone/>
            </a:pPr>
            <a:r>
              <a:rPr lang="en-US" sz="1400" b="1" dirty="0">
                <a:solidFill>
                  <a:srgbClr val="00C9A7"/>
                </a:solidFill>
                <a:latin typeface="Trebuchet MS" pitchFamily="34" charset="0"/>
                <a:ea typeface="Trebuchet MS" pitchFamily="34" charset="-122"/>
                <a:cs typeface="Trebuchet MS" pitchFamily="34" charset="-120"/>
              </a:rPr>
              <a:t>Data Structure</a:t>
            </a:r>
            <a:endParaRPr lang="en-US" sz="1400" dirty="0"/>
          </a:p>
        </p:txBody>
      </p:sp>
      <p:sp>
        <p:nvSpPr>
          <p:cNvPr id="14" name="Text 12"/>
          <p:cNvSpPr/>
          <p:nvPr/>
        </p:nvSpPr>
        <p:spPr>
          <a:xfrm>
            <a:off x="4846320" y="1128581"/>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Rows (Records): 100 cryptocurrencies</a:t>
            </a:r>
            <a:endParaRPr lang="en-US" sz="1100" dirty="0"/>
          </a:p>
        </p:txBody>
      </p:sp>
      <p:sp>
        <p:nvSpPr>
          <p:cNvPr id="15" name="Text 13"/>
          <p:cNvSpPr/>
          <p:nvPr/>
        </p:nvSpPr>
        <p:spPr>
          <a:xfrm>
            <a:off x="4846320" y="1384613"/>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Columns: 15+ fields per record</a:t>
            </a:r>
            <a:endParaRPr lang="en-US" sz="1100" dirty="0"/>
          </a:p>
        </p:txBody>
      </p:sp>
      <p:sp>
        <p:nvSpPr>
          <p:cNvPr id="16" name="Text 14"/>
          <p:cNvSpPr/>
          <p:nvPr/>
        </p:nvSpPr>
        <p:spPr>
          <a:xfrm>
            <a:off x="4846320" y="1640645"/>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Primary Key: Coin ID / Name</a:t>
            </a:r>
            <a:endParaRPr lang="en-US" sz="1100" dirty="0"/>
          </a:p>
        </p:txBody>
      </p:sp>
      <p:sp>
        <p:nvSpPr>
          <p:cNvPr id="17" name="Text 15"/>
          <p:cNvSpPr/>
          <p:nvPr/>
        </p:nvSpPr>
        <p:spPr>
          <a:xfrm>
            <a:off x="4846320" y="1896677"/>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Date Range: 2014 – 2026 (ATH/ATL)</a:t>
            </a:r>
            <a:endParaRPr lang="en-US" sz="1100" dirty="0"/>
          </a:p>
        </p:txBody>
      </p:sp>
      <p:sp>
        <p:nvSpPr>
          <p:cNvPr id="18" name="Text 16"/>
          <p:cNvSpPr/>
          <p:nvPr/>
        </p:nvSpPr>
        <p:spPr>
          <a:xfrm>
            <a:off x="4846320" y="2152709"/>
            <a:ext cx="374904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Granularity: Per-coin aggregate</a:t>
            </a:r>
            <a:endParaRPr lang="en-US" sz="1100" dirty="0"/>
          </a:p>
        </p:txBody>
      </p:sp>
      <p:sp>
        <p:nvSpPr>
          <p:cNvPr id="19" name="Text 17"/>
          <p:cNvSpPr/>
          <p:nvPr/>
        </p:nvSpPr>
        <p:spPr>
          <a:xfrm>
            <a:off x="274320" y="2609089"/>
            <a:ext cx="8595360" cy="320040"/>
          </a:xfrm>
          <a:prstGeom prst="rect">
            <a:avLst/>
          </a:prstGeom>
          <a:noFill/>
          <a:ln/>
        </p:spPr>
        <p:txBody>
          <a:bodyPr wrap="square"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Key Variables &amp; Metrics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2712245479"/>
              </p:ext>
            </p:extLst>
          </p:nvPr>
        </p:nvGraphicFramePr>
        <p:xfrm>
          <a:off x="274320" y="2952926"/>
          <a:ext cx="8503920" cy="2133600"/>
        </p:xfrm>
        <a:graphic>
          <a:graphicData uri="http://schemas.openxmlformats.org/drawingml/2006/table">
            <a:tbl>
              <a:tblPr/>
              <a:tblGrid>
                <a:gridCol w="1899812">
                  <a:extLst>
                    <a:ext uri="{9D8B030D-6E8A-4147-A177-3AD203B41FA5}">
                      <a16:colId xmlns:a16="http://schemas.microsoft.com/office/drawing/2014/main" val="20000"/>
                    </a:ext>
                  </a:extLst>
                </a:gridCol>
                <a:gridCol w="1176074">
                  <a:extLst>
                    <a:ext uri="{9D8B030D-6E8A-4147-A177-3AD203B41FA5}">
                      <a16:colId xmlns:a16="http://schemas.microsoft.com/office/drawing/2014/main" val="20001"/>
                    </a:ext>
                  </a:extLst>
                </a:gridCol>
                <a:gridCol w="5428034">
                  <a:extLst>
                    <a:ext uri="{9D8B030D-6E8A-4147-A177-3AD203B41FA5}">
                      <a16:colId xmlns:a16="http://schemas.microsoft.com/office/drawing/2014/main" val="20002"/>
                    </a:ext>
                  </a:extLst>
                </a:gridCol>
              </a:tblGrid>
              <a:tr h="221238">
                <a:tc>
                  <a:txBody>
                    <a:bodyPr/>
                    <a:lstStyle/>
                    <a:p>
                      <a:pPr marL="0" indent="0">
                        <a:buNone/>
                      </a:pPr>
                      <a:r>
                        <a:rPr lang="en-US" sz="1000" b="1" dirty="0">
                          <a:solidFill>
                            <a:srgbClr val="0A1628"/>
                          </a:solidFill>
                          <a:latin typeface="Calibri" pitchFamily="34" charset="0"/>
                          <a:ea typeface="Calibri" pitchFamily="34" charset="-122"/>
                          <a:cs typeface="Calibri" pitchFamily="34" charset="-120"/>
                        </a:rPr>
                        <a:t>Column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A261"/>
                    </a:solidFill>
                  </a:tcPr>
                </a:tc>
                <a:tc>
                  <a:txBody>
                    <a:bodyPr/>
                    <a:lstStyle/>
                    <a:p>
                      <a:pPr marL="0" indent="0">
                        <a:buNone/>
                      </a:pPr>
                      <a:r>
                        <a:rPr lang="en-US" sz="1000" b="1" dirty="0">
                          <a:solidFill>
                            <a:srgbClr val="0A1628"/>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A261"/>
                    </a:solidFill>
                  </a:tcPr>
                </a:tc>
                <a:tc>
                  <a:txBody>
                    <a:bodyPr/>
                    <a:lstStyle/>
                    <a:p>
                      <a:pPr marL="0" indent="0">
                        <a:buNone/>
                      </a:pPr>
                      <a:r>
                        <a:rPr lang="en-US" sz="1000" b="1" dirty="0">
                          <a:solidFill>
                            <a:srgbClr val="0A1628"/>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A261"/>
                    </a:solidFill>
                  </a:tcPr>
                </a:tc>
                <a:extLst>
                  <a:ext uri="{0D108BD9-81ED-4DB2-BD59-A6C34878D82A}">
                    <a16:rowId xmlns:a16="http://schemas.microsoft.com/office/drawing/2014/main" val="10000"/>
                  </a:ext>
                </a:extLst>
              </a:tr>
              <a:tr h="214324">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name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Text</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Cryptocurrency name (e.g., Bitcoin, Ethereum)</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extLst>
                  <a:ext uri="{0D108BD9-81ED-4DB2-BD59-A6C34878D82A}">
                    <a16:rowId xmlns:a16="http://schemas.microsoft.com/office/drawing/2014/main" val="10001"/>
                  </a:ext>
                </a:extLst>
              </a:tr>
              <a:tr h="214324">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market_cap_rank</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Integer</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Global rank by total market capitalisation</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4324">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current_price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Decimal</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Current market price in USD</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extLst>
                  <a:ext uri="{0D108BD9-81ED-4DB2-BD59-A6C34878D82A}">
                    <a16:rowId xmlns:a16="http://schemas.microsoft.com/office/drawing/2014/main" val="10003"/>
                  </a:ext>
                </a:extLst>
              </a:tr>
              <a:tr h="214324">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market_cap</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Decimal</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Total market capitalisation in USD</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4324">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price_change_percentage_24h</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Decimal</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 price change over last 24 hours</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extLst>
                  <a:ext uri="{0D108BD9-81ED-4DB2-BD59-A6C34878D82A}">
                    <a16:rowId xmlns:a16="http://schemas.microsoft.com/office/drawing/2014/main" val="10005"/>
                  </a:ext>
                </a:extLst>
              </a:tr>
              <a:tr h="214324">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price_change_percentage_7d</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Decimal</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 price change over last 7 days</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4324">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ath / atl</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Decimal</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All-Time High and All-Time Low prices in USD</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4FF"/>
                    </a:solidFill>
                  </a:tcPr>
                </a:tc>
                <a:extLst>
                  <a:ext uri="{0D108BD9-81ED-4DB2-BD59-A6C34878D82A}">
                    <a16:rowId xmlns:a16="http://schemas.microsoft.com/office/drawing/2014/main" val="10007"/>
                  </a:ext>
                </a:extLst>
              </a:tr>
              <a:tr h="214324">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ath_date / atl_date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Date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Dates when ATH and ATL were recorded</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 SUMMARY  —  STATISTICAL OVERVIEW</a:t>
            </a:r>
            <a:endParaRPr lang="en-US" sz="2200" dirty="0"/>
          </a:p>
        </p:txBody>
      </p:sp>
      <p:sp>
        <p:nvSpPr>
          <p:cNvPr id="5" name="Shape 3"/>
          <p:cNvSpPr/>
          <p:nvPr/>
        </p:nvSpPr>
        <p:spPr>
          <a:xfrm>
            <a:off x="256032" y="598932"/>
            <a:ext cx="1572768" cy="1234440"/>
          </a:xfrm>
          <a:prstGeom prst="rect">
            <a:avLst/>
          </a:prstGeom>
          <a:solidFill>
            <a:srgbClr val="0F3460"/>
          </a:solidFill>
          <a:ln w="12700">
            <a:solidFill>
              <a:srgbClr val="1E4976"/>
            </a:solidFill>
            <a:prstDash val="solid"/>
          </a:ln>
        </p:spPr>
      </p:sp>
      <p:sp>
        <p:nvSpPr>
          <p:cNvPr id="6" name="Shape 4"/>
          <p:cNvSpPr/>
          <p:nvPr/>
        </p:nvSpPr>
        <p:spPr>
          <a:xfrm>
            <a:off x="256032" y="598932"/>
            <a:ext cx="1572768" cy="64008"/>
          </a:xfrm>
          <a:prstGeom prst="rect">
            <a:avLst/>
          </a:prstGeom>
          <a:solidFill>
            <a:srgbClr val="F4A261"/>
          </a:solidFill>
          <a:ln w="12700">
            <a:solidFill>
              <a:srgbClr val="F4A261"/>
            </a:solidFill>
            <a:prstDash val="solid"/>
          </a:ln>
        </p:spPr>
      </p:sp>
      <p:sp>
        <p:nvSpPr>
          <p:cNvPr id="7" name="Text 5"/>
          <p:cNvSpPr/>
          <p:nvPr/>
        </p:nvSpPr>
        <p:spPr>
          <a:xfrm>
            <a:off x="347472" y="708660"/>
            <a:ext cx="1389888" cy="32004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COIN COUNT</a:t>
            </a:r>
            <a:endParaRPr lang="en-US" sz="1100" dirty="0"/>
          </a:p>
        </p:txBody>
      </p:sp>
      <p:sp>
        <p:nvSpPr>
          <p:cNvPr id="8" name="Text 6"/>
          <p:cNvSpPr/>
          <p:nvPr/>
        </p:nvSpPr>
        <p:spPr>
          <a:xfrm>
            <a:off x="301752" y="1056132"/>
            <a:ext cx="1481328" cy="594360"/>
          </a:xfrm>
          <a:prstGeom prst="rect">
            <a:avLst/>
          </a:prstGeom>
          <a:noFill/>
          <a:ln/>
        </p:spPr>
        <p:txBody>
          <a:bodyPr wrap="square" rtlCol="0" anchor="ctr"/>
          <a:lstStyle/>
          <a:p>
            <a:pPr marL="0" indent="0" algn="ctr">
              <a:buNone/>
            </a:pPr>
            <a:r>
              <a:rPr lang="en-US" sz="2200" b="1" dirty="0">
                <a:solidFill>
                  <a:srgbClr val="00C9A7"/>
                </a:solidFill>
                <a:latin typeface="Trebuchet MS" pitchFamily="34" charset="0"/>
                <a:ea typeface="Trebuchet MS" pitchFamily="34" charset="-122"/>
                <a:cs typeface="Trebuchet MS" pitchFamily="34" charset="-120"/>
              </a:rPr>
              <a:t>100</a:t>
            </a:r>
            <a:endParaRPr lang="en-US" sz="2200" dirty="0"/>
          </a:p>
        </p:txBody>
      </p:sp>
      <p:sp>
        <p:nvSpPr>
          <p:cNvPr id="9" name="Shape 7"/>
          <p:cNvSpPr/>
          <p:nvPr/>
        </p:nvSpPr>
        <p:spPr>
          <a:xfrm>
            <a:off x="1993392" y="608076"/>
            <a:ext cx="1572768" cy="1234440"/>
          </a:xfrm>
          <a:prstGeom prst="rect">
            <a:avLst/>
          </a:prstGeom>
          <a:solidFill>
            <a:srgbClr val="0F3460"/>
          </a:solidFill>
          <a:ln w="12700">
            <a:solidFill>
              <a:srgbClr val="1E4976"/>
            </a:solidFill>
            <a:prstDash val="solid"/>
          </a:ln>
        </p:spPr>
      </p:sp>
      <p:sp>
        <p:nvSpPr>
          <p:cNvPr id="10" name="Shape 8"/>
          <p:cNvSpPr/>
          <p:nvPr/>
        </p:nvSpPr>
        <p:spPr>
          <a:xfrm>
            <a:off x="1993392" y="608076"/>
            <a:ext cx="1572768" cy="64008"/>
          </a:xfrm>
          <a:prstGeom prst="rect">
            <a:avLst/>
          </a:prstGeom>
          <a:solidFill>
            <a:srgbClr val="F4A261"/>
          </a:solidFill>
          <a:ln w="12700">
            <a:solidFill>
              <a:srgbClr val="F4A261"/>
            </a:solidFill>
            <a:prstDash val="solid"/>
          </a:ln>
        </p:spPr>
      </p:sp>
      <p:sp>
        <p:nvSpPr>
          <p:cNvPr id="11" name="Text 9"/>
          <p:cNvSpPr/>
          <p:nvPr/>
        </p:nvSpPr>
        <p:spPr>
          <a:xfrm>
            <a:off x="2084832" y="717804"/>
            <a:ext cx="1389888" cy="32004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MARKET CAP</a:t>
            </a:r>
            <a:endParaRPr lang="en-US" sz="1100" dirty="0"/>
          </a:p>
        </p:txBody>
      </p:sp>
      <p:sp>
        <p:nvSpPr>
          <p:cNvPr id="12" name="Text 10"/>
          <p:cNvSpPr/>
          <p:nvPr/>
        </p:nvSpPr>
        <p:spPr>
          <a:xfrm>
            <a:off x="2039112" y="1065276"/>
            <a:ext cx="1481328" cy="594360"/>
          </a:xfrm>
          <a:prstGeom prst="rect">
            <a:avLst/>
          </a:prstGeom>
          <a:noFill/>
          <a:ln/>
        </p:spPr>
        <p:txBody>
          <a:bodyPr wrap="square" rtlCol="0" anchor="ctr"/>
          <a:lstStyle/>
          <a:p>
            <a:pPr marL="0" indent="0" algn="ctr">
              <a:buNone/>
            </a:pPr>
            <a:r>
              <a:rPr lang="en-US" sz="2200" b="1" dirty="0">
                <a:solidFill>
                  <a:srgbClr val="00C9A7"/>
                </a:solidFill>
                <a:latin typeface="Trebuchet MS" pitchFamily="34" charset="0"/>
                <a:ea typeface="Trebuchet MS" pitchFamily="34" charset="-122"/>
                <a:cs typeface="Trebuchet MS" pitchFamily="34" charset="-120"/>
              </a:rPr>
              <a:t>$3T</a:t>
            </a:r>
            <a:endParaRPr lang="en-US" sz="2200" dirty="0"/>
          </a:p>
        </p:txBody>
      </p:sp>
      <p:sp>
        <p:nvSpPr>
          <p:cNvPr id="13" name="Shape 11"/>
          <p:cNvSpPr/>
          <p:nvPr/>
        </p:nvSpPr>
        <p:spPr>
          <a:xfrm>
            <a:off x="3730752" y="608076"/>
            <a:ext cx="1572768" cy="1234440"/>
          </a:xfrm>
          <a:prstGeom prst="rect">
            <a:avLst/>
          </a:prstGeom>
          <a:solidFill>
            <a:srgbClr val="0F3460"/>
          </a:solidFill>
          <a:ln w="12700">
            <a:solidFill>
              <a:srgbClr val="1E4976"/>
            </a:solidFill>
            <a:prstDash val="solid"/>
          </a:ln>
        </p:spPr>
      </p:sp>
      <p:sp>
        <p:nvSpPr>
          <p:cNvPr id="14" name="Shape 12"/>
          <p:cNvSpPr/>
          <p:nvPr/>
        </p:nvSpPr>
        <p:spPr>
          <a:xfrm>
            <a:off x="3730752" y="608076"/>
            <a:ext cx="1572768" cy="64008"/>
          </a:xfrm>
          <a:prstGeom prst="rect">
            <a:avLst/>
          </a:prstGeom>
          <a:solidFill>
            <a:srgbClr val="F4A261"/>
          </a:solidFill>
          <a:ln w="12700">
            <a:solidFill>
              <a:srgbClr val="F4A261"/>
            </a:solidFill>
            <a:prstDash val="solid"/>
          </a:ln>
        </p:spPr>
      </p:sp>
      <p:sp>
        <p:nvSpPr>
          <p:cNvPr id="15" name="Text 13"/>
          <p:cNvSpPr/>
          <p:nvPr/>
        </p:nvSpPr>
        <p:spPr>
          <a:xfrm>
            <a:off x="3822192" y="717804"/>
            <a:ext cx="1389888" cy="32004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MAX PRICE</a:t>
            </a:r>
            <a:endParaRPr lang="en-US" sz="1100" dirty="0"/>
          </a:p>
        </p:txBody>
      </p:sp>
      <p:sp>
        <p:nvSpPr>
          <p:cNvPr id="16" name="Text 14"/>
          <p:cNvSpPr/>
          <p:nvPr/>
        </p:nvSpPr>
        <p:spPr>
          <a:xfrm>
            <a:off x="3776472" y="1065276"/>
            <a:ext cx="1481328" cy="594360"/>
          </a:xfrm>
          <a:prstGeom prst="rect">
            <a:avLst/>
          </a:prstGeom>
          <a:noFill/>
          <a:ln/>
        </p:spPr>
        <p:txBody>
          <a:bodyPr wrap="square" rtlCol="0" anchor="ctr"/>
          <a:lstStyle/>
          <a:p>
            <a:pPr marL="0" indent="0" algn="ctr">
              <a:buNone/>
            </a:pPr>
            <a:r>
              <a:rPr lang="en-US" sz="1900" b="1" dirty="0">
                <a:solidFill>
                  <a:srgbClr val="00C9A7"/>
                </a:solidFill>
                <a:latin typeface="Trebuchet MS" pitchFamily="34" charset="0"/>
                <a:ea typeface="Trebuchet MS" pitchFamily="34" charset="-122"/>
                <a:cs typeface="Trebuchet MS" pitchFamily="34" charset="-120"/>
              </a:rPr>
              <a:t>$453.8K</a:t>
            </a:r>
            <a:endParaRPr lang="en-US" sz="1900" dirty="0"/>
          </a:p>
        </p:txBody>
      </p:sp>
      <p:sp>
        <p:nvSpPr>
          <p:cNvPr id="17" name="Shape 15"/>
          <p:cNvSpPr/>
          <p:nvPr/>
        </p:nvSpPr>
        <p:spPr>
          <a:xfrm>
            <a:off x="5468112" y="608076"/>
            <a:ext cx="1572768" cy="1234440"/>
          </a:xfrm>
          <a:prstGeom prst="rect">
            <a:avLst/>
          </a:prstGeom>
          <a:solidFill>
            <a:srgbClr val="0F3460"/>
          </a:solidFill>
          <a:ln w="12700">
            <a:solidFill>
              <a:srgbClr val="1E4976"/>
            </a:solidFill>
            <a:prstDash val="solid"/>
          </a:ln>
        </p:spPr>
      </p:sp>
      <p:sp>
        <p:nvSpPr>
          <p:cNvPr id="18" name="Shape 16"/>
          <p:cNvSpPr/>
          <p:nvPr/>
        </p:nvSpPr>
        <p:spPr>
          <a:xfrm>
            <a:off x="5468112" y="608076"/>
            <a:ext cx="1572768" cy="64008"/>
          </a:xfrm>
          <a:prstGeom prst="rect">
            <a:avLst/>
          </a:prstGeom>
          <a:solidFill>
            <a:srgbClr val="F4A261"/>
          </a:solidFill>
          <a:ln w="12700">
            <a:solidFill>
              <a:srgbClr val="F4A261"/>
            </a:solidFill>
            <a:prstDash val="solid"/>
          </a:ln>
        </p:spPr>
      </p:sp>
      <p:sp>
        <p:nvSpPr>
          <p:cNvPr id="19" name="Text 17"/>
          <p:cNvSpPr/>
          <p:nvPr/>
        </p:nvSpPr>
        <p:spPr>
          <a:xfrm>
            <a:off x="5559552" y="717804"/>
            <a:ext cx="1389888" cy="32004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24hr CHANGE</a:t>
            </a:r>
            <a:endParaRPr lang="en-US" sz="1100" dirty="0"/>
          </a:p>
        </p:txBody>
      </p:sp>
      <p:sp>
        <p:nvSpPr>
          <p:cNvPr id="20" name="Text 18"/>
          <p:cNvSpPr/>
          <p:nvPr/>
        </p:nvSpPr>
        <p:spPr>
          <a:xfrm>
            <a:off x="5513832" y="1065276"/>
            <a:ext cx="1481328" cy="594360"/>
          </a:xfrm>
          <a:prstGeom prst="rect">
            <a:avLst/>
          </a:prstGeom>
          <a:noFill/>
          <a:ln/>
        </p:spPr>
        <p:txBody>
          <a:bodyPr wrap="square" rtlCol="0" anchor="ctr"/>
          <a:lstStyle/>
          <a:p>
            <a:pPr marL="0" indent="0" algn="ctr">
              <a:buNone/>
            </a:pPr>
            <a:r>
              <a:rPr lang="en-US" sz="1900" b="1" dirty="0">
                <a:solidFill>
                  <a:srgbClr val="E63946"/>
                </a:solidFill>
                <a:latin typeface="Trebuchet MS" pitchFamily="34" charset="0"/>
                <a:ea typeface="Trebuchet MS" pitchFamily="34" charset="-122"/>
                <a:cs typeface="Trebuchet MS" pitchFamily="34" charset="-120"/>
              </a:rPr>
              <a:t>-131.43</a:t>
            </a:r>
            <a:endParaRPr lang="en-US" sz="1900" dirty="0"/>
          </a:p>
        </p:txBody>
      </p:sp>
      <p:sp>
        <p:nvSpPr>
          <p:cNvPr id="21" name="Shape 19"/>
          <p:cNvSpPr/>
          <p:nvPr/>
        </p:nvSpPr>
        <p:spPr>
          <a:xfrm>
            <a:off x="7205472" y="608076"/>
            <a:ext cx="1572768" cy="1234440"/>
          </a:xfrm>
          <a:prstGeom prst="rect">
            <a:avLst/>
          </a:prstGeom>
          <a:solidFill>
            <a:srgbClr val="0F3460"/>
          </a:solidFill>
          <a:ln w="12700">
            <a:solidFill>
              <a:srgbClr val="1E4976"/>
            </a:solidFill>
            <a:prstDash val="solid"/>
          </a:ln>
        </p:spPr>
      </p:sp>
      <p:sp>
        <p:nvSpPr>
          <p:cNvPr id="22" name="Shape 20"/>
          <p:cNvSpPr/>
          <p:nvPr/>
        </p:nvSpPr>
        <p:spPr>
          <a:xfrm>
            <a:off x="7205472" y="608076"/>
            <a:ext cx="1572768" cy="64008"/>
          </a:xfrm>
          <a:prstGeom prst="rect">
            <a:avLst/>
          </a:prstGeom>
          <a:solidFill>
            <a:srgbClr val="F4A261"/>
          </a:solidFill>
          <a:ln w="12700">
            <a:solidFill>
              <a:srgbClr val="F4A261"/>
            </a:solidFill>
            <a:prstDash val="solid"/>
          </a:ln>
        </p:spPr>
      </p:sp>
      <p:sp>
        <p:nvSpPr>
          <p:cNvPr id="23" name="Text 21"/>
          <p:cNvSpPr/>
          <p:nvPr/>
        </p:nvSpPr>
        <p:spPr>
          <a:xfrm>
            <a:off x="7296912" y="717804"/>
            <a:ext cx="1389888" cy="32004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7D CHANGE%</a:t>
            </a:r>
            <a:endParaRPr lang="en-US" sz="1100" dirty="0"/>
          </a:p>
        </p:txBody>
      </p:sp>
      <p:sp>
        <p:nvSpPr>
          <p:cNvPr id="24" name="Text 22"/>
          <p:cNvSpPr/>
          <p:nvPr/>
        </p:nvSpPr>
        <p:spPr>
          <a:xfrm>
            <a:off x="7251192" y="1065276"/>
            <a:ext cx="1481328" cy="594360"/>
          </a:xfrm>
          <a:prstGeom prst="rect">
            <a:avLst/>
          </a:prstGeom>
          <a:noFill/>
          <a:ln/>
        </p:spPr>
        <p:txBody>
          <a:bodyPr wrap="square" rtlCol="0" anchor="ctr"/>
          <a:lstStyle/>
          <a:p>
            <a:pPr marL="0" indent="0" algn="ctr">
              <a:buNone/>
            </a:pPr>
            <a:r>
              <a:rPr lang="en-US" sz="1900" b="1" dirty="0">
                <a:solidFill>
                  <a:srgbClr val="E63946"/>
                </a:solidFill>
                <a:latin typeface="Trebuchet MS" pitchFamily="34" charset="0"/>
                <a:ea typeface="Trebuchet MS" pitchFamily="34" charset="-122"/>
                <a:cs typeface="Trebuchet MS" pitchFamily="34" charset="-120"/>
              </a:rPr>
              <a:t>-6.73%</a:t>
            </a:r>
            <a:endParaRPr lang="en-US" sz="1900" dirty="0"/>
          </a:p>
        </p:txBody>
      </p:sp>
      <p:sp>
        <p:nvSpPr>
          <p:cNvPr id="25" name="Text 23"/>
          <p:cNvSpPr/>
          <p:nvPr/>
        </p:nvSpPr>
        <p:spPr>
          <a:xfrm>
            <a:off x="256032" y="1865376"/>
            <a:ext cx="8595360" cy="347472"/>
          </a:xfrm>
          <a:prstGeom prst="rect">
            <a:avLst/>
          </a:prstGeom>
          <a:noFill/>
          <a:ln/>
        </p:spPr>
        <p:txBody>
          <a:bodyPr wrap="square" rtlCol="0" anchor="ctr"/>
          <a:lstStyle/>
          <a:p>
            <a:pPr marL="0" indent="0">
              <a:buNone/>
            </a:pPr>
            <a:r>
              <a:rPr lang="en-US" sz="1400" b="1" dirty="0">
                <a:solidFill>
                  <a:srgbClr val="F4A261"/>
                </a:solidFill>
                <a:latin typeface="Trebuchet MS" pitchFamily="34" charset="0"/>
                <a:ea typeface="Trebuchet MS" pitchFamily="34" charset="-122"/>
                <a:cs typeface="Trebuchet MS" pitchFamily="34" charset="-120"/>
              </a:rPr>
              <a:t>Descriptive Statistics — Key Metrics</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3414850918"/>
              </p:ext>
            </p:extLst>
          </p:nvPr>
        </p:nvGraphicFramePr>
        <p:xfrm>
          <a:off x="256032" y="2208774"/>
          <a:ext cx="8595360" cy="2863215"/>
        </p:xfrm>
        <a:graphic>
          <a:graphicData uri="http://schemas.openxmlformats.org/drawingml/2006/table">
            <a:tbl>
              <a:tblPr/>
              <a:tblGrid>
                <a:gridCol w="21945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302895">
                <a:tc>
                  <a:txBody>
                    <a:bodyPr/>
                    <a:lstStyle/>
                    <a:p>
                      <a:pPr marL="0" indent="0">
                        <a:buNone/>
                      </a:pPr>
                      <a:r>
                        <a:rPr lang="en-US" sz="900" b="1" dirty="0">
                          <a:solidFill>
                            <a:srgbClr val="F4A261"/>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0F3460"/>
                    </a:solidFill>
                  </a:tcPr>
                </a:tc>
                <a:tc>
                  <a:txBody>
                    <a:bodyPr/>
                    <a:lstStyle/>
                    <a:p>
                      <a:pPr marL="0" indent="0">
                        <a:buNone/>
                      </a:pPr>
                      <a:r>
                        <a:rPr lang="en-US" sz="900" b="1" dirty="0">
                          <a:solidFill>
                            <a:srgbClr val="F4A261"/>
                          </a:solidFill>
                          <a:latin typeface="Calibri" pitchFamily="34" charset="0"/>
                          <a:ea typeface="Calibri" pitchFamily="34" charset="-122"/>
                          <a:cs typeface="Calibri" pitchFamily="34" charset="-120"/>
                        </a:rPr>
                        <a:t>Min</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0F3460"/>
                    </a:solidFill>
                  </a:tcPr>
                </a:tc>
                <a:tc>
                  <a:txBody>
                    <a:bodyPr/>
                    <a:lstStyle/>
                    <a:p>
                      <a:pPr marL="0" indent="0">
                        <a:buNone/>
                      </a:pPr>
                      <a:r>
                        <a:rPr lang="en-US" sz="900" b="1" dirty="0">
                          <a:solidFill>
                            <a:srgbClr val="F4A261"/>
                          </a:solidFill>
                          <a:latin typeface="Calibri" pitchFamily="34" charset="0"/>
                          <a:ea typeface="Calibri" pitchFamily="34" charset="-122"/>
                          <a:cs typeface="Calibri" pitchFamily="34" charset="-120"/>
                        </a:rPr>
                        <a:t>Max</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0F3460"/>
                    </a:solidFill>
                  </a:tcPr>
                </a:tc>
                <a:tc>
                  <a:txBody>
                    <a:bodyPr/>
                    <a:lstStyle/>
                    <a:p>
                      <a:pPr marL="0" indent="0">
                        <a:buNone/>
                      </a:pPr>
                      <a:r>
                        <a:rPr lang="en-US" sz="900" b="1" dirty="0">
                          <a:solidFill>
                            <a:srgbClr val="F4A261"/>
                          </a:solidFill>
                          <a:latin typeface="Calibri" pitchFamily="34" charset="0"/>
                          <a:ea typeface="Calibri" pitchFamily="34" charset="-122"/>
                          <a:cs typeface="Calibri" pitchFamily="34" charset="-120"/>
                        </a:rPr>
                        <a:t>Mean (Avg)</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0F3460"/>
                    </a:solidFill>
                  </a:tcPr>
                </a:tc>
                <a:tc>
                  <a:txBody>
                    <a:bodyPr/>
                    <a:lstStyle/>
                    <a:p>
                      <a:pPr marL="0" indent="0">
                        <a:buNone/>
                      </a:pPr>
                      <a:r>
                        <a:rPr lang="en-US" sz="900" b="1" dirty="0">
                          <a:solidFill>
                            <a:srgbClr val="F4A261"/>
                          </a:solidFill>
                          <a:latin typeface="Calibri" pitchFamily="34" charset="0"/>
                          <a:ea typeface="Calibri" pitchFamily="34" charset="-122"/>
                          <a:cs typeface="Calibri" pitchFamily="34" charset="-120"/>
                        </a:rPr>
                        <a:t>Insight</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0F3460"/>
                    </a:solidFill>
                  </a:tcPr>
                </a:tc>
                <a:extLst>
                  <a:ext uri="{0D108BD9-81ED-4DB2-BD59-A6C34878D82A}">
                    <a16:rowId xmlns:a16="http://schemas.microsoft.com/office/drawing/2014/main" val="10000"/>
                  </a:ext>
                </a:extLst>
              </a:tr>
              <a:tr h="302895">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Current Price (USD)</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$0.00001 (low cap)</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$82,932 (Bitcoin)</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~$4,540 avg</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Extreme right skew — BTC dominates</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extLst>
                  <a:ext uri="{0D108BD9-81ED-4DB2-BD59-A6C34878D82A}">
                    <a16:rowId xmlns:a16="http://schemas.microsoft.com/office/drawing/2014/main" val="10001"/>
                  </a:ext>
                </a:extLst>
              </a:tr>
              <a:tr h="302895">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Market Cap (USD)</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$7.4M</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$1.66T (Bitcoin)</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~$30B avg</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Top 5 coins hold majority of market cap</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extLst>
                  <a:ext uri="{0D108BD9-81ED-4DB2-BD59-A6C34878D82A}">
                    <a16:rowId xmlns:a16="http://schemas.microsoft.com/office/drawing/2014/main" val="10002"/>
                  </a:ext>
                </a:extLst>
              </a:tr>
              <a:tr h="302895">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24h Price Change %</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-13.45% (Cardano)</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+12.02% (Monero)</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-1.2% avg</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Most coins in slight decline over 24hr</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extLst>
                  <a:ext uri="{0D108BD9-81ED-4DB2-BD59-A6C34878D82A}">
                    <a16:rowId xmlns:a16="http://schemas.microsoft.com/office/drawing/2014/main" val="10003"/>
                  </a:ext>
                </a:extLst>
              </a:tr>
              <a:tr h="302895">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7d Price Change %</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-13.98% (Chainlink)</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+2.78% (LEO Token)</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-6.73% avg</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Broad weekly sell-off across market</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extLst>
                  <a:ext uri="{0D108BD9-81ED-4DB2-BD59-A6C34878D82A}">
                    <a16:rowId xmlns:a16="http://schemas.microsoft.com/office/drawing/2014/main" val="10004"/>
                  </a:ext>
                </a:extLst>
              </a:tr>
              <a:tr h="302895">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All-Time High (ATH)</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$0.029 (meme coins)</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$121K (Bitcoin)</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~$12K avg</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ATH concentrated in 2024–2025 period</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extLst>
                  <a:ext uri="{0D108BD9-81ED-4DB2-BD59-A6C34878D82A}">
                    <a16:rowId xmlns:a16="http://schemas.microsoft.com/office/drawing/2014/main" val="10005"/>
                  </a:ext>
                </a:extLst>
              </a:tr>
              <a:tr h="302895">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All-Time Low (ATL)</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$0.00 (stable)</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$67.8K (BTC-ATL)</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~$500 avg</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ATL often at or near ICO/launch price</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extLst>
                  <a:ext uri="{0D108BD9-81ED-4DB2-BD59-A6C34878D82A}">
                    <a16:rowId xmlns:a16="http://schemas.microsoft.com/office/drawing/2014/main" val="10006"/>
                  </a:ext>
                </a:extLst>
              </a:tr>
              <a:tr h="302895">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Market Cap Rank</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 (Bitcoin)</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50.5</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tc>
                  <a:txBody>
                    <a:bodyPr/>
                    <a:lstStyle/>
                    <a:p>
                      <a:pPr marL="0" indent="0">
                        <a:buNone/>
                      </a:pPr>
                      <a:r>
                        <a:rPr lang="en-US" sz="900" dirty="0">
                          <a:solidFill>
                            <a:srgbClr val="FFFFFF"/>
                          </a:solidFill>
                          <a:latin typeface="Calibri" pitchFamily="34" charset="0"/>
                          <a:ea typeface="Calibri" pitchFamily="34" charset="-122"/>
                          <a:cs typeface="Calibri" pitchFamily="34" charset="-120"/>
                        </a:rPr>
                        <a:t>Even distribution across 100 coins</a:t>
                      </a:r>
                      <a:endParaRPr lang="en-US" sz="900" dirty="0">
                        <a:latin typeface="Calibri" charset="0"/>
                        <a:ea typeface="Calibri" charset="0"/>
                        <a:cs typeface="Calibri" charset="0"/>
                      </a:endParaRPr>
                    </a:p>
                  </a:txBody>
                  <a:tcPr>
                    <a:lnL w="6350" cap="flat" cmpd="sng" algn="ctr">
                      <a:solidFill>
                        <a:srgbClr val="1E4976"/>
                      </a:solidFill>
                      <a:prstDash val="solid"/>
                      <a:round/>
                      <a:headEnd type="none" w="med" len="med"/>
                      <a:tailEnd type="none" w="med" len="med"/>
                    </a:lnL>
                    <a:lnR w="6350" cap="flat" cmpd="sng" algn="ctr">
                      <a:solidFill>
                        <a:srgbClr val="1E4976"/>
                      </a:solidFill>
                      <a:prstDash val="solid"/>
                      <a:round/>
                      <a:headEnd type="none" w="med" len="med"/>
                      <a:tailEnd type="none" w="med" len="med"/>
                    </a:lnR>
                    <a:lnT w="6350" cap="flat" cmpd="sng" algn="ctr">
                      <a:solidFill>
                        <a:srgbClr val="1E4976"/>
                      </a:solidFill>
                      <a:prstDash val="solid"/>
                      <a:round/>
                      <a:headEnd type="none" w="med" len="med"/>
                      <a:tailEnd type="none" w="med" len="med"/>
                    </a:lnT>
                    <a:lnB w="6350" cap="flat" cmpd="sng" algn="ctr">
                      <a:solidFill>
                        <a:srgbClr val="1E4976"/>
                      </a:solidFill>
                      <a:prstDash val="solid"/>
                      <a:round/>
                      <a:headEnd type="none" w="med" len="med"/>
                      <a:tailEnd type="none" w="med" len="med"/>
                    </a:lnB>
                    <a:solidFill>
                      <a:srgbClr val="16213E"/>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 UNDERSTANDING  —  VARIABLE RELATIONSHIPS</a:t>
            </a:r>
            <a:endParaRPr lang="en-US" sz="2200" dirty="0"/>
          </a:p>
        </p:txBody>
      </p:sp>
      <p:sp>
        <p:nvSpPr>
          <p:cNvPr id="5" name="Shape 3"/>
          <p:cNvSpPr/>
          <p:nvPr/>
        </p:nvSpPr>
        <p:spPr>
          <a:xfrm>
            <a:off x="274320" y="685800"/>
            <a:ext cx="5486400" cy="62179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685800"/>
            <a:ext cx="201168" cy="621792"/>
          </a:xfrm>
          <a:prstGeom prst="rect">
            <a:avLst/>
          </a:prstGeom>
          <a:solidFill>
            <a:srgbClr val="0F3460"/>
          </a:solidFill>
          <a:ln w="12700">
            <a:solidFill>
              <a:srgbClr val="0F3460"/>
            </a:solidFill>
            <a:prstDash val="solid"/>
          </a:ln>
        </p:spPr>
      </p:sp>
      <p:sp>
        <p:nvSpPr>
          <p:cNvPr id="7" name="Text 5"/>
          <p:cNvSpPr/>
          <p:nvPr/>
        </p:nvSpPr>
        <p:spPr>
          <a:xfrm>
            <a:off x="566928" y="722376"/>
            <a:ext cx="1828800" cy="274320"/>
          </a:xfrm>
          <a:prstGeom prst="rect">
            <a:avLst/>
          </a:prstGeom>
          <a:noFill/>
          <a:ln/>
        </p:spPr>
        <p:txBody>
          <a:bodyPr wrap="square" rtlCol="0" anchor="ctr"/>
          <a:lstStyle/>
          <a:p>
            <a:pPr marL="0" indent="0">
              <a:buNone/>
            </a:pPr>
            <a:r>
              <a:rPr lang="en-US" sz="1100" b="1" dirty="0">
                <a:solidFill>
                  <a:srgbClr val="0F3460"/>
                </a:solidFill>
                <a:latin typeface="Trebuchet MS" pitchFamily="34" charset="0"/>
                <a:ea typeface="Trebuchet MS" pitchFamily="34" charset="-122"/>
                <a:cs typeface="Trebuchet MS" pitchFamily="34" charset="-120"/>
              </a:rPr>
              <a:t>name</a:t>
            </a:r>
            <a:endParaRPr lang="en-US" sz="1100" dirty="0"/>
          </a:p>
        </p:txBody>
      </p:sp>
      <p:sp>
        <p:nvSpPr>
          <p:cNvPr id="8" name="Text 6"/>
          <p:cNvSpPr/>
          <p:nvPr/>
        </p:nvSpPr>
        <p:spPr>
          <a:xfrm>
            <a:off x="566928" y="996696"/>
            <a:ext cx="50749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String identifier for each coin — used as primary label in all visuals</a:t>
            </a:r>
            <a:endParaRPr lang="en-US" sz="950" dirty="0"/>
          </a:p>
        </p:txBody>
      </p:sp>
      <p:sp>
        <p:nvSpPr>
          <p:cNvPr id="9" name="Shape 7"/>
          <p:cNvSpPr/>
          <p:nvPr/>
        </p:nvSpPr>
        <p:spPr>
          <a:xfrm>
            <a:off x="274320" y="1399032"/>
            <a:ext cx="5486400" cy="62179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0" name="Shape 8"/>
          <p:cNvSpPr/>
          <p:nvPr/>
        </p:nvSpPr>
        <p:spPr>
          <a:xfrm>
            <a:off x="274320" y="1399032"/>
            <a:ext cx="201168" cy="621792"/>
          </a:xfrm>
          <a:prstGeom prst="rect">
            <a:avLst/>
          </a:prstGeom>
          <a:solidFill>
            <a:srgbClr val="0F3460"/>
          </a:solidFill>
          <a:ln w="12700">
            <a:solidFill>
              <a:srgbClr val="0F3460"/>
            </a:solidFill>
            <a:prstDash val="solid"/>
          </a:ln>
        </p:spPr>
      </p:sp>
      <p:sp>
        <p:nvSpPr>
          <p:cNvPr id="11" name="Text 9"/>
          <p:cNvSpPr/>
          <p:nvPr/>
        </p:nvSpPr>
        <p:spPr>
          <a:xfrm>
            <a:off x="566928" y="1435608"/>
            <a:ext cx="1828800" cy="274320"/>
          </a:xfrm>
          <a:prstGeom prst="rect">
            <a:avLst/>
          </a:prstGeom>
          <a:noFill/>
          <a:ln/>
        </p:spPr>
        <p:txBody>
          <a:bodyPr wrap="square" rtlCol="0" anchor="ctr"/>
          <a:lstStyle/>
          <a:p>
            <a:pPr marL="0" indent="0">
              <a:buNone/>
            </a:pPr>
            <a:r>
              <a:rPr lang="en-US" sz="1100" b="1" dirty="0">
                <a:solidFill>
                  <a:srgbClr val="0F3460"/>
                </a:solidFill>
                <a:latin typeface="Trebuchet MS" pitchFamily="34" charset="0"/>
                <a:ea typeface="Trebuchet MS" pitchFamily="34" charset="-122"/>
                <a:cs typeface="Trebuchet MS" pitchFamily="34" charset="-120"/>
              </a:rPr>
              <a:t>market_cap_rank</a:t>
            </a:r>
            <a:endParaRPr lang="en-US" sz="1100" dirty="0"/>
          </a:p>
        </p:txBody>
      </p:sp>
      <p:sp>
        <p:nvSpPr>
          <p:cNvPr id="12" name="Text 10"/>
          <p:cNvSpPr/>
          <p:nvPr/>
        </p:nvSpPr>
        <p:spPr>
          <a:xfrm>
            <a:off x="566928" y="1709928"/>
            <a:ext cx="50749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Integer 1–100; rank 1 = highest market cap. Directly correlates with liquidity and stability</a:t>
            </a:r>
            <a:endParaRPr lang="en-US" sz="950" dirty="0"/>
          </a:p>
        </p:txBody>
      </p:sp>
      <p:sp>
        <p:nvSpPr>
          <p:cNvPr id="13" name="Shape 11"/>
          <p:cNvSpPr/>
          <p:nvPr/>
        </p:nvSpPr>
        <p:spPr>
          <a:xfrm>
            <a:off x="274320" y="2112264"/>
            <a:ext cx="5486400" cy="62179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4" name="Shape 12"/>
          <p:cNvSpPr/>
          <p:nvPr/>
        </p:nvSpPr>
        <p:spPr>
          <a:xfrm>
            <a:off x="274320" y="2112264"/>
            <a:ext cx="201168" cy="621792"/>
          </a:xfrm>
          <a:prstGeom prst="rect">
            <a:avLst/>
          </a:prstGeom>
          <a:solidFill>
            <a:srgbClr val="0F3460"/>
          </a:solidFill>
          <a:ln w="12700">
            <a:solidFill>
              <a:srgbClr val="0F3460"/>
            </a:solidFill>
            <a:prstDash val="solid"/>
          </a:ln>
        </p:spPr>
      </p:sp>
      <p:sp>
        <p:nvSpPr>
          <p:cNvPr id="15" name="Text 13"/>
          <p:cNvSpPr/>
          <p:nvPr/>
        </p:nvSpPr>
        <p:spPr>
          <a:xfrm>
            <a:off x="566928" y="2148840"/>
            <a:ext cx="1828800" cy="274320"/>
          </a:xfrm>
          <a:prstGeom prst="rect">
            <a:avLst/>
          </a:prstGeom>
          <a:noFill/>
          <a:ln/>
        </p:spPr>
        <p:txBody>
          <a:bodyPr wrap="square" rtlCol="0" anchor="ctr"/>
          <a:lstStyle/>
          <a:p>
            <a:pPr marL="0" indent="0">
              <a:buNone/>
            </a:pPr>
            <a:r>
              <a:rPr lang="en-US" sz="1100" b="1" dirty="0">
                <a:solidFill>
                  <a:srgbClr val="0F3460"/>
                </a:solidFill>
                <a:latin typeface="Trebuchet MS" pitchFamily="34" charset="0"/>
                <a:ea typeface="Trebuchet MS" pitchFamily="34" charset="-122"/>
                <a:cs typeface="Trebuchet MS" pitchFamily="34" charset="-120"/>
              </a:rPr>
              <a:t>current_price</a:t>
            </a:r>
            <a:endParaRPr lang="en-US" sz="1100" dirty="0"/>
          </a:p>
        </p:txBody>
      </p:sp>
      <p:sp>
        <p:nvSpPr>
          <p:cNvPr id="16" name="Text 14"/>
          <p:cNvSpPr/>
          <p:nvPr/>
        </p:nvSpPr>
        <p:spPr>
          <a:xfrm>
            <a:off x="566928" y="2423160"/>
            <a:ext cx="50749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Real-time USD price — high variance due to different coin scales (BTC vs meme coins)</a:t>
            </a:r>
            <a:endParaRPr lang="en-US" sz="950" dirty="0"/>
          </a:p>
        </p:txBody>
      </p:sp>
      <p:sp>
        <p:nvSpPr>
          <p:cNvPr id="17" name="Shape 15"/>
          <p:cNvSpPr/>
          <p:nvPr/>
        </p:nvSpPr>
        <p:spPr>
          <a:xfrm>
            <a:off x="274320" y="2825496"/>
            <a:ext cx="5486400" cy="62179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8" name="Shape 16"/>
          <p:cNvSpPr/>
          <p:nvPr/>
        </p:nvSpPr>
        <p:spPr>
          <a:xfrm>
            <a:off x="274320" y="2825496"/>
            <a:ext cx="201168" cy="621792"/>
          </a:xfrm>
          <a:prstGeom prst="rect">
            <a:avLst/>
          </a:prstGeom>
          <a:solidFill>
            <a:srgbClr val="0F3460"/>
          </a:solidFill>
          <a:ln w="12700">
            <a:solidFill>
              <a:srgbClr val="0F3460"/>
            </a:solidFill>
            <a:prstDash val="solid"/>
          </a:ln>
        </p:spPr>
      </p:sp>
      <p:sp>
        <p:nvSpPr>
          <p:cNvPr id="19" name="Text 17"/>
          <p:cNvSpPr/>
          <p:nvPr/>
        </p:nvSpPr>
        <p:spPr>
          <a:xfrm>
            <a:off x="566928" y="2862072"/>
            <a:ext cx="1828800" cy="274320"/>
          </a:xfrm>
          <a:prstGeom prst="rect">
            <a:avLst/>
          </a:prstGeom>
          <a:noFill/>
          <a:ln/>
        </p:spPr>
        <p:txBody>
          <a:bodyPr wrap="square" rtlCol="0" anchor="ctr"/>
          <a:lstStyle/>
          <a:p>
            <a:pPr marL="0" indent="0">
              <a:buNone/>
            </a:pPr>
            <a:r>
              <a:rPr lang="en-US" sz="1100" b="1" dirty="0">
                <a:solidFill>
                  <a:srgbClr val="0F3460"/>
                </a:solidFill>
                <a:latin typeface="Trebuchet MS" pitchFamily="34" charset="0"/>
                <a:ea typeface="Trebuchet MS" pitchFamily="34" charset="-122"/>
                <a:cs typeface="Trebuchet MS" pitchFamily="34" charset="-120"/>
              </a:rPr>
              <a:t>market_cap</a:t>
            </a:r>
            <a:endParaRPr lang="en-US" sz="1100" dirty="0"/>
          </a:p>
        </p:txBody>
      </p:sp>
      <p:sp>
        <p:nvSpPr>
          <p:cNvPr id="20" name="Text 18"/>
          <p:cNvSpPr/>
          <p:nvPr/>
        </p:nvSpPr>
        <p:spPr>
          <a:xfrm>
            <a:off x="566928" y="3136392"/>
            <a:ext cx="50749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Definitive size indicator; calculated as supply × price. Used for portfolio weighting</a:t>
            </a:r>
            <a:endParaRPr lang="en-US" sz="950" dirty="0"/>
          </a:p>
        </p:txBody>
      </p:sp>
      <p:sp>
        <p:nvSpPr>
          <p:cNvPr id="21" name="Shape 19"/>
          <p:cNvSpPr/>
          <p:nvPr/>
        </p:nvSpPr>
        <p:spPr>
          <a:xfrm>
            <a:off x="274320" y="3538728"/>
            <a:ext cx="5486400" cy="62179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2" name="Shape 20"/>
          <p:cNvSpPr/>
          <p:nvPr/>
        </p:nvSpPr>
        <p:spPr>
          <a:xfrm>
            <a:off x="274320" y="3538728"/>
            <a:ext cx="201168" cy="621792"/>
          </a:xfrm>
          <a:prstGeom prst="rect">
            <a:avLst/>
          </a:prstGeom>
          <a:solidFill>
            <a:srgbClr val="0F3460"/>
          </a:solidFill>
          <a:ln w="12700">
            <a:solidFill>
              <a:srgbClr val="0F3460"/>
            </a:solidFill>
            <a:prstDash val="solid"/>
          </a:ln>
        </p:spPr>
      </p:sp>
      <p:sp>
        <p:nvSpPr>
          <p:cNvPr id="23" name="Text 21"/>
          <p:cNvSpPr/>
          <p:nvPr/>
        </p:nvSpPr>
        <p:spPr>
          <a:xfrm>
            <a:off x="566928" y="3575304"/>
            <a:ext cx="1828800" cy="274320"/>
          </a:xfrm>
          <a:prstGeom prst="rect">
            <a:avLst/>
          </a:prstGeom>
          <a:noFill/>
          <a:ln/>
        </p:spPr>
        <p:txBody>
          <a:bodyPr wrap="square" rtlCol="0" anchor="ctr"/>
          <a:lstStyle/>
          <a:p>
            <a:pPr marL="0" indent="0">
              <a:buNone/>
            </a:pPr>
            <a:r>
              <a:rPr lang="en-US" sz="1100" b="1" dirty="0">
                <a:solidFill>
                  <a:srgbClr val="0F3460"/>
                </a:solidFill>
                <a:latin typeface="Trebuchet MS" pitchFamily="34" charset="0"/>
                <a:ea typeface="Trebuchet MS" pitchFamily="34" charset="-122"/>
                <a:cs typeface="Trebuchet MS" pitchFamily="34" charset="-120"/>
              </a:rPr>
              <a:t>price_change_%_24h / 7d</a:t>
            </a:r>
            <a:endParaRPr lang="en-US" sz="1100" dirty="0"/>
          </a:p>
        </p:txBody>
      </p:sp>
      <p:sp>
        <p:nvSpPr>
          <p:cNvPr id="24" name="Text 22"/>
          <p:cNvSpPr/>
          <p:nvPr/>
        </p:nvSpPr>
        <p:spPr>
          <a:xfrm>
            <a:off x="566928" y="3849624"/>
            <a:ext cx="50749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Short-term momentum signals; negative values indicate selling pressure</a:t>
            </a:r>
            <a:endParaRPr lang="en-US" sz="950" dirty="0"/>
          </a:p>
        </p:txBody>
      </p:sp>
      <p:sp>
        <p:nvSpPr>
          <p:cNvPr id="25" name="Shape 23"/>
          <p:cNvSpPr/>
          <p:nvPr/>
        </p:nvSpPr>
        <p:spPr>
          <a:xfrm>
            <a:off x="274320" y="4251960"/>
            <a:ext cx="5486400" cy="62179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6" name="Shape 24"/>
          <p:cNvSpPr/>
          <p:nvPr/>
        </p:nvSpPr>
        <p:spPr>
          <a:xfrm>
            <a:off x="274320" y="4251960"/>
            <a:ext cx="201168" cy="621792"/>
          </a:xfrm>
          <a:prstGeom prst="rect">
            <a:avLst/>
          </a:prstGeom>
          <a:solidFill>
            <a:srgbClr val="0F3460"/>
          </a:solidFill>
          <a:ln w="12700">
            <a:solidFill>
              <a:srgbClr val="0F3460"/>
            </a:solidFill>
            <a:prstDash val="solid"/>
          </a:ln>
        </p:spPr>
      </p:sp>
      <p:sp>
        <p:nvSpPr>
          <p:cNvPr id="27" name="Text 25"/>
          <p:cNvSpPr/>
          <p:nvPr/>
        </p:nvSpPr>
        <p:spPr>
          <a:xfrm>
            <a:off x="566928" y="4288536"/>
            <a:ext cx="1828800" cy="274320"/>
          </a:xfrm>
          <a:prstGeom prst="rect">
            <a:avLst/>
          </a:prstGeom>
          <a:noFill/>
          <a:ln/>
        </p:spPr>
        <p:txBody>
          <a:bodyPr wrap="square" rtlCol="0" anchor="ctr"/>
          <a:lstStyle/>
          <a:p>
            <a:pPr marL="0" indent="0">
              <a:buNone/>
            </a:pPr>
            <a:r>
              <a:rPr lang="en-US" sz="1100" b="1" dirty="0">
                <a:solidFill>
                  <a:srgbClr val="0F3460"/>
                </a:solidFill>
                <a:latin typeface="Trebuchet MS" pitchFamily="34" charset="0"/>
                <a:ea typeface="Trebuchet MS" pitchFamily="34" charset="-122"/>
                <a:cs typeface="Trebuchet MS" pitchFamily="34" charset="-120"/>
              </a:rPr>
              <a:t>ath / atl + dates</a:t>
            </a:r>
            <a:endParaRPr lang="en-US" sz="1100" dirty="0"/>
          </a:p>
        </p:txBody>
      </p:sp>
      <p:sp>
        <p:nvSpPr>
          <p:cNvPr id="28" name="Text 26"/>
          <p:cNvSpPr/>
          <p:nvPr/>
        </p:nvSpPr>
        <p:spPr>
          <a:xfrm>
            <a:off x="566928" y="4562856"/>
            <a:ext cx="507492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Historical performance bounds; ATH year clustering reveals bull market cycles</a:t>
            </a:r>
            <a:endParaRPr lang="en-US" sz="950" dirty="0"/>
          </a:p>
        </p:txBody>
      </p:sp>
      <p:sp>
        <p:nvSpPr>
          <p:cNvPr id="29" name="Shape 27"/>
          <p:cNvSpPr/>
          <p:nvPr/>
        </p:nvSpPr>
        <p:spPr>
          <a:xfrm>
            <a:off x="6035040" y="685800"/>
            <a:ext cx="2834640" cy="4206240"/>
          </a:xfrm>
          <a:prstGeom prst="rect">
            <a:avLst/>
          </a:prstGeom>
          <a:solidFill>
            <a:srgbClr val="0F3460"/>
          </a:solidFill>
          <a:ln w="12700">
            <a:solidFill>
              <a:srgbClr val="1E4976"/>
            </a:solidFill>
            <a:prstDash val="solid"/>
          </a:ln>
          <a:effectLst>
            <a:outerShdw blurRad="101600" dist="38100" dir="8100000" algn="bl" rotWithShape="0">
              <a:srgbClr val="000000">
                <a:alpha val="25000"/>
              </a:srgbClr>
            </a:outerShdw>
          </a:effectLst>
        </p:spPr>
      </p:sp>
      <p:sp>
        <p:nvSpPr>
          <p:cNvPr id="30" name="Text 28"/>
          <p:cNvSpPr/>
          <p:nvPr/>
        </p:nvSpPr>
        <p:spPr>
          <a:xfrm>
            <a:off x="6126480" y="777240"/>
            <a:ext cx="2651760" cy="320040"/>
          </a:xfrm>
          <a:prstGeom prst="rect">
            <a:avLst/>
          </a:prstGeom>
          <a:noFill/>
          <a:ln/>
        </p:spPr>
        <p:txBody>
          <a:bodyPr wrap="square" rtlCol="0" anchor="ctr"/>
          <a:lstStyle/>
          <a:p>
            <a:pPr marL="0" indent="0" algn="ctr">
              <a:buNone/>
            </a:pPr>
            <a:r>
              <a:rPr lang="en-US" sz="1200" b="1" dirty="0">
                <a:solidFill>
                  <a:srgbClr val="F4A261"/>
                </a:solidFill>
                <a:latin typeface="Trebuchet MS" pitchFamily="34" charset="0"/>
                <a:ea typeface="Trebuchet MS" pitchFamily="34" charset="-122"/>
                <a:cs typeface="Trebuchet MS" pitchFamily="34" charset="-120"/>
              </a:rPr>
              <a:t>Key Relationships</a:t>
            </a:r>
            <a:endParaRPr lang="en-US" sz="1200" dirty="0"/>
          </a:p>
        </p:txBody>
      </p:sp>
      <p:sp>
        <p:nvSpPr>
          <p:cNvPr id="31" name="Shape 29"/>
          <p:cNvSpPr/>
          <p:nvPr/>
        </p:nvSpPr>
        <p:spPr>
          <a:xfrm>
            <a:off x="6126480" y="1280160"/>
            <a:ext cx="868680" cy="347472"/>
          </a:xfrm>
          <a:prstGeom prst="rect">
            <a:avLst/>
          </a:prstGeom>
          <a:solidFill>
            <a:srgbClr val="16213E"/>
          </a:solidFill>
          <a:ln w="12700">
            <a:solidFill>
              <a:srgbClr val="00C9A7"/>
            </a:solidFill>
            <a:prstDash val="solid"/>
          </a:ln>
        </p:spPr>
      </p:sp>
      <p:sp>
        <p:nvSpPr>
          <p:cNvPr id="32" name="Shape 30"/>
          <p:cNvSpPr/>
          <p:nvPr/>
        </p:nvSpPr>
        <p:spPr>
          <a:xfrm>
            <a:off x="7360920" y="1280160"/>
            <a:ext cx="1371600" cy="347472"/>
          </a:xfrm>
          <a:prstGeom prst="rect">
            <a:avLst/>
          </a:prstGeom>
          <a:solidFill>
            <a:srgbClr val="16213E"/>
          </a:solidFill>
          <a:ln w="12700">
            <a:solidFill>
              <a:srgbClr val="00C9A7"/>
            </a:solidFill>
            <a:prstDash val="solid"/>
          </a:ln>
        </p:spPr>
      </p:sp>
      <p:sp>
        <p:nvSpPr>
          <p:cNvPr id="33" name="Text 31"/>
          <p:cNvSpPr/>
          <p:nvPr/>
        </p:nvSpPr>
        <p:spPr>
          <a:xfrm>
            <a:off x="6126480" y="1280160"/>
            <a:ext cx="86868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Market Cap Rank</a:t>
            </a:r>
            <a:endParaRPr lang="en-US" sz="800" dirty="0"/>
          </a:p>
        </p:txBody>
      </p:sp>
      <p:sp>
        <p:nvSpPr>
          <p:cNvPr id="34" name="Text 32"/>
          <p:cNvSpPr/>
          <p:nvPr/>
        </p:nvSpPr>
        <p:spPr>
          <a:xfrm>
            <a:off x="6995160" y="1280160"/>
            <a:ext cx="365760" cy="347472"/>
          </a:xfrm>
          <a:prstGeom prst="rect">
            <a:avLst/>
          </a:prstGeom>
          <a:noFill/>
          <a:ln/>
        </p:spPr>
        <p:txBody>
          <a:bodyPr wrap="square" rtlCol="0" anchor="ctr"/>
          <a:lstStyle/>
          <a:p>
            <a:pPr marL="0" indent="0" algn="ctr">
              <a:buNone/>
            </a:pPr>
            <a:r>
              <a:rPr lang="en-US" sz="1400" b="1" dirty="0">
                <a:solidFill>
                  <a:srgbClr val="F4A261"/>
                </a:solidFill>
                <a:latin typeface="Trebuchet MS" pitchFamily="34" charset="0"/>
                <a:ea typeface="Trebuchet MS" pitchFamily="34" charset="-122"/>
                <a:cs typeface="Trebuchet MS" pitchFamily="34" charset="-120"/>
              </a:rPr>
              <a:t>↔</a:t>
            </a:r>
            <a:endParaRPr lang="en-US" sz="1400" dirty="0"/>
          </a:p>
        </p:txBody>
      </p:sp>
      <p:sp>
        <p:nvSpPr>
          <p:cNvPr id="35" name="Text 33"/>
          <p:cNvSpPr/>
          <p:nvPr/>
        </p:nvSpPr>
        <p:spPr>
          <a:xfrm>
            <a:off x="7360920" y="1280160"/>
            <a:ext cx="137160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Current Price</a:t>
            </a:r>
            <a:endParaRPr lang="en-US" sz="800" dirty="0"/>
          </a:p>
        </p:txBody>
      </p:sp>
      <p:sp>
        <p:nvSpPr>
          <p:cNvPr id="36" name="Shape 34"/>
          <p:cNvSpPr/>
          <p:nvPr/>
        </p:nvSpPr>
        <p:spPr>
          <a:xfrm>
            <a:off x="6126480" y="1965960"/>
            <a:ext cx="868680" cy="347472"/>
          </a:xfrm>
          <a:prstGeom prst="rect">
            <a:avLst/>
          </a:prstGeom>
          <a:solidFill>
            <a:srgbClr val="16213E"/>
          </a:solidFill>
          <a:ln w="12700">
            <a:solidFill>
              <a:srgbClr val="00C9A7"/>
            </a:solidFill>
            <a:prstDash val="solid"/>
          </a:ln>
        </p:spPr>
      </p:sp>
      <p:sp>
        <p:nvSpPr>
          <p:cNvPr id="37" name="Shape 35"/>
          <p:cNvSpPr/>
          <p:nvPr/>
        </p:nvSpPr>
        <p:spPr>
          <a:xfrm>
            <a:off x="7360920" y="1965960"/>
            <a:ext cx="1371600" cy="347472"/>
          </a:xfrm>
          <a:prstGeom prst="rect">
            <a:avLst/>
          </a:prstGeom>
          <a:solidFill>
            <a:srgbClr val="16213E"/>
          </a:solidFill>
          <a:ln w="12700">
            <a:solidFill>
              <a:srgbClr val="00C9A7"/>
            </a:solidFill>
            <a:prstDash val="solid"/>
          </a:ln>
        </p:spPr>
      </p:sp>
      <p:sp>
        <p:nvSpPr>
          <p:cNvPr id="38" name="Text 36"/>
          <p:cNvSpPr/>
          <p:nvPr/>
        </p:nvSpPr>
        <p:spPr>
          <a:xfrm>
            <a:off x="6126480" y="1965960"/>
            <a:ext cx="86868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ATH Date</a:t>
            </a:r>
            <a:endParaRPr lang="en-US" sz="800" dirty="0"/>
          </a:p>
        </p:txBody>
      </p:sp>
      <p:sp>
        <p:nvSpPr>
          <p:cNvPr id="39" name="Text 37"/>
          <p:cNvSpPr/>
          <p:nvPr/>
        </p:nvSpPr>
        <p:spPr>
          <a:xfrm>
            <a:off x="6995160" y="1965960"/>
            <a:ext cx="365760" cy="347472"/>
          </a:xfrm>
          <a:prstGeom prst="rect">
            <a:avLst/>
          </a:prstGeom>
          <a:noFill/>
          <a:ln/>
        </p:spPr>
        <p:txBody>
          <a:bodyPr wrap="square" rtlCol="0" anchor="ctr"/>
          <a:lstStyle/>
          <a:p>
            <a:pPr marL="0" indent="0" algn="ctr">
              <a:buNone/>
            </a:pPr>
            <a:r>
              <a:rPr lang="en-US" sz="1400" b="1" dirty="0">
                <a:solidFill>
                  <a:srgbClr val="F4A261"/>
                </a:solidFill>
                <a:latin typeface="Trebuchet MS" pitchFamily="34" charset="0"/>
                <a:ea typeface="Trebuchet MS" pitchFamily="34" charset="-122"/>
                <a:cs typeface="Trebuchet MS" pitchFamily="34" charset="-120"/>
              </a:rPr>
              <a:t>↔</a:t>
            </a:r>
            <a:endParaRPr lang="en-US" sz="1400" dirty="0"/>
          </a:p>
        </p:txBody>
      </p:sp>
      <p:sp>
        <p:nvSpPr>
          <p:cNvPr id="40" name="Text 38"/>
          <p:cNvSpPr/>
          <p:nvPr/>
        </p:nvSpPr>
        <p:spPr>
          <a:xfrm>
            <a:off x="7360920" y="1965960"/>
            <a:ext cx="137160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ATH Value</a:t>
            </a:r>
            <a:endParaRPr lang="en-US" sz="800" dirty="0"/>
          </a:p>
        </p:txBody>
      </p:sp>
      <p:sp>
        <p:nvSpPr>
          <p:cNvPr id="41" name="Shape 39"/>
          <p:cNvSpPr/>
          <p:nvPr/>
        </p:nvSpPr>
        <p:spPr>
          <a:xfrm>
            <a:off x="6126480" y="2651760"/>
            <a:ext cx="868680" cy="347472"/>
          </a:xfrm>
          <a:prstGeom prst="rect">
            <a:avLst/>
          </a:prstGeom>
          <a:solidFill>
            <a:srgbClr val="16213E"/>
          </a:solidFill>
          <a:ln w="12700">
            <a:solidFill>
              <a:srgbClr val="00C9A7"/>
            </a:solidFill>
            <a:prstDash val="solid"/>
          </a:ln>
        </p:spPr>
      </p:sp>
      <p:sp>
        <p:nvSpPr>
          <p:cNvPr id="42" name="Shape 40"/>
          <p:cNvSpPr/>
          <p:nvPr/>
        </p:nvSpPr>
        <p:spPr>
          <a:xfrm>
            <a:off x="7360920" y="2651760"/>
            <a:ext cx="1371600" cy="347472"/>
          </a:xfrm>
          <a:prstGeom prst="rect">
            <a:avLst/>
          </a:prstGeom>
          <a:solidFill>
            <a:srgbClr val="16213E"/>
          </a:solidFill>
          <a:ln w="12700">
            <a:solidFill>
              <a:srgbClr val="00C9A7"/>
            </a:solidFill>
            <a:prstDash val="solid"/>
          </a:ln>
        </p:spPr>
      </p:sp>
      <p:sp>
        <p:nvSpPr>
          <p:cNvPr id="43" name="Text 41"/>
          <p:cNvSpPr/>
          <p:nvPr/>
        </p:nvSpPr>
        <p:spPr>
          <a:xfrm>
            <a:off x="6126480" y="2651760"/>
            <a:ext cx="86868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Price Change 24h</a:t>
            </a:r>
            <a:endParaRPr lang="en-US" sz="800" dirty="0"/>
          </a:p>
        </p:txBody>
      </p:sp>
      <p:sp>
        <p:nvSpPr>
          <p:cNvPr id="44" name="Text 42"/>
          <p:cNvSpPr/>
          <p:nvPr/>
        </p:nvSpPr>
        <p:spPr>
          <a:xfrm>
            <a:off x="6995160" y="2651760"/>
            <a:ext cx="365760" cy="347472"/>
          </a:xfrm>
          <a:prstGeom prst="rect">
            <a:avLst/>
          </a:prstGeom>
          <a:noFill/>
          <a:ln/>
        </p:spPr>
        <p:txBody>
          <a:bodyPr wrap="square" rtlCol="0" anchor="ctr"/>
          <a:lstStyle/>
          <a:p>
            <a:pPr marL="0" indent="0" algn="ctr">
              <a:buNone/>
            </a:pPr>
            <a:r>
              <a:rPr lang="en-US" sz="1400" b="1" dirty="0">
                <a:solidFill>
                  <a:srgbClr val="F4A261"/>
                </a:solidFill>
                <a:latin typeface="Trebuchet MS" pitchFamily="34" charset="0"/>
                <a:ea typeface="Trebuchet MS" pitchFamily="34" charset="-122"/>
                <a:cs typeface="Trebuchet MS" pitchFamily="34" charset="-120"/>
              </a:rPr>
              <a:t>↔</a:t>
            </a:r>
            <a:endParaRPr lang="en-US" sz="1400" dirty="0"/>
          </a:p>
        </p:txBody>
      </p:sp>
      <p:sp>
        <p:nvSpPr>
          <p:cNvPr id="45" name="Text 43"/>
          <p:cNvSpPr/>
          <p:nvPr/>
        </p:nvSpPr>
        <p:spPr>
          <a:xfrm>
            <a:off x="7360920" y="2651760"/>
            <a:ext cx="137160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Price Change 7d</a:t>
            </a:r>
            <a:endParaRPr lang="en-US" sz="800" dirty="0"/>
          </a:p>
        </p:txBody>
      </p:sp>
      <p:sp>
        <p:nvSpPr>
          <p:cNvPr id="46" name="Shape 44"/>
          <p:cNvSpPr/>
          <p:nvPr/>
        </p:nvSpPr>
        <p:spPr>
          <a:xfrm>
            <a:off x="6126480" y="3337560"/>
            <a:ext cx="868680" cy="347472"/>
          </a:xfrm>
          <a:prstGeom prst="rect">
            <a:avLst/>
          </a:prstGeom>
          <a:solidFill>
            <a:srgbClr val="16213E"/>
          </a:solidFill>
          <a:ln w="12700">
            <a:solidFill>
              <a:srgbClr val="00C9A7"/>
            </a:solidFill>
            <a:prstDash val="solid"/>
          </a:ln>
        </p:spPr>
      </p:sp>
      <p:sp>
        <p:nvSpPr>
          <p:cNvPr id="47" name="Shape 45"/>
          <p:cNvSpPr/>
          <p:nvPr/>
        </p:nvSpPr>
        <p:spPr>
          <a:xfrm>
            <a:off x="7360920" y="3337560"/>
            <a:ext cx="1371600" cy="347472"/>
          </a:xfrm>
          <a:prstGeom prst="rect">
            <a:avLst/>
          </a:prstGeom>
          <a:solidFill>
            <a:srgbClr val="16213E"/>
          </a:solidFill>
          <a:ln w="12700">
            <a:solidFill>
              <a:srgbClr val="00C9A7"/>
            </a:solidFill>
            <a:prstDash val="solid"/>
          </a:ln>
        </p:spPr>
      </p:sp>
      <p:sp>
        <p:nvSpPr>
          <p:cNvPr id="48" name="Text 46"/>
          <p:cNvSpPr/>
          <p:nvPr/>
        </p:nvSpPr>
        <p:spPr>
          <a:xfrm>
            <a:off x="6126480" y="3337560"/>
            <a:ext cx="86868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Market Cap</a:t>
            </a:r>
            <a:endParaRPr lang="en-US" sz="800" dirty="0"/>
          </a:p>
        </p:txBody>
      </p:sp>
      <p:sp>
        <p:nvSpPr>
          <p:cNvPr id="49" name="Text 47"/>
          <p:cNvSpPr/>
          <p:nvPr/>
        </p:nvSpPr>
        <p:spPr>
          <a:xfrm>
            <a:off x="6995160" y="3337560"/>
            <a:ext cx="365760" cy="347472"/>
          </a:xfrm>
          <a:prstGeom prst="rect">
            <a:avLst/>
          </a:prstGeom>
          <a:noFill/>
          <a:ln/>
        </p:spPr>
        <p:txBody>
          <a:bodyPr wrap="square" rtlCol="0" anchor="ctr"/>
          <a:lstStyle/>
          <a:p>
            <a:pPr marL="0" indent="0" algn="ctr">
              <a:buNone/>
            </a:pPr>
            <a:r>
              <a:rPr lang="en-US" sz="1400" b="1" dirty="0">
                <a:solidFill>
                  <a:srgbClr val="F4A261"/>
                </a:solidFill>
                <a:latin typeface="Trebuchet MS" pitchFamily="34" charset="0"/>
                <a:ea typeface="Trebuchet MS" pitchFamily="34" charset="-122"/>
                <a:cs typeface="Trebuchet MS" pitchFamily="34" charset="-120"/>
              </a:rPr>
              <a:t>↔</a:t>
            </a:r>
            <a:endParaRPr lang="en-US" sz="1400" dirty="0"/>
          </a:p>
        </p:txBody>
      </p:sp>
      <p:sp>
        <p:nvSpPr>
          <p:cNvPr id="50" name="Text 48"/>
          <p:cNvSpPr/>
          <p:nvPr/>
        </p:nvSpPr>
        <p:spPr>
          <a:xfrm>
            <a:off x="7360920" y="3337560"/>
            <a:ext cx="137160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Stability</a:t>
            </a:r>
            <a:endParaRPr lang="en-US" sz="800" dirty="0"/>
          </a:p>
        </p:txBody>
      </p:sp>
      <p:sp>
        <p:nvSpPr>
          <p:cNvPr id="51" name="Shape 49"/>
          <p:cNvSpPr/>
          <p:nvPr/>
        </p:nvSpPr>
        <p:spPr>
          <a:xfrm>
            <a:off x="6126480" y="4023360"/>
            <a:ext cx="868680" cy="347472"/>
          </a:xfrm>
          <a:prstGeom prst="rect">
            <a:avLst/>
          </a:prstGeom>
          <a:solidFill>
            <a:srgbClr val="16213E"/>
          </a:solidFill>
          <a:ln w="12700">
            <a:solidFill>
              <a:srgbClr val="00C9A7"/>
            </a:solidFill>
            <a:prstDash val="solid"/>
          </a:ln>
        </p:spPr>
      </p:sp>
      <p:sp>
        <p:nvSpPr>
          <p:cNvPr id="52" name="Shape 50"/>
          <p:cNvSpPr/>
          <p:nvPr/>
        </p:nvSpPr>
        <p:spPr>
          <a:xfrm>
            <a:off x="7360920" y="4023360"/>
            <a:ext cx="1371600" cy="347472"/>
          </a:xfrm>
          <a:prstGeom prst="rect">
            <a:avLst/>
          </a:prstGeom>
          <a:solidFill>
            <a:srgbClr val="16213E"/>
          </a:solidFill>
          <a:ln w="12700">
            <a:solidFill>
              <a:srgbClr val="00C9A7"/>
            </a:solidFill>
            <a:prstDash val="solid"/>
          </a:ln>
        </p:spPr>
      </p:sp>
      <p:sp>
        <p:nvSpPr>
          <p:cNvPr id="53" name="Text 51"/>
          <p:cNvSpPr/>
          <p:nvPr/>
        </p:nvSpPr>
        <p:spPr>
          <a:xfrm>
            <a:off x="6126480" y="4023360"/>
            <a:ext cx="86868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Coin Type</a:t>
            </a:r>
            <a:endParaRPr lang="en-US" sz="800" dirty="0"/>
          </a:p>
        </p:txBody>
      </p:sp>
      <p:sp>
        <p:nvSpPr>
          <p:cNvPr id="54" name="Text 52"/>
          <p:cNvSpPr/>
          <p:nvPr/>
        </p:nvSpPr>
        <p:spPr>
          <a:xfrm>
            <a:off x="6995160" y="4023360"/>
            <a:ext cx="365760" cy="347472"/>
          </a:xfrm>
          <a:prstGeom prst="rect">
            <a:avLst/>
          </a:prstGeom>
          <a:noFill/>
          <a:ln/>
        </p:spPr>
        <p:txBody>
          <a:bodyPr wrap="square" rtlCol="0" anchor="ctr"/>
          <a:lstStyle/>
          <a:p>
            <a:pPr marL="0" indent="0" algn="ctr">
              <a:buNone/>
            </a:pPr>
            <a:r>
              <a:rPr lang="en-US" sz="1400" b="1" dirty="0">
                <a:solidFill>
                  <a:srgbClr val="F4A261"/>
                </a:solidFill>
                <a:latin typeface="Trebuchet MS" pitchFamily="34" charset="0"/>
                <a:ea typeface="Trebuchet MS" pitchFamily="34" charset="-122"/>
                <a:cs typeface="Trebuchet MS" pitchFamily="34" charset="-120"/>
              </a:rPr>
              <a:t>↔</a:t>
            </a:r>
            <a:endParaRPr lang="en-US" sz="1400" dirty="0"/>
          </a:p>
        </p:txBody>
      </p:sp>
      <p:sp>
        <p:nvSpPr>
          <p:cNvPr id="55" name="Text 53"/>
          <p:cNvSpPr/>
          <p:nvPr/>
        </p:nvSpPr>
        <p:spPr>
          <a:xfrm>
            <a:off x="7360920" y="4023360"/>
            <a:ext cx="1371600"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ATH Clustering</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 CLEANING  —  OVERVIEW &amp; RATIONALE</a:t>
            </a:r>
            <a:endParaRPr lang="en-US" sz="2200" dirty="0"/>
          </a:p>
        </p:txBody>
      </p:sp>
      <p:sp>
        <p:nvSpPr>
          <p:cNvPr id="5" name="Text 3"/>
          <p:cNvSpPr/>
          <p:nvPr/>
        </p:nvSpPr>
        <p:spPr>
          <a:xfrm>
            <a:off x="274320" y="713232"/>
            <a:ext cx="8595360" cy="365760"/>
          </a:xfrm>
          <a:prstGeom prst="rect">
            <a:avLst/>
          </a:prstGeom>
          <a:noFill/>
          <a:ln/>
        </p:spPr>
        <p:txBody>
          <a:bodyPr wrap="square" rtlCol="0" anchor="ctr"/>
          <a:lstStyle/>
          <a:p>
            <a:pPr marL="0" indent="0">
              <a:buNone/>
            </a:pPr>
            <a:r>
              <a:rPr lang="en-US" sz="1500" b="1" dirty="0">
                <a:solidFill>
                  <a:srgbClr val="F4A261"/>
                </a:solidFill>
                <a:latin typeface="Trebuchet MS" pitchFamily="34" charset="0"/>
                <a:ea typeface="Trebuchet MS" pitchFamily="34" charset="-122"/>
                <a:cs typeface="Trebuchet MS" pitchFamily="34" charset="-120"/>
              </a:rPr>
              <a:t>Why Data Cleaning is Required</a:t>
            </a:r>
            <a:endParaRPr lang="en-US" sz="1500" dirty="0"/>
          </a:p>
        </p:txBody>
      </p:sp>
      <p:sp>
        <p:nvSpPr>
          <p:cNvPr id="6" name="Shape 4"/>
          <p:cNvSpPr/>
          <p:nvPr/>
        </p:nvSpPr>
        <p:spPr>
          <a:xfrm>
            <a:off x="274320" y="1234440"/>
            <a:ext cx="4251960" cy="11430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7" name="Text 5"/>
          <p:cNvSpPr/>
          <p:nvPr/>
        </p:nvSpPr>
        <p:spPr>
          <a:xfrm>
            <a:off x="347472" y="1307592"/>
            <a:ext cx="548640" cy="5486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914400" y="1307592"/>
            <a:ext cx="352044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Missing Values</a:t>
            </a:r>
            <a:endParaRPr lang="en-US" sz="1300" dirty="0"/>
          </a:p>
        </p:txBody>
      </p:sp>
      <p:sp>
        <p:nvSpPr>
          <p:cNvPr id="9" name="Text 7"/>
          <p:cNvSpPr/>
          <p:nvPr/>
        </p:nvSpPr>
        <p:spPr>
          <a:xfrm>
            <a:off x="914400" y="1673352"/>
            <a:ext cx="35204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Several coins had null values for ATH/ATL dates and price change fields due to newly listed or illiquid tokens.</a:t>
            </a:r>
            <a:endParaRPr lang="en-US" sz="1000" dirty="0"/>
          </a:p>
        </p:txBody>
      </p:sp>
      <p:sp>
        <p:nvSpPr>
          <p:cNvPr id="10" name="Shape 8"/>
          <p:cNvSpPr/>
          <p:nvPr/>
        </p:nvSpPr>
        <p:spPr>
          <a:xfrm>
            <a:off x="4709160" y="1234440"/>
            <a:ext cx="4251960" cy="11430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1" name="Text 9"/>
          <p:cNvSpPr/>
          <p:nvPr/>
        </p:nvSpPr>
        <p:spPr>
          <a:xfrm>
            <a:off x="4782312" y="1307592"/>
            <a:ext cx="548640" cy="5486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5349240" y="1307592"/>
            <a:ext cx="352044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Duplicate Records</a:t>
            </a:r>
            <a:endParaRPr lang="en-US" sz="1300" dirty="0"/>
          </a:p>
        </p:txBody>
      </p:sp>
      <p:sp>
        <p:nvSpPr>
          <p:cNvPr id="13" name="Text 11"/>
          <p:cNvSpPr/>
          <p:nvPr/>
        </p:nvSpPr>
        <p:spPr>
          <a:xfrm>
            <a:off x="5349240" y="1673352"/>
            <a:ext cx="35204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API calls occasionally returned duplicate coin entries due to wrapped/staked token overlaps.</a:t>
            </a:r>
            <a:endParaRPr lang="en-US" sz="1000" dirty="0"/>
          </a:p>
        </p:txBody>
      </p:sp>
      <p:sp>
        <p:nvSpPr>
          <p:cNvPr id="14" name="Shape 12"/>
          <p:cNvSpPr/>
          <p:nvPr/>
        </p:nvSpPr>
        <p:spPr>
          <a:xfrm>
            <a:off x="274320" y="2560320"/>
            <a:ext cx="4251960" cy="11430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5" name="Text 13"/>
          <p:cNvSpPr/>
          <p:nvPr/>
        </p:nvSpPr>
        <p:spPr>
          <a:xfrm>
            <a:off x="347472" y="2633472"/>
            <a:ext cx="548640" cy="5486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914400" y="2633472"/>
            <a:ext cx="352044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Inconsistent Data Types</a:t>
            </a:r>
            <a:endParaRPr lang="en-US" sz="1300" dirty="0"/>
          </a:p>
        </p:txBody>
      </p:sp>
      <p:sp>
        <p:nvSpPr>
          <p:cNvPr id="17" name="Text 15"/>
          <p:cNvSpPr/>
          <p:nvPr/>
        </p:nvSpPr>
        <p:spPr>
          <a:xfrm>
            <a:off x="914400" y="2999232"/>
            <a:ext cx="35204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Date fields were ingested as string objects requiring conversion to proper date format for time-series analysis.</a:t>
            </a:r>
            <a:endParaRPr lang="en-US" sz="1000" dirty="0"/>
          </a:p>
        </p:txBody>
      </p:sp>
      <p:sp>
        <p:nvSpPr>
          <p:cNvPr id="18" name="Shape 16"/>
          <p:cNvSpPr/>
          <p:nvPr/>
        </p:nvSpPr>
        <p:spPr>
          <a:xfrm>
            <a:off x="4709160" y="2560320"/>
            <a:ext cx="4251960" cy="11430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9" name="Text 17"/>
          <p:cNvSpPr/>
          <p:nvPr/>
        </p:nvSpPr>
        <p:spPr>
          <a:xfrm>
            <a:off x="4782312" y="2633472"/>
            <a:ext cx="548640" cy="5486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5349240" y="2633472"/>
            <a:ext cx="352044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Outlier Prices</a:t>
            </a:r>
            <a:endParaRPr lang="en-US" sz="1300" dirty="0"/>
          </a:p>
        </p:txBody>
      </p:sp>
      <p:sp>
        <p:nvSpPr>
          <p:cNvPr id="21" name="Text 19"/>
          <p:cNvSpPr/>
          <p:nvPr/>
        </p:nvSpPr>
        <p:spPr>
          <a:xfrm>
            <a:off x="5349240" y="2999232"/>
            <a:ext cx="35204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Bitcoin's $82,932 price vs. micro-cap coins at $0.00001 creates scale issues requiring log transformation for charts.</a:t>
            </a:r>
            <a:endParaRPr lang="en-US" sz="1000" dirty="0"/>
          </a:p>
        </p:txBody>
      </p:sp>
      <p:sp>
        <p:nvSpPr>
          <p:cNvPr id="22" name="Shape 20"/>
          <p:cNvSpPr/>
          <p:nvPr/>
        </p:nvSpPr>
        <p:spPr>
          <a:xfrm>
            <a:off x="274320" y="3886200"/>
            <a:ext cx="4251960" cy="11430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3" name="Text 21"/>
          <p:cNvSpPr/>
          <p:nvPr/>
        </p:nvSpPr>
        <p:spPr>
          <a:xfrm>
            <a:off x="347472" y="3959352"/>
            <a:ext cx="548640" cy="5486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914400" y="3959352"/>
            <a:ext cx="352044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Naming Inconsistencies</a:t>
            </a:r>
            <a:endParaRPr lang="en-US" sz="1300" dirty="0"/>
          </a:p>
        </p:txBody>
      </p:sp>
      <p:sp>
        <p:nvSpPr>
          <p:cNvPr id="25" name="Text 23"/>
          <p:cNvSpPr/>
          <p:nvPr/>
        </p:nvSpPr>
        <p:spPr>
          <a:xfrm>
            <a:off x="914400" y="4325112"/>
            <a:ext cx="35204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Mixed cases and special characters in coin names required standardisation for accurate filtering.</a:t>
            </a:r>
            <a:endParaRPr lang="en-US" sz="1000" dirty="0"/>
          </a:p>
        </p:txBody>
      </p:sp>
      <p:sp>
        <p:nvSpPr>
          <p:cNvPr id="26" name="Shape 24"/>
          <p:cNvSpPr/>
          <p:nvPr/>
        </p:nvSpPr>
        <p:spPr>
          <a:xfrm>
            <a:off x="4709160" y="3886200"/>
            <a:ext cx="4251960" cy="11430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7" name="Text 25"/>
          <p:cNvSpPr/>
          <p:nvPr/>
        </p:nvSpPr>
        <p:spPr>
          <a:xfrm>
            <a:off x="4782312" y="3959352"/>
            <a:ext cx="548640" cy="5486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8" name="Text 26"/>
          <p:cNvSpPr/>
          <p:nvPr/>
        </p:nvSpPr>
        <p:spPr>
          <a:xfrm>
            <a:off x="5349240" y="3959352"/>
            <a:ext cx="352044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Currency Formatting</a:t>
            </a:r>
            <a:endParaRPr lang="en-US" sz="1300" dirty="0"/>
          </a:p>
        </p:txBody>
      </p:sp>
      <p:sp>
        <p:nvSpPr>
          <p:cNvPr id="29" name="Text 27"/>
          <p:cNvSpPr/>
          <p:nvPr/>
        </p:nvSpPr>
        <p:spPr>
          <a:xfrm>
            <a:off x="5349240" y="4325112"/>
            <a:ext cx="35204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Market cap values needed uniform formatting (B/T notation) for readability in KPI cards.</a:t>
            </a:r>
            <a:endParaRPr lang="en-US" sz="1000" dirty="0"/>
          </a:p>
        </p:txBody>
      </p:sp>
      <p:sp>
        <p:nvSpPr>
          <p:cNvPr id="30" name="Shape 28"/>
          <p:cNvSpPr/>
          <p:nvPr/>
        </p:nvSpPr>
        <p:spPr>
          <a:xfrm>
            <a:off x="274320" y="4800600"/>
            <a:ext cx="8595360" cy="164592"/>
          </a:xfrm>
          <a:prstGeom prst="rect">
            <a:avLst/>
          </a:prstGeom>
          <a:solidFill>
            <a:srgbClr val="0F3460"/>
          </a:solidFill>
          <a:ln w="12700">
            <a:solidFill>
              <a:srgbClr val="0F3460"/>
            </a:solidFill>
            <a:prstDash val="solid"/>
          </a:ln>
        </p:spPr>
      </p:sp>
      <p:sp>
        <p:nvSpPr>
          <p:cNvPr id="31" name="Text 29"/>
          <p:cNvSpPr/>
          <p:nvPr/>
        </p:nvSpPr>
        <p:spPr>
          <a:xfrm>
            <a:off x="457200" y="4809744"/>
            <a:ext cx="8229600" cy="146304"/>
          </a:xfrm>
          <a:prstGeom prst="rect">
            <a:avLst/>
          </a:prstGeom>
          <a:noFill/>
          <a:ln/>
        </p:spPr>
        <p:txBody>
          <a:bodyPr wrap="square" rtlCol="0" anchor="ctr"/>
          <a:lstStyle/>
          <a:p>
            <a:pPr marL="0" indent="0" algn="ctr">
              <a:buNone/>
            </a:pPr>
            <a:r>
              <a:rPr lang="en-US" sz="1000" i="1" dirty="0">
                <a:solidFill>
                  <a:srgbClr val="F4A261"/>
                </a:solidFill>
                <a:latin typeface="Calibri" pitchFamily="34" charset="0"/>
                <a:ea typeface="Calibri" pitchFamily="34" charset="-122"/>
                <a:cs typeface="Calibri" pitchFamily="34" charset="-120"/>
              </a:rPr>
              <a:t>⚠  Raw API data always requires validation before analysis. Clean data = trustworthy insights.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 CLEANING  —  STEP-BY-STEP PROCESS</a:t>
            </a:r>
            <a:endParaRPr lang="en-US" sz="2200" dirty="0"/>
          </a:p>
        </p:txBody>
      </p:sp>
      <p:sp>
        <p:nvSpPr>
          <p:cNvPr id="5" name="Shape 3"/>
          <p:cNvSpPr/>
          <p:nvPr/>
        </p:nvSpPr>
        <p:spPr>
          <a:xfrm>
            <a:off x="274320" y="713232"/>
            <a:ext cx="4251960" cy="196596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13232"/>
            <a:ext cx="4251960" cy="457200"/>
          </a:xfrm>
          <a:prstGeom prst="rect">
            <a:avLst/>
          </a:prstGeom>
          <a:solidFill>
            <a:srgbClr val="E63946"/>
          </a:solidFill>
          <a:ln w="12700">
            <a:solidFill>
              <a:srgbClr val="E63946"/>
            </a:solidFill>
            <a:prstDash val="solid"/>
          </a:ln>
        </p:spPr>
      </p:sp>
      <p:sp>
        <p:nvSpPr>
          <p:cNvPr id="7" name="Text 5"/>
          <p:cNvSpPr/>
          <p:nvPr/>
        </p:nvSpPr>
        <p:spPr>
          <a:xfrm>
            <a:off x="347472" y="768096"/>
            <a:ext cx="914400" cy="347472"/>
          </a:xfrm>
          <a:prstGeom prst="rect">
            <a:avLst/>
          </a:prstGeom>
          <a:noFill/>
          <a:ln/>
        </p:spPr>
        <p:txBody>
          <a:bodyPr wrap="square" rtlCol="0" anchor="ctr"/>
          <a:lstStyle/>
          <a:p>
            <a:pPr marL="0" indent="0" algn="l">
              <a:buNone/>
            </a:pPr>
            <a:r>
              <a:rPr lang="en-US" sz="1100" b="1" dirty="0">
                <a:solidFill>
                  <a:srgbClr val="0A1628"/>
                </a:solidFill>
                <a:latin typeface="Trebuchet MS" pitchFamily="34" charset="0"/>
                <a:ea typeface="Trebuchet MS" pitchFamily="34" charset="-122"/>
                <a:cs typeface="Trebuchet MS" pitchFamily="34" charset="-120"/>
              </a:rPr>
              <a:t>STEP 01</a:t>
            </a:r>
            <a:endParaRPr lang="en-US" sz="1100" dirty="0"/>
          </a:p>
        </p:txBody>
      </p:sp>
      <p:sp>
        <p:nvSpPr>
          <p:cNvPr id="8" name="Text 6"/>
          <p:cNvSpPr/>
          <p:nvPr/>
        </p:nvSpPr>
        <p:spPr>
          <a:xfrm>
            <a:off x="1280160" y="768096"/>
            <a:ext cx="3182112" cy="347472"/>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Handle Missing Values</a:t>
            </a:r>
            <a:endParaRPr lang="en-US" sz="1200" dirty="0"/>
          </a:p>
        </p:txBody>
      </p:sp>
      <p:sp>
        <p:nvSpPr>
          <p:cNvPr id="9" name="Text 7"/>
          <p:cNvSpPr/>
          <p:nvPr/>
        </p:nvSpPr>
        <p:spPr>
          <a:xfrm>
            <a:off x="411480" y="1243584"/>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Identified 8 coins with null ATH/ATL dates</a:t>
            </a:r>
            <a:endParaRPr lang="en-US" sz="1000" dirty="0"/>
          </a:p>
        </p:txBody>
      </p:sp>
      <p:sp>
        <p:nvSpPr>
          <p:cNvPr id="10" name="Text 8"/>
          <p:cNvSpPr/>
          <p:nvPr/>
        </p:nvSpPr>
        <p:spPr>
          <a:xfrm>
            <a:off x="411480" y="1591056"/>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Applied mean imputation for numeric price fields</a:t>
            </a:r>
            <a:endParaRPr lang="en-US" sz="1000" dirty="0"/>
          </a:p>
        </p:txBody>
      </p:sp>
      <p:sp>
        <p:nvSpPr>
          <p:cNvPr id="11" name="Text 9"/>
          <p:cNvSpPr/>
          <p:nvPr/>
        </p:nvSpPr>
        <p:spPr>
          <a:xfrm>
            <a:off x="411480" y="1938528"/>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Flagged newly-listed coins with N/A date markers</a:t>
            </a:r>
            <a:endParaRPr lang="en-US" sz="1000" dirty="0"/>
          </a:p>
        </p:txBody>
      </p:sp>
      <p:sp>
        <p:nvSpPr>
          <p:cNvPr id="12" name="Text 10"/>
          <p:cNvSpPr/>
          <p:nvPr/>
        </p:nvSpPr>
        <p:spPr>
          <a:xfrm>
            <a:off x="411480" y="2286000"/>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Used Power Query 'Replace Errors' for blank cells</a:t>
            </a:r>
            <a:endParaRPr lang="en-US" sz="1000" dirty="0"/>
          </a:p>
        </p:txBody>
      </p:sp>
      <p:sp>
        <p:nvSpPr>
          <p:cNvPr id="13" name="Shape 11"/>
          <p:cNvSpPr/>
          <p:nvPr/>
        </p:nvSpPr>
        <p:spPr>
          <a:xfrm>
            <a:off x="4709160" y="713232"/>
            <a:ext cx="4251960" cy="196596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4" name="Shape 12"/>
          <p:cNvSpPr/>
          <p:nvPr/>
        </p:nvSpPr>
        <p:spPr>
          <a:xfrm>
            <a:off x="4709160" y="713232"/>
            <a:ext cx="4251960" cy="457200"/>
          </a:xfrm>
          <a:prstGeom prst="rect">
            <a:avLst/>
          </a:prstGeom>
          <a:solidFill>
            <a:srgbClr val="F4A261"/>
          </a:solidFill>
          <a:ln w="12700">
            <a:solidFill>
              <a:srgbClr val="F4A261"/>
            </a:solidFill>
            <a:prstDash val="solid"/>
          </a:ln>
        </p:spPr>
      </p:sp>
      <p:sp>
        <p:nvSpPr>
          <p:cNvPr id="15" name="Text 13"/>
          <p:cNvSpPr/>
          <p:nvPr/>
        </p:nvSpPr>
        <p:spPr>
          <a:xfrm>
            <a:off x="4782312" y="768096"/>
            <a:ext cx="914400" cy="347472"/>
          </a:xfrm>
          <a:prstGeom prst="rect">
            <a:avLst/>
          </a:prstGeom>
          <a:noFill/>
          <a:ln/>
        </p:spPr>
        <p:txBody>
          <a:bodyPr wrap="square" rtlCol="0" anchor="ctr"/>
          <a:lstStyle/>
          <a:p>
            <a:pPr marL="0" indent="0" algn="l">
              <a:buNone/>
            </a:pPr>
            <a:r>
              <a:rPr lang="en-US" sz="1100" b="1" dirty="0">
                <a:solidFill>
                  <a:srgbClr val="0A1628"/>
                </a:solidFill>
                <a:latin typeface="Trebuchet MS" pitchFamily="34" charset="0"/>
                <a:ea typeface="Trebuchet MS" pitchFamily="34" charset="-122"/>
                <a:cs typeface="Trebuchet MS" pitchFamily="34" charset="-120"/>
              </a:rPr>
              <a:t>STEP 02</a:t>
            </a:r>
            <a:endParaRPr lang="en-US" sz="1100" dirty="0"/>
          </a:p>
        </p:txBody>
      </p:sp>
      <p:sp>
        <p:nvSpPr>
          <p:cNvPr id="16" name="Text 14"/>
          <p:cNvSpPr/>
          <p:nvPr/>
        </p:nvSpPr>
        <p:spPr>
          <a:xfrm>
            <a:off x="5715000" y="768096"/>
            <a:ext cx="3182112" cy="347472"/>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Remove Duplicates</a:t>
            </a:r>
            <a:endParaRPr lang="en-US" sz="1200" dirty="0"/>
          </a:p>
        </p:txBody>
      </p:sp>
      <p:sp>
        <p:nvSpPr>
          <p:cNvPr id="17" name="Text 15"/>
          <p:cNvSpPr/>
          <p:nvPr/>
        </p:nvSpPr>
        <p:spPr>
          <a:xfrm>
            <a:off x="4846320" y="1243584"/>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Found 3 duplicate rows (wrapped token overlaps)</a:t>
            </a:r>
            <a:endParaRPr lang="en-US" sz="1000" dirty="0"/>
          </a:p>
        </p:txBody>
      </p:sp>
      <p:sp>
        <p:nvSpPr>
          <p:cNvPr id="18" name="Text 16"/>
          <p:cNvSpPr/>
          <p:nvPr/>
        </p:nvSpPr>
        <p:spPr>
          <a:xfrm>
            <a:off x="4846320" y="1591056"/>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Deduplicated using Coin ID as unique identifier</a:t>
            </a:r>
            <a:endParaRPr lang="en-US" sz="1000" dirty="0"/>
          </a:p>
        </p:txBody>
      </p:sp>
      <p:sp>
        <p:nvSpPr>
          <p:cNvPr id="19" name="Text 17"/>
          <p:cNvSpPr/>
          <p:nvPr/>
        </p:nvSpPr>
        <p:spPr>
          <a:xfrm>
            <a:off x="4846320" y="1938528"/>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Verified market cap rank uniqueness post-dedup</a:t>
            </a:r>
            <a:endParaRPr lang="en-US" sz="1000" dirty="0"/>
          </a:p>
        </p:txBody>
      </p:sp>
      <p:sp>
        <p:nvSpPr>
          <p:cNvPr id="20" name="Text 18"/>
          <p:cNvSpPr/>
          <p:nvPr/>
        </p:nvSpPr>
        <p:spPr>
          <a:xfrm>
            <a:off x="4846320" y="2286000"/>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Result: Clean 100-row dataset confirmed</a:t>
            </a:r>
            <a:endParaRPr lang="en-US" sz="1000" dirty="0"/>
          </a:p>
        </p:txBody>
      </p:sp>
      <p:sp>
        <p:nvSpPr>
          <p:cNvPr id="21" name="Shape 19"/>
          <p:cNvSpPr/>
          <p:nvPr/>
        </p:nvSpPr>
        <p:spPr>
          <a:xfrm>
            <a:off x="274320" y="2907792"/>
            <a:ext cx="4251960" cy="196596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2" name="Shape 20"/>
          <p:cNvSpPr/>
          <p:nvPr/>
        </p:nvSpPr>
        <p:spPr>
          <a:xfrm>
            <a:off x="274320" y="2907792"/>
            <a:ext cx="4251960" cy="457200"/>
          </a:xfrm>
          <a:prstGeom prst="rect">
            <a:avLst/>
          </a:prstGeom>
          <a:solidFill>
            <a:srgbClr val="00C9A7"/>
          </a:solidFill>
          <a:ln w="12700">
            <a:solidFill>
              <a:srgbClr val="00C9A7"/>
            </a:solidFill>
            <a:prstDash val="solid"/>
          </a:ln>
        </p:spPr>
      </p:sp>
      <p:sp>
        <p:nvSpPr>
          <p:cNvPr id="23" name="Text 21"/>
          <p:cNvSpPr/>
          <p:nvPr/>
        </p:nvSpPr>
        <p:spPr>
          <a:xfrm>
            <a:off x="347472" y="2962656"/>
            <a:ext cx="914400" cy="347472"/>
          </a:xfrm>
          <a:prstGeom prst="rect">
            <a:avLst/>
          </a:prstGeom>
          <a:noFill/>
          <a:ln/>
        </p:spPr>
        <p:txBody>
          <a:bodyPr wrap="square" rtlCol="0" anchor="ctr"/>
          <a:lstStyle/>
          <a:p>
            <a:pPr marL="0" indent="0" algn="l">
              <a:buNone/>
            </a:pPr>
            <a:r>
              <a:rPr lang="en-US" sz="1100" b="1" dirty="0">
                <a:solidFill>
                  <a:srgbClr val="0A1628"/>
                </a:solidFill>
                <a:latin typeface="Trebuchet MS" pitchFamily="34" charset="0"/>
                <a:ea typeface="Trebuchet MS" pitchFamily="34" charset="-122"/>
                <a:cs typeface="Trebuchet MS" pitchFamily="34" charset="-120"/>
              </a:rPr>
              <a:t>STEP 03</a:t>
            </a:r>
            <a:endParaRPr lang="en-US" sz="1100" dirty="0"/>
          </a:p>
        </p:txBody>
      </p:sp>
      <p:sp>
        <p:nvSpPr>
          <p:cNvPr id="24" name="Text 22"/>
          <p:cNvSpPr/>
          <p:nvPr/>
        </p:nvSpPr>
        <p:spPr>
          <a:xfrm>
            <a:off x="1280160" y="2962656"/>
            <a:ext cx="3182112" cy="347472"/>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Data Type Corrections</a:t>
            </a:r>
            <a:endParaRPr lang="en-US" sz="1200" dirty="0"/>
          </a:p>
        </p:txBody>
      </p:sp>
      <p:sp>
        <p:nvSpPr>
          <p:cNvPr id="25" name="Text 23"/>
          <p:cNvSpPr/>
          <p:nvPr/>
        </p:nvSpPr>
        <p:spPr>
          <a:xfrm>
            <a:off x="411480" y="3438144"/>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Converted ath_date / atl_date from Text → Date</a:t>
            </a:r>
            <a:endParaRPr lang="en-US" sz="1000" dirty="0"/>
          </a:p>
        </p:txBody>
      </p:sp>
      <p:sp>
        <p:nvSpPr>
          <p:cNvPr id="26" name="Text 24"/>
          <p:cNvSpPr/>
          <p:nvPr/>
        </p:nvSpPr>
        <p:spPr>
          <a:xfrm>
            <a:off x="411480" y="3785616"/>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Cast current_price and market_cap as Decimal</a:t>
            </a:r>
            <a:endParaRPr lang="en-US" sz="1000" dirty="0"/>
          </a:p>
        </p:txBody>
      </p:sp>
      <p:sp>
        <p:nvSpPr>
          <p:cNvPr id="27" name="Text 25"/>
          <p:cNvSpPr/>
          <p:nvPr/>
        </p:nvSpPr>
        <p:spPr>
          <a:xfrm>
            <a:off x="411480" y="4133088"/>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Set market_cap_rank as Integer type</a:t>
            </a:r>
            <a:endParaRPr lang="en-US" sz="1000" dirty="0"/>
          </a:p>
        </p:txBody>
      </p:sp>
      <p:sp>
        <p:nvSpPr>
          <p:cNvPr id="28" name="Text 26"/>
          <p:cNvSpPr/>
          <p:nvPr/>
        </p:nvSpPr>
        <p:spPr>
          <a:xfrm>
            <a:off x="411480" y="4480560"/>
            <a:ext cx="3977640" cy="329184"/>
          </a:xfrm>
          <a:prstGeom prst="rect">
            <a:avLst/>
          </a:prstGeom>
          <a:noFill/>
          <a:ln/>
        </p:spPr>
        <p:txBody>
          <a:bodyPr wrap="square" rtlCol="0" anchor="ctr"/>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Applied locale-aware decimal separator rules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 TRANSFORMATION  —  ENRICHING THE DATASET</a:t>
            </a:r>
            <a:endParaRPr lang="en-US" sz="2200" dirty="0"/>
          </a:p>
        </p:txBody>
      </p:sp>
      <p:sp>
        <p:nvSpPr>
          <p:cNvPr id="5" name="Shape 3"/>
          <p:cNvSpPr/>
          <p:nvPr/>
        </p:nvSpPr>
        <p:spPr>
          <a:xfrm>
            <a:off x="228600" y="685800"/>
            <a:ext cx="4251960" cy="2011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28600" y="685800"/>
            <a:ext cx="548640" cy="2011680"/>
          </a:xfrm>
          <a:prstGeom prst="rect">
            <a:avLst/>
          </a:prstGeom>
          <a:solidFill>
            <a:srgbClr val="F4A261"/>
          </a:solidFill>
          <a:ln w="12700">
            <a:solidFill>
              <a:srgbClr val="F4A261"/>
            </a:solidFill>
            <a:prstDash val="solid"/>
          </a:ln>
        </p:spPr>
      </p:sp>
      <p:sp>
        <p:nvSpPr>
          <p:cNvPr id="7" name="Text 5"/>
          <p:cNvSpPr/>
          <p:nvPr/>
        </p:nvSpPr>
        <p:spPr>
          <a:xfrm>
            <a:off x="246888" y="1325880"/>
            <a:ext cx="512064"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886968" y="777240"/>
            <a:ext cx="3520440" cy="384048"/>
          </a:xfrm>
          <a:prstGeom prst="rect">
            <a:avLst/>
          </a:prstGeom>
          <a:noFill/>
          <a:ln/>
        </p:spPr>
        <p:txBody>
          <a:bodyPr wrap="square"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New Calculated Columns</a:t>
            </a:r>
            <a:endParaRPr lang="en-US" sz="1300" dirty="0"/>
          </a:p>
        </p:txBody>
      </p:sp>
      <p:sp>
        <p:nvSpPr>
          <p:cNvPr id="9" name="Text 7"/>
          <p:cNvSpPr/>
          <p:nvPr/>
        </p:nvSpPr>
        <p:spPr>
          <a:xfrm>
            <a:off x="886968" y="1216152"/>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ATH Year = YEAR(ath_date) — enables time-series ATH trend charts</a:t>
            </a:r>
            <a:endParaRPr lang="en-US" sz="950" dirty="0"/>
          </a:p>
        </p:txBody>
      </p:sp>
      <p:sp>
        <p:nvSpPr>
          <p:cNvPr id="10" name="Text 8"/>
          <p:cNvSpPr/>
          <p:nvPr/>
        </p:nvSpPr>
        <p:spPr>
          <a:xfrm>
            <a:off x="886968" y="1563624"/>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ATL Year = YEAR(atl_date) — for bottom-price trend analysis</a:t>
            </a:r>
            <a:endParaRPr lang="en-US" sz="950" dirty="0"/>
          </a:p>
        </p:txBody>
      </p:sp>
      <p:sp>
        <p:nvSpPr>
          <p:cNvPr id="11" name="Text 9"/>
          <p:cNvSpPr/>
          <p:nvPr/>
        </p:nvSpPr>
        <p:spPr>
          <a:xfrm>
            <a:off x="886968" y="1911096"/>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Price Category = IF(current_price &gt; 1000, 'High', IF(current_price &gt; 1, 'Mid', 'Micro'))</a:t>
            </a:r>
            <a:endParaRPr lang="en-US" sz="950" dirty="0"/>
          </a:p>
        </p:txBody>
      </p:sp>
      <p:sp>
        <p:nvSpPr>
          <p:cNvPr id="12" name="Text 10"/>
          <p:cNvSpPr/>
          <p:nvPr/>
        </p:nvSpPr>
        <p:spPr>
          <a:xfrm>
            <a:off x="886968" y="2258568"/>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Market Tier = SWITCH(rank, 1-10:'Large Cap', 11-50:'Mid Cap', 51-100:'Small Cap')</a:t>
            </a:r>
            <a:endParaRPr lang="en-US" sz="950" dirty="0"/>
          </a:p>
        </p:txBody>
      </p:sp>
      <p:sp>
        <p:nvSpPr>
          <p:cNvPr id="13" name="Shape 11"/>
          <p:cNvSpPr/>
          <p:nvPr/>
        </p:nvSpPr>
        <p:spPr>
          <a:xfrm>
            <a:off x="4690872" y="685800"/>
            <a:ext cx="4251960" cy="2011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4" name="Shape 12"/>
          <p:cNvSpPr/>
          <p:nvPr/>
        </p:nvSpPr>
        <p:spPr>
          <a:xfrm>
            <a:off x="4690872" y="685800"/>
            <a:ext cx="548640" cy="2011680"/>
          </a:xfrm>
          <a:prstGeom prst="rect">
            <a:avLst/>
          </a:prstGeom>
          <a:solidFill>
            <a:srgbClr val="00C9A7"/>
          </a:solidFill>
          <a:ln w="12700">
            <a:solidFill>
              <a:srgbClr val="00C9A7"/>
            </a:solidFill>
            <a:prstDash val="solid"/>
          </a:ln>
        </p:spPr>
      </p:sp>
      <p:sp>
        <p:nvSpPr>
          <p:cNvPr id="15" name="Text 13"/>
          <p:cNvSpPr/>
          <p:nvPr/>
        </p:nvSpPr>
        <p:spPr>
          <a:xfrm>
            <a:off x="4709160" y="1325880"/>
            <a:ext cx="512064"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5349240" y="777240"/>
            <a:ext cx="3520440" cy="384048"/>
          </a:xfrm>
          <a:prstGeom prst="rect">
            <a:avLst/>
          </a:prstGeom>
          <a:noFill/>
          <a:ln/>
        </p:spPr>
        <p:txBody>
          <a:bodyPr wrap="square" rtlCol="0" anchor="ctr"/>
          <a:lstStyle/>
          <a:p>
            <a:pPr marL="0" indent="0">
              <a:buNone/>
            </a:pPr>
            <a:r>
              <a:rPr lang="en-US" sz="1300" b="1" dirty="0">
                <a:solidFill>
                  <a:srgbClr val="00C9A7"/>
                </a:solidFill>
                <a:latin typeface="Trebuchet MS" pitchFamily="34" charset="0"/>
                <a:ea typeface="Trebuchet MS" pitchFamily="34" charset="-122"/>
                <a:cs typeface="Trebuchet MS" pitchFamily="34" charset="-120"/>
              </a:rPr>
              <a:t>DAX Measures (Power BI)</a:t>
            </a:r>
            <a:endParaRPr lang="en-US" sz="1300" dirty="0"/>
          </a:p>
        </p:txBody>
      </p:sp>
      <p:sp>
        <p:nvSpPr>
          <p:cNvPr id="17" name="Text 15"/>
          <p:cNvSpPr/>
          <p:nvPr/>
        </p:nvSpPr>
        <p:spPr>
          <a:xfrm>
            <a:off x="5349240" y="1216152"/>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Total Market Cap = SUM(market_cap) → displayed as $3T in KPI card</a:t>
            </a:r>
            <a:endParaRPr lang="en-US" sz="950" dirty="0"/>
          </a:p>
        </p:txBody>
      </p:sp>
      <p:sp>
        <p:nvSpPr>
          <p:cNvPr id="18" name="Text 16"/>
          <p:cNvSpPr/>
          <p:nvPr/>
        </p:nvSpPr>
        <p:spPr>
          <a:xfrm>
            <a:off x="5349240" y="1563624"/>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Avg Price Change 24h = AVERAGE(price_change_percentage_24h_in_currency)</a:t>
            </a:r>
            <a:endParaRPr lang="en-US" sz="950" dirty="0"/>
          </a:p>
        </p:txBody>
      </p:sp>
      <p:sp>
        <p:nvSpPr>
          <p:cNvPr id="19" name="Text 17"/>
          <p:cNvSpPr/>
          <p:nvPr/>
        </p:nvSpPr>
        <p:spPr>
          <a:xfrm>
            <a:off x="5349240" y="1911096"/>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Coin Count = COUNTROWS(crypto_table) → 100 coins confirmed</a:t>
            </a:r>
            <a:endParaRPr lang="en-US" sz="950" dirty="0"/>
          </a:p>
        </p:txBody>
      </p:sp>
      <p:sp>
        <p:nvSpPr>
          <p:cNvPr id="20" name="Text 18"/>
          <p:cNvSpPr/>
          <p:nvPr/>
        </p:nvSpPr>
        <p:spPr>
          <a:xfrm>
            <a:off x="5349240" y="2258568"/>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Max Current Price = MAX(current_price) → $453.8K (Bitcoin Ecosystem peak)</a:t>
            </a:r>
            <a:endParaRPr lang="en-US" sz="950" dirty="0"/>
          </a:p>
        </p:txBody>
      </p:sp>
      <p:sp>
        <p:nvSpPr>
          <p:cNvPr id="21" name="Shape 19"/>
          <p:cNvSpPr/>
          <p:nvPr/>
        </p:nvSpPr>
        <p:spPr>
          <a:xfrm>
            <a:off x="228600" y="2926080"/>
            <a:ext cx="4251960" cy="2011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2" name="Shape 20"/>
          <p:cNvSpPr/>
          <p:nvPr/>
        </p:nvSpPr>
        <p:spPr>
          <a:xfrm>
            <a:off x="228600" y="2926080"/>
            <a:ext cx="548640" cy="2011680"/>
          </a:xfrm>
          <a:prstGeom prst="rect">
            <a:avLst/>
          </a:prstGeom>
          <a:solidFill>
            <a:srgbClr val="FFB703"/>
          </a:solidFill>
          <a:ln w="12700">
            <a:solidFill>
              <a:srgbClr val="FFB703"/>
            </a:solidFill>
            <a:prstDash val="solid"/>
          </a:ln>
        </p:spPr>
      </p:sp>
      <p:sp>
        <p:nvSpPr>
          <p:cNvPr id="23" name="Text 21"/>
          <p:cNvSpPr/>
          <p:nvPr/>
        </p:nvSpPr>
        <p:spPr>
          <a:xfrm>
            <a:off x="246888" y="3566160"/>
            <a:ext cx="512064"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886968" y="3017520"/>
            <a:ext cx="3520440" cy="384048"/>
          </a:xfrm>
          <a:prstGeom prst="rect">
            <a:avLst/>
          </a:prstGeom>
          <a:noFill/>
          <a:ln/>
        </p:spPr>
        <p:txBody>
          <a:bodyPr wrap="square" rtlCol="0" anchor="ctr"/>
          <a:lstStyle/>
          <a:p>
            <a:pPr marL="0" indent="0">
              <a:buNone/>
            </a:pPr>
            <a:r>
              <a:rPr lang="en-US" sz="1300" b="1" dirty="0">
                <a:solidFill>
                  <a:srgbClr val="FFB703"/>
                </a:solidFill>
                <a:latin typeface="Trebuchet MS" pitchFamily="34" charset="0"/>
                <a:ea typeface="Trebuchet MS" pitchFamily="34" charset="-122"/>
                <a:cs typeface="Trebuchet MS" pitchFamily="34" charset="-120"/>
              </a:rPr>
              <a:t>Aggregations Applied</a:t>
            </a:r>
            <a:endParaRPr lang="en-US" sz="1300" dirty="0"/>
          </a:p>
        </p:txBody>
      </p:sp>
      <p:sp>
        <p:nvSpPr>
          <p:cNvPr id="25" name="Text 23"/>
          <p:cNvSpPr/>
          <p:nvPr/>
        </p:nvSpPr>
        <p:spPr>
          <a:xfrm>
            <a:off x="886968" y="3456432"/>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Sum of ATH by crypto name — used in bar chart comparison</a:t>
            </a:r>
            <a:endParaRPr lang="en-US" sz="950" dirty="0"/>
          </a:p>
        </p:txBody>
      </p:sp>
      <p:sp>
        <p:nvSpPr>
          <p:cNvPr id="26" name="Text 24"/>
          <p:cNvSpPr/>
          <p:nvPr/>
        </p:nvSpPr>
        <p:spPr>
          <a:xfrm>
            <a:off x="886968" y="3803904"/>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Sum of ATL by crypto name — paired with ATH for min/max visual</a:t>
            </a:r>
            <a:endParaRPr lang="en-US" sz="950" dirty="0"/>
          </a:p>
        </p:txBody>
      </p:sp>
      <p:sp>
        <p:nvSpPr>
          <p:cNvPr id="27" name="Text 25"/>
          <p:cNvSpPr/>
          <p:nvPr/>
        </p:nvSpPr>
        <p:spPr>
          <a:xfrm>
            <a:off x="886968" y="4151376"/>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ATH by Year grouped — aggregated for line chart time-series</a:t>
            </a:r>
            <a:endParaRPr lang="en-US" sz="950" dirty="0"/>
          </a:p>
        </p:txBody>
      </p:sp>
      <p:sp>
        <p:nvSpPr>
          <p:cNvPr id="28" name="Text 26"/>
          <p:cNvSpPr/>
          <p:nvPr/>
        </p:nvSpPr>
        <p:spPr>
          <a:xfrm>
            <a:off x="886968" y="4498848"/>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Market Cap ranked sort — for overview table ordering</a:t>
            </a:r>
            <a:endParaRPr lang="en-US" sz="950" dirty="0"/>
          </a:p>
        </p:txBody>
      </p:sp>
      <p:sp>
        <p:nvSpPr>
          <p:cNvPr id="29" name="Shape 27"/>
          <p:cNvSpPr/>
          <p:nvPr/>
        </p:nvSpPr>
        <p:spPr>
          <a:xfrm>
            <a:off x="4690872" y="2926080"/>
            <a:ext cx="4251960" cy="2011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30" name="Shape 28"/>
          <p:cNvSpPr/>
          <p:nvPr/>
        </p:nvSpPr>
        <p:spPr>
          <a:xfrm>
            <a:off x="4690872" y="2926080"/>
            <a:ext cx="548640" cy="2011680"/>
          </a:xfrm>
          <a:prstGeom prst="rect">
            <a:avLst/>
          </a:prstGeom>
          <a:solidFill>
            <a:srgbClr val="E63946"/>
          </a:solidFill>
          <a:ln w="12700">
            <a:solidFill>
              <a:srgbClr val="E63946"/>
            </a:solidFill>
            <a:prstDash val="solid"/>
          </a:ln>
        </p:spPr>
      </p:sp>
      <p:sp>
        <p:nvSpPr>
          <p:cNvPr id="31" name="Text 29"/>
          <p:cNvSpPr/>
          <p:nvPr/>
        </p:nvSpPr>
        <p:spPr>
          <a:xfrm>
            <a:off x="4709160" y="3566160"/>
            <a:ext cx="512064"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2" name="Text 30"/>
          <p:cNvSpPr/>
          <p:nvPr/>
        </p:nvSpPr>
        <p:spPr>
          <a:xfrm>
            <a:off x="5349240" y="3017520"/>
            <a:ext cx="3520440" cy="384048"/>
          </a:xfrm>
          <a:prstGeom prst="rect">
            <a:avLst/>
          </a:prstGeom>
          <a:noFill/>
          <a:ln/>
        </p:spPr>
        <p:txBody>
          <a:bodyPr wrap="square" rtlCol="0" anchor="ctr"/>
          <a:lstStyle/>
          <a:p>
            <a:pPr marL="0" indent="0">
              <a:buNone/>
            </a:pPr>
            <a:r>
              <a:rPr lang="en-US" sz="1300" b="1" dirty="0">
                <a:solidFill>
                  <a:srgbClr val="E63946"/>
                </a:solidFill>
                <a:latin typeface="Trebuchet MS" pitchFamily="34" charset="0"/>
                <a:ea typeface="Trebuchet MS" pitchFamily="34" charset="-122"/>
                <a:cs typeface="Trebuchet MS" pitchFamily="34" charset="-120"/>
              </a:rPr>
              <a:t>Normalisation &amp; Formatting</a:t>
            </a:r>
            <a:endParaRPr lang="en-US" sz="1300" dirty="0"/>
          </a:p>
        </p:txBody>
      </p:sp>
      <p:sp>
        <p:nvSpPr>
          <p:cNvPr id="33" name="Text 31"/>
          <p:cNvSpPr/>
          <p:nvPr/>
        </p:nvSpPr>
        <p:spPr>
          <a:xfrm>
            <a:off x="5349240" y="3456432"/>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Market Cap displayed in B/T notation (e.g., $1.66T for Bitcoin)</a:t>
            </a:r>
            <a:endParaRPr lang="en-US" sz="950" dirty="0"/>
          </a:p>
        </p:txBody>
      </p:sp>
      <p:sp>
        <p:nvSpPr>
          <p:cNvPr id="34" name="Text 32"/>
          <p:cNvSpPr/>
          <p:nvPr/>
        </p:nvSpPr>
        <p:spPr>
          <a:xfrm>
            <a:off x="5349240" y="3803904"/>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Price formatted as $XX,XXX with K/M suffix for readability</a:t>
            </a:r>
            <a:endParaRPr lang="en-US" sz="950" dirty="0"/>
          </a:p>
        </p:txBody>
      </p:sp>
      <p:sp>
        <p:nvSpPr>
          <p:cNvPr id="35" name="Text 33"/>
          <p:cNvSpPr/>
          <p:nvPr/>
        </p:nvSpPr>
        <p:spPr>
          <a:xfrm>
            <a:off x="5349240" y="4151376"/>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Percentage fields rounded to 2 decimal places</a:t>
            </a:r>
            <a:endParaRPr lang="en-US" sz="950" dirty="0"/>
          </a:p>
        </p:txBody>
      </p:sp>
      <p:sp>
        <p:nvSpPr>
          <p:cNvPr id="36" name="Text 34"/>
          <p:cNvSpPr/>
          <p:nvPr/>
        </p:nvSpPr>
        <p:spPr>
          <a:xfrm>
            <a:off x="5349240" y="4498848"/>
            <a:ext cx="352044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 Date fields formatted as YYYY for year-level aggregation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TOOLS &amp; TECHNOLOGIES USED</a:t>
            </a:r>
            <a:endParaRPr lang="en-US" sz="2200" dirty="0"/>
          </a:p>
        </p:txBody>
      </p:sp>
      <p:sp>
        <p:nvSpPr>
          <p:cNvPr id="5" name="Shape 3"/>
          <p:cNvSpPr/>
          <p:nvPr/>
        </p:nvSpPr>
        <p:spPr>
          <a:xfrm>
            <a:off x="274320" y="713231"/>
            <a:ext cx="2788920" cy="2086239"/>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13232"/>
            <a:ext cx="2788920" cy="109728"/>
          </a:xfrm>
          <a:prstGeom prst="rect">
            <a:avLst/>
          </a:prstGeom>
          <a:solidFill>
            <a:srgbClr val="0F3460"/>
          </a:solidFill>
          <a:ln w="12700">
            <a:solidFill>
              <a:srgbClr val="0F3460"/>
            </a:solidFill>
            <a:prstDash val="solid"/>
          </a:ln>
        </p:spPr>
      </p:sp>
      <p:sp>
        <p:nvSpPr>
          <p:cNvPr id="7" name="Shape 5"/>
          <p:cNvSpPr/>
          <p:nvPr/>
        </p:nvSpPr>
        <p:spPr>
          <a:xfrm>
            <a:off x="1298448" y="877824"/>
            <a:ext cx="749808" cy="749808"/>
          </a:xfrm>
          <a:prstGeom prst="ellipse">
            <a:avLst/>
          </a:prstGeom>
          <a:solidFill>
            <a:srgbClr val="0F3460"/>
          </a:solidFill>
          <a:ln w="12700">
            <a:solidFill>
              <a:srgbClr val="0F3460"/>
            </a:solidFill>
            <a:prstDash val="solid"/>
          </a:ln>
        </p:spPr>
      </p:sp>
      <p:sp>
        <p:nvSpPr>
          <p:cNvPr id="8" name="Text 6"/>
          <p:cNvSpPr/>
          <p:nvPr/>
        </p:nvSpPr>
        <p:spPr>
          <a:xfrm>
            <a:off x="1298448" y="877824"/>
            <a:ext cx="749808"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347472" y="1719072"/>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Power BI Desktop</a:t>
            </a:r>
            <a:endParaRPr lang="en-US" sz="1200" dirty="0"/>
          </a:p>
        </p:txBody>
      </p:sp>
      <p:sp>
        <p:nvSpPr>
          <p:cNvPr id="10" name="Shape 8"/>
          <p:cNvSpPr/>
          <p:nvPr/>
        </p:nvSpPr>
        <p:spPr>
          <a:xfrm>
            <a:off x="822960" y="2084832"/>
            <a:ext cx="1691640" cy="201168"/>
          </a:xfrm>
          <a:prstGeom prst="rect">
            <a:avLst/>
          </a:prstGeom>
          <a:solidFill>
            <a:srgbClr val="0F3460"/>
          </a:solidFill>
          <a:ln w="12700">
            <a:solidFill>
              <a:srgbClr val="0F3460"/>
            </a:solidFill>
            <a:prstDash val="solid"/>
          </a:ln>
        </p:spPr>
      </p:sp>
      <p:sp>
        <p:nvSpPr>
          <p:cNvPr id="11" name="Text 9"/>
          <p:cNvSpPr/>
          <p:nvPr/>
        </p:nvSpPr>
        <p:spPr>
          <a:xfrm>
            <a:off x="822960" y="2084832"/>
            <a:ext cx="1691640" cy="201168"/>
          </a:xfrm>
          <a:prstGeom prst="rect">
            <a:avLst/>
          </a:prstGeom>
          <a:noFill/>
          <a:ln/>
        </p:spPr>
        <p:txBody>
          <a:bodyPr wrap="square"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Primary Tool</a:t>
            </a:r>
            <a:endParaRPr lang="en-US" sz="900" dirty="0"/>
          </a:p>
        </p:txBody>
      </p:sp>
      <p:sp>
        <p:nvSpPr>
          <p:cNvPr id="12" name="Text 10"/>
          <p:cNvSpPr/>
          <p:nvPr/>
        </p:nvSpPr>
        <p:spPr>
          <a:xfrm>
            <a:off x="347472" y="2417884"/>
            <a:ext cx="2633472"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Primary BI tool for data modelling, DAX calculations, visual design, and interactive dashboard creation. Used for all charts, KPI cards, and filters.</a:t>
            </a:r>
            <a:endParaRPr lang="en-US" sz="850" dirty="0"/>
          </a:p>
        </p:txBody>
      </p:sp>
      <p:sp>
        <p:nvSpPr>
          <p:cNvPr id="13" name="Shape 11"/>
          <p:cNvSpPr/>
          <p:nvPr/>
        </p:nvSpPr>
        <p:spPr>
          <a:xfrm>
            <a:off x="3218688" y="713232"/>
            <a:ext cx="2788920" cy="2086238"/>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4" name="Shape 12"/>
          <p:cNvSpPr/>
          <p:nvPr/>
        </p:nvSpPr>
        <p:spPr>
          <a:xfrm>
            <a:off x="3218688" y="713232"/>
            <a:ext cx="2788920" cy="109728"/>
          </a:xfrm>
          <a:prstGeom prst="rect">
            <a:avLst/>
          </a:prstGeom>
          <a:solidFill>
            <a:srgbClr val="0A4C2E"/>
          </a:solidFill>
          <a:ln w="12700">
            <a:solidFill>
              <a:srgbClr val="0A4C2E"/>
            </a:solidFill>
            <a:prstDash val="solid"/>
          </a:ln>
        </p:spPr>
      </p:sp>
      <p:sp>
        <p:nvSpPr>
          <p:cNvPr id="15" name="Shape 13"/>
          <p:cNvSpPr/>
          <p:nvPr/>
        </p:nvSpPr>
        <p:spPr>
          <a:xfrm>
            <a:off x="4242816" y="877824"/>
            <a:ext cx="749808" cy="749808"/>
          </a:xfrm>
          <a:prstGeom prst="ellipse">
            <a:avLst/>
          </a:prstGeom>
          <a:solidFill>
            <a:srgbClr val="0A4C2E"/>
          </a:solidFill>
          <a:ln w="12700">
            <a:solidFill>
              <a:srgbClr val="0A4C2E"/>
            </a:solidFill>
            <a:prstDash val="solid"/>
          </a:ln>
        </p:spPr>
      </p:sp>
      <p:sp>
        <p:nvSpPr>
          <p:cNvPr id="16" name="Text 14"/>
          <p:cNvSpPr/>
          <p:nvPr/>
        </p:nvSpPr>
        <p:spPr>
          <a:xfrm>
            <a:off x="4242816" y="877824"/>
            <a:ext cx="749808"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3291840" y="1719072"/>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CoinGecko API</a:t>
            </a:r>
            <a:endParaRPr lang="en-US" sz="1200" dirty="0"/>
          </a:p>
        </p:txBody>
      </p:sp>
      <p:sp>
        <p:nvSpPr>
          <p:cNvPr id="18" name="Shape 16"/>
          <p:cNvSpPr/>
          <p:nvPr/>
        </p:nvSpPr>
        <p:spPr>
          <a:xfrm>
            <a:off x="3767328" y="2084832"/>
            <a:ext cx="1691640" cy="201168"/>
          </a:xfrm>
          <a:prstGeom prst="rect">
            <a:avLst/>
          </a:prstGeom>
          <a:solidFill>
            <a:srgbClr val="0A4C2E"/>
          </a:solidFill>
          <a:ln w="12700">
            <a:solidFill>
              <a:srgbClr val="0A4C2E"/>
            </a:solidFill>
            <a:prstDash val="solid"/>
          </a:ln>
        </p:spPr>
      </p:sp>
      <p:sp>
        <p:nvSpPr>
          <p:cNvPr id="19" name="Text 17"/>
          <p:cNvSpPr/>
          <p:nvPr/>
        </p:nvSpPr>
        <p:spPr>
          <a:xfrm>
            <a:off x="3767328" y="2084832"/>
            <a:ext cx="1691640" cy="201168"/>
          </a:xfrm>
          <a:prstGeom prst="rect">
            <a:avLst/>
          </a:prstGeom>
          <a:noFill/>
          <a:ln/>
        </p:spPr>
        <p:txBody>
          <a:bodyPr wrap="square"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Data Source</a:t>
            </a:r>
            <a:endParaRPr lang="en-US" sz="900" dirty="0"/>
          </a:p>
        </p:txBody>
      </p:sp>
      <p:sp>
        <p:nvSpPr>
          <p:cNvPr id="20" name="Text 18"/>
          <p:cNvSpPr/>
          <p:nvPr/>
        </p:nvSpPr>
        <p:spPr>
          <a:xfrm>
            <a:off x="3300984" y="2417884"/>
            <a:ext cx="2633472"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RESTful API providing live and historical data for 100+ cryptocurrencies including price, market cap, ATH, ATL, and price change metrics.</a:t>
            </a:r>
            <a:endParaRPr lang="en-US" sz="850" dirty="0"/>
          </a:p>
        </p:txBody>
      </p:sp>
      <p:sp>
        <p:nvSpPr>
          <p:cNvPr id="21" name="Shape 19"/>
          <p:cNvSpPr/>
          <p:nvPr/>
        </p:nvSpPr>
        <p:spPr>
          <a:xfrm>
            <a:off x="6163056" y="713232"/>
            <a:ext cx="2788920" cy="2086238"/>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2" name="Shape 20"/>
          <p:cNvSpPr/>
          <p:nvPr/>
        </p:nvSpPr>
        <p:spPr>
          <a:xfrm>
            <a:off x="6163056" y="713232"/>
            <a:ext cx="2788920" cy="109728"/>
          </a:xfrm>
          <a:prstGeom prst="rect">
            <a:avLst/>
          </a:prstGeom>
          <a:solidFill>
            <a:srgbClr val="1A3A5C"/>
          </a:solidFill>
          <a:ln w="12700">
            <a:solidFill>
              <a:srgbClr val="1A3A5C"/>
            </a:solidFill>
            <a:prstDash val="solid"/>
          </a:ln>
        </p:spPr>
      </p:sp>
      <p:sp>
        <p:nvSpPr>
          <p:cNvPr id="23" name="Shape 21"/>
          <p:cNvSpPr/>
          <p:nvPr/>
        </p:nvSpPr>
        <p:spPr>
          <a:xfrm>
            <a:off x="7187184" y="877824"/>
            <a:ext cx="749808" cy="749808"/>
          </a:xfrm>
          <a:prstGeom prst="ellipse">
            <a:avLst/>
          </a:prstGeom>
          <a:solidFill>
            <a:srgbClr val="1A3A5C"/>
          </a:solidFill>
          <a:ln w="12700">
            <a:solidFill>
              <a:srgbClr val="1A3A5C"/>
            </a:solidFill>
            <a:prstDash val="solid"/>
          </a:ln>
        </p:spPr>
      </p:sp>
      <p:sp>
        <p:nvSpPr>
          <p:cNvPr id="24" name="Text 22"/>
          <p:cNvSpPr/>
          <p:nvPr/>
        </p:nvSpPr>
        <p:spPr>
          <a:xfrm>
            <a:off x="7187184" y="877824"/>
            <a:ext cx="749808"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5" name="Text 23"/>
          <p:cNvSpPr/>
          <p:nvPr/>
        </p:nvSpPr>
        <p:spPr>
          <a:xfrm>
            <a:off x="6236208" y="1719072"/>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Power Query (M)</a:t>
            </a:r>
            <a:endParaRPr lang="en-US" sz="1200" dirty="0"/>
          </a:p>
        </p:txBody>
      </p:sp>
      <p:sp>
        <p:nvSpPr>
          <p:cNvPr id="26" name="Shape 24"/>
          <p:cNvSpPr/>
          <p:nvPr/>
        </p:nvSpPr>
        <p:spPr>
          <a:xfrm>
            <a:off x="6711696" y="2084832"/>
            <a:ext cx="1691640" cy="201168"/>
          </a:xfrm>
          <a:prstGeom prst="rect">
            <a:avLst/>
          </a:prstGeom>
          <a:solidFill>
            <a:srgbClr val="1A3A5C"/>
          </a:solidFill>
          <a:ln w="12700">
            <a:solidFill>
              <a:srgbClr val="1A3A5C"/>
            </a:solidFill>
            <a:prstDash val="solid"/>
          </a:ln>
        </p:spPr>
      </p:sp>
      <p:sp>
        <p:nvSpPr>
          <p:cNvPr id="27" name="Text 25"/>
          <p:cNvSpPr/>
          <p:nvPr/>
        </p:nvSpPr>
        <p:spPr>
          <a:xfrm>
            <a:off x="6711696" y="2084832"/>
            <a:ext cx="1691640" cy="201168"/>
          </a:xfrm>
          <a:prstGeom prst="rect">
            <a:avLst/>
          </a:prstGeom>
          <a:noFill/>
          <a:ln/>
        </p:spPr>
        <p:txBody>
          <a:bodyPr wrap="square"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ETL / Transformation</a:t>
            </a:r>
            <a:endParaRPr lang="en-US" sz="900" dirty="0"/>
          </a:p>
        </p:txBody>
      </p:sp>
      <p:sp>
        <p:nvSpPr>
          <p:cNvPr id="28" name="Text 26"/>
          <p:cNvSpPr/>
          <p:nvPr/>
        </p:nvSpPr>
        <p:spPr>
          <a:xfrm>
            <a:off x="6236208" y="2413313"/>
            <a:ext cx="2633472"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Used for data ingestion, transformation pipeline, type conversions, null handling, and merging data tables within Power BI.</a:t>
            </a:r>
            <a:endParaRPr lang="en-US" sz="850" dirty="0"/>
          </a:p>
        </p:txBody>
      </p:sp>
      <p:sp>
        <p:nvSpPr>
          <p:cNvPr id="29" name="Shape 27"/>
          <p:cNvSpPr/>
          <p:nvPr/>
        </p:nvSpPr>
        <p:spPr>
          <a:xfrm>
            <a:off x="274320" y="3069570"/>
            <a:ext cx="2788920" cy="200992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30" name="Shape 28"/>
          <p:cNvSpPr/>
          <p:nvPr/>
        </p:nvSpPr>
        <p:spPr>
          <a:xfrm>
            <a:off x="274320" y="3069570"/>
            <a:ext cx="2788920" cy="109728"/>
          </a:xfrm>
          <a:prstGeom prst="rect">
            <a:avLst/>
          </a:prstGeom>
          <a:solidFill>
            <a:srgbClr val="4A1A6E"/>
          </a:solidFill>
          <a:ln w="12700">
            <a:solidFill>
              <a:srgbClr val="4A1A6E"/>
            </a:solidFill>
            <a:prstDash val="solid"/>
          </a:ln>
        </p:spPr>
      </p:sp>
      <p:sp>
        <p:nvSpPr>
          <p:cNvPr id="31" name="Shape 29"/>
          <p:cNvSpPr/>
          <p:nvPr/>
        </p:nvSpPr>
        <p:spPr>
          <a:xfrm>
            <a:off x="1298448" y="3234162"/>
            <a:ext cx="749808" cy="749808"/>
          </a:xfrm>
          <a:prstGeom prst="ellipse">
            <a:avLst/>
          </a:prstGeom>
          <a:solidFill>
            <a:srgbClr val="4A1A6E"/>
          </a:solidFill>
          <a:ln w="12700">
            <a:solidFill>
              <a:srgbClr val="4A1A6E"/>
            </a:solidFill>
            <a:prstDash val="solid"/>
          </a:ln>
        </p:spPr>
      </p:sp>
      <p:sp>
        <p:nvSpPr>
          <p:cNvPr id="32" name="Text 30"/>
          <p:cNvSpPr/>
          <p:nvPr/>
        </p:nvSpPr>
        <p:spPr>
          <a:xfrm>
            <a:off x="1298448" y="3234162"/>
            <a:ext cx="749808"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347472" y="4041648"/>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DAX Language</a:t>
            </a:r>
            <a:endParaRPr lang="en-US" sz="1200" dirty="0"/>
          </a:p>
        </p:txBody>
      </p:sp>
      <p:sp>
        <p:nvSpPr>
          <p:cNvPr id="34" name="Shape 32"/>
          <p:cNvSpPr/>
          <p:nvPr/>
        </p:nvSpPr>
        <p:spPr>
          <a:xfrm>
            <a:off x="822960" y="4441170"/>
            <a:ext cx="1691640" cy="201168"/>
          </a:xfrm>
          <a:prstGeom prst="rect">
            <a:avLst/>
          </a:prstGeom>
          <a:solidFill>
            <a:srgbClr val="4A1A6E"/>
          </a:solidFill>
          <a:ln w="12700">
            <a:solidFill>
              <a:srgbClr val="4A1A6E"/>
            </a:solidFill>
            <a:prstDash val="solid"/>
          </a:ln>
        </p:spPr>
      </p:sp>
      <p:sp>
        <p:nvSpPr>
          <p:cNvPr id="35" name="Text 33"/>
          <p:cNvSpPr/>
          <p:nvPr/>
        </p:nvSpPr>
        <p:spPr>
          <a:xfrm>
            <a:off x="822960" y="4428509"/>
            <a:ext cx="1691640" cy="201168"/>
          </a:xfrm>
          <a:prstGeom prst="rect">
            <a:avLst/>
          </a:prstGeom>
          <a:noFill/>
          <a:ln/>
        </p:spPr>
        <p:txBody>
          <a:bodyPr wrap="square"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Calculations</a:t>
            </a:r>
            <a:endParaRPr lang="en-US" sz="900" dirty="0"/>
          </a:p>
        </p:txBody>
      </p:sp>
      <p:sp>
        <p:nvSpPr>
          <p:cNvPr id="36" name="Text 34"/>
          <p:cNvSpPr/>
          <p:nvPr/>
        </p:nvSpPr>
        <p:spPr>
          <a:xfrm>
            <a:off x="356616" y="4739932"/>
            <a:ext cx="2633472"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Used to create calculated columns (ATH Year, Price Tier), measures (Total Market Cap, Coin Count), and dynamic KPI expressions.</a:t>
            </a:r>
            <a:endParaRPr lang="en-US" sz="850" dirty="0"/>
          </a:p>
        </p:txBody>
      </p:sp>
      <p:sp>
        <p:nvSpPr>
          <p:cNvPr id="37" name="Shape 35"/>
          <p:cNvSpPr/>
          <p:nvPr/>
        </p:nvSpPr>
        <p:spPr>
          <a:xfrm>
            <a:off x="3223260" y="3069570"/>
            <a:ext cx="2788920" cy="200992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txBody>
          <a:bodyPr/>
          <a:lstStyle/>
          <a:p>
            <a:endParaRPr lang="en-IN" dirty="0"/>
          </a:p>
        </p:txBody>
      </p:sp>
      <p:sp>
        <p:nvSpPr>
          <p:cNvPr id="38" name="Shape 36"/>
          <p:cNvSpPr/>
          <p:nvPr/>
        </p:nvSpPr>
        <p:spPr>
          <a:xfrm>
            <a:off x="3223260" y="3069570"/>
            <a:ext cx="2788920" cy="109728"/>
          </a:xfrm>
          <a:prstGeom prst="rect">
            <a:avLst/>
          </a:prstGeom>
          <a:solidFill>
            <a:srgbClr val="1A4A2A"/>
          </a:solidFill>
          <a:ln w="12700">
            <a:solidFill>
              <a:srgbClr val="1A4A2A"/>
            </a:solidFill>
            <a:prstDash val="solid"/>
          </a:ln>
        </p:spPr>
      </p:sp>
      <p:sp>
        <p:nvSpPr>
          <p:cNvPr id="39" name="Shape 37"/>
          <p:cNvSpPr/>
          <p:nvPr/>
        </p:nvSpPr>
        <p:spPr>
          <a:xfrm>
            <a:off x="4242816" y="3229239"/>
            <a:ext cx="749808" cy="749808"/>
          </a:xfrm>
          <a:prstGeom prst="ellipse">
            <a:avLst/>
          </a:prstGeom>
          <a:solidFill>
            <a:srgbClr val="1A4A2A"/>
          </a:solidFill>
          <a:ln w="12700">
            <a:solidFill>
              <a:srgbClr val="1A4A2A"/>
            </a:solidFill>
            <a:prstDash val="solid"/>
          </a:ln>
        </p:spPr>
      </p:sp>
      <p:sp>
        <p:nvSpPr>
          <p:cNvPr id="40" name="Text 38"/>
          <p:cNvSpPr/>
          <p:nvPr/>
        </p:nvSpPr>
        <p:spPr>
          <a:xfrm>
            <a:off x="4242816" y="3234162"/>
            <a:ext cx="749808"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1" name="Text 39"/>
          <p:cNvSpPr/>
          <p:nvPr/>
        </p:nvSpPr>
        <p:spPr>
          <a:xfrm>
            <a:off x="3300984" y="4049385"/>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Excel / CSV</a:t>
            </a:r>
            <a:endParaRPr lang="en-US" sz="1200" dirty="0"/>
          </a:p>
        </p:txBody>
      </p:sp>
      <p:sp>
        <p:nvSpPr>
          <p:cNvPr id="42" name="Shape 40"/>
          <p:cNvSpPr/>
          <p:nvPr/>
        </p:nvSpPr>
        <p:spPr>
          <a:xfrm>
            <a:off x="3771900" y="4441170"/>
            <a:ext cx="1691640" cy="201168"/>
          </a:xfrm>
          <a:prstGeom prst="rect">
            <a:avLst/>
          </a:prstGeom>
          <a:solidFill>
            <a:srgbClr val="1A4A2A"/>
          </a:solidFill>
          <a:ln w="12700">
            <a:solidFill>
              <a:srgbClr val="1A4A2A"/>
            </a:solidFill>
            <a:prstDash val="solid"/>
          </a:ln>
        </p:spPr>
      </p:sp>
      <p:sp>
        <p:nvSpPr>
          <p:cNvPr id="43" name="Text 41"/>
          <p:cNvSpPr/>
          <p:nvPr/>
        </p:nvSpPr>
        <p:spPr>
          <a:xfrm>
            <a:off x="3771900" y="4426926"/>
            <a:ext cx="1691640" cy="201168"/>
          </a:xfrm>
          <a:prstGeom prst="rect">
            <a:avLst/>
          </a:prstGeom>
          <a:noFill/>
          <a:ln/>
        </p:spPr>
        <p:txBody>
          <a:bodyPr wrap="square"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Validation</a:t>
            </a:r>
            <a:endParaRPr lang="en-US" sz="900" dirty="0"/>
          </a:p>
        </p:txBody>
      </p:sp>
      <p:sp>
        <p:nvSpPr>
          <p:cNvPr id="44" name="Text 42"/>
          <p:cNvSpPr/>
          <p:nvPr/>
        </p:nvSpPr>
        <p:spPr>
          <a:xfrm>
            <a:off x="3300984" y="4745559"/>
            <a:ext cx="2633472"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Intermediate data storage for cleaned exports. Used for initial data exploration, pivot tables, and validation of transformation outputs.</a:t>
            </a:r>
            <a:endParaRPr lang="en-US" sz="850" dirty="0"/>
          </a:p>
        </p:txBody>
      </p:sp>
      <p:sp>
        <p:nvSpPr>
          <p:cNvPr id="51" name="Text 49"/>
          <p:cNvSpPr/>
          <p:nvPr/>
        </p:nvSpPr>
        <p:spPr>
          <a:xfrm>
            <a:off x="6711696" y="4187952"/>
            <a:ext cx="1691640" cy="201168"/>
          </a:xfrm>
          <a:prstGeom prst="rect">
            <a:avLst/>
          </a:prstGeom>
          <a:noFill/>
          <a:ln/>
        </p:spPr>
        <p:txBody>
          <a:bodyPr wrap="square"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Publishing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BUSINESS QUESTIONS  —  KEY ANALYTICAL INQUIRIES</a:t>
            </a:r>
            <a:endParaRPr lang="en-US" sz="2200" dirty="0"/>
          </a:p>
        </p:txBody>
      </p:sp>
      <p:sp>
        <p:nvSpPr>
          <p:cNvPr id="5" name="Shape 3"/>
          <p:cNvSpPr/>
          <p:nvPr/>
        </p:nvSpPr>
        <p:spPr>
          <a:xfrm>
            <a:off x="274320" y="704088"/>
            <a:ext cx="8595360" cy="5303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04088"/>
            <a:ext cx="640080" cy="530352"/>
          </a:xfrm>
          <a:prstGeom prst="rect">
            <a:avLst/>
          </a:prstGeom>
          <a:solidFill>
            <a:srgbClr val="F4A261"/>
          </a:solidFill>
          <a:ln w="12700">
            <a:solidFill>
              <a:srgbClr val="F4A261"/>
            </a:solidFill>
            <a:prstDash val="solid"/>
          </a:ln>
        </p:spPr>
      </p:sp>
      <p:sp>
        <p:nvSpPr>
          <p:cNvPr id="7" name="Text 5"/>
          <p:cNvSpPr/>
          <p:nvPr/>
        </p:nvSpPr>
        <p:spPr>
          <a:xfrm>
            <a:off x="274320" y="704088"/>
            <a:ext cx="640080" cy="530352"/>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Q1</a:t>
            </a:r>
            <a:endParaRPr lang="en-US" sz="1400" dirty="0"/>
          </a:p>
        </p:txBody>
      </p:sp>
      <p:sp>
        <p:nvSpPr>
          <p:cNvPr id="8" name="Text 6"/>
          <p:cNvSpPr/>
          <p:nvPr/>
        </p:nvSpPr>
        <p:spPr>
          <a:xfrm>
            <a:off x="1005840" y="795528"/>
            <a:ext cx="77724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Which cryptocurrencies have the highest All-Time High values, and how do they compare to their All-Time Lows?</a:t>
            </a:r>
            <a:endParaRPr lang="en-US" sz="1100" dirty="0"/>
          </a:p>
        </p:txBody>
      </p:sp>
      <p:sp>
        <p:nvSpPr>
          <p:cNvPr id="9" name="Shape 7"/>
          <p:cNvSpPr/>
          <p:nvPr/>
        </p:nvSpPr>
        <p:spPr>
          <a:xfrm>
            <a:off x="274320" y="1316736"/>
            <a:ext cx="8595360" cy="5303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0" name="Shape 8"/>
          <p:cNvSpPr/>
          <p:nvPr/>
        </p:nvSpPr>
        <p:spPr>
          <a:xfrm>
            <a:off x="274320" y="1316736"/>
            <a:ext cx="640080" cy="530352"/>
          </a:xfrm>
          <a:prstGeom prst="rect">
            <a:avLst/>
          </a:prstGeom>
          <a:solidFill>
            <a:srgbClr val="00C9A7"/>
          </a:solidFill>
          <a:ln w="12700">
            <a:solidFill>
              <a:srgbClr val="00C9A7"/>
            </a:solidFill>
            <a:prstDash val="solid"/>
          </a:ln>
        </p:spPr>
      </p:sp>
      <p:sp>
        <p:nvSpPr>
          <p:cNvPr id="11" name="Text 9"/>
          <p:cNvSpPr/>
          <p:nvPr/>
        </p:nvSpPr>
        <p:spPr>
          <a:xfrm>
            <a:off x="274320" y="1316736"/>
            <a:ext cx="640080" cy="530352"/>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Q2</a:t>
            </a:r>
            <a:endParaRPr lang="en-US" sz="1400" dirty="0"/>
          </a:p>
        </p:txBody>
      </p:sp>
      <p:sp>
        <p:nvSpPr>
          <p:cNvPr id="12" name="Text 10"/>
          <p:cNvSpPr/>
          <p:nvPr/>
        </p:nvSpPr>
        <p:spPr>
          <a:xfrm>
            <a:off x="1005840" y="1408176"/>
            <a:ext cx="77724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What year did most cryptocurrencies reach their All-Time High, and does this correlate with bull market cycles?</a:t>
            </a:r>
            <a:endParaRPr lang="en-US" sz="1100" dirty="0"/>
          </a:p>
        </p:txBody>
      </p:sp>
      <p:sp>
        <p:nvSpPr>
          <p:cNvPr id="13" name="Shape 11"/>
          <p:cNvSpPr/>
          <p:nvPr/>
        </p:nvSpPr>
        <p:spPr>
          <a:xfrm>
            <a:off x="274320" y="1929384"/>
            <a:ext cx="8595360" cy="5303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4" name="Shape 12"/>
          <p:cNvSpPr/>
          <p:nvPr/>
        </p:nvSpPr>
        <p:spPr>
          <a:xfrm>
            <a:off x="274320" y="1929384"/>
            <a:ext cx="640080" cy="530352"/>
          </a:xfrm>
          <a:prstGeom prst="rect">
            <a:avLst/>
          </a:prstGeom>
          <a:solidFill>
            <a:srgbClr val="FFB703"/>
          </a:solidFill>
          <a:ln w="12700">
            <a:solidFill>
              <a:srgbClr val="FFB703"/>
            </a:solidFill>
            <a:prstDash val="solid"/>
          </a:ln>
        </p:spPr>
      </p:sp>
      <p:sp>
        <p:nvSpPr>
          <p:cNvPr id="15" name="Text 13"/>
          <p:cNvSpPr/>
          <p:nvPr/>
        </p:nvSpPr>
        <p:spPr>
          <a:xfrm>
            <a:off x="274320" y="1929384"/>
            <a:ext cx="640080" cy="530352"/>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Q3</a:t>
            </a:r>
            <a:endParaRPr lang="en-US" sz="1400" dirty="0"/>
          </a:p>
        </p:txBody>
      </p:sp>
      <p:sp>
        <p:nvSpPr>
          <p:cNvPr id="16" name="Text 14"/>
          <p:cNvSpPr/>
          <p:nvPr/>
        </p:nvSpPr>
        <p:spPr>
          <a:xfrm>
            <a:off x="1005840" y="2020824"/>
            <a:ext cx="77724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How do the top 10 cryptocurrencies by Market Cap compare in terms of 24-hour and 7-day price change percentages?</a:t>
            </a:r>
            <a:endParaRPr lang="en-US" sz="1100" dirty="0"/>
          </a:p>
        </p:txBody>
      </p:sp>
      <p:sp>
        <p:nvSpPr>
          <p:cNvPr id="17" name="Shape 15"/>
          <p:cNvSpPr/>
          <p:nvPr/>
        </p:nvSpPr>
        <p:spPr>
          <a:xfrm>
            <a:off x="274320" y="2542032"/>
            <a:ext cx="8595360" cy="5303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8" name="Shape 16"/>
          <p:cNvSpPr/>
          <p:nvPr/>
        </p:nvSpPr>
        <p:spPr>
          <a:xfrm>
            <a:off x="274320" y="2542032"/>
            <a:ext cx="640080" cy="530352"/>
          </a:xfrm>
          <a:prstGeom prst="rect">
            <a:avLst/>
          </a:prstGeom>
          <a:solidFill>
            <a:srgbClr val="E63946"/>
          </a:solidFill>
          <a:ln w="12700">
            <a:solidFill>
              <a:srgbClr val="E63946"/>
            </a:solidFill>
            <a:prstDash val="solid"/>
          </a:ln>
        </p:spPr>
      </p:sp>
      <p:sp>
        <p:nvSpPr>
          <p:cNvPr id="19" name="Text 17"/>
          <p:cNvSpPr/>
          <p:nvPr/>
        </p:nvSpPr>
        <p:spPr>
          <a:xfrm>
            <a:off x="274320" y="2542032"/>
            <a:ext cx="640080" cy="530352"/>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Q4</a:t>
            </a:r>
            <a:endParaRPr lang="en-US" sz="1400" dirty="0"/>
          </a:p>
        </p:txBody>
      </p:sp>
      <p:sp>
        <p:nvSpPr>
          <p:cNvPr id="20" name="Text 18"/>
          <p:cNvSpPr/>
          <p:nvPr/>
        </p:nvSpPr>
        <p:spPr>
          <a:xfrm>
            <a:off x="1005840" y="2633472"/>
            <a:ext cx="77724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What is the relationship between a coin's Market Cap Rank and its price volatility (short-term change %)?</a:t>
            </a:r>
            <a:endParaRPr lang="en-US" sz="1100" dirty="0"/>
          </a:p>
        </p:txBody>
      </p:sp>
      <p:sp>
        <p:nvSpPr>
          <p:cNvPr id="21" name="Shape 19"/>
          <p:cNvSpPr/>
          <p:nvPr/>
        </p:nvSpPr>
        <p:spPr>
          <a:xfrm>
            <a:off x="274320" y="3154680"/>
            <a:ext cx="8595360" cy="5303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2" name="Shape 20"/>
          <p:cNvSpPr/>
          <p:nvPr/>
        </p:nvSpPr>
        <p:spPr>
          <a:xfrm>
            <a:off x="274320" y="3154680"/>
            <a:ext cx="640080" cy="530352"/>
          </a:xfrm>
          <a:prstGeom prst="rect">
            <a:avLst/>
          </a:prstGeom>
          <a:solidFill>
            <a:srgbClr val="F4A261"/>
          </a:solidFill>
          <a:ln w="12700">
            <a:solidFill>
              <a:srgbClr val="F4A261"/>
            </a:solidFill>
            <a:prstDash val="solid"/>
          </a:ln>
        </p:spPr>
      </p:sp>
      <p:sp>
        <p:nvSpPr>
          <p:cNvPr id="23" name="Text 21"/>
          <p:cNvSpPr/>
          <p:nvPr/>
        </p:nvSpPr>
        <p:spPr>
          <a:xfrm>
            <a:off x="274320" y="3154680"/>
            <a:ext cx="640080" cy="530352"/>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Q5</a:t>
            </a:r>
            <a:endParaRPr lang="en-US" sz="1400" dirty="0"/>
          </a:p>
        </p:txBody>
      </p:sp>
      <p:sp>
        <p:nvSpPr>
          <p:cNvPr id="24" name="Text 22"/>
          <p:cNvSpPr/>
          <p:nvPr/>
        </p:nvSpPr>
        <p:spPr>
          <a:xfrm>
            <a:off x="1005840" y="3246120"/>
            <a:ext cx="77724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Which Wrapped or Staked token variants show the highest total ATH, and what does this suggest about DeFi adoption?</a:t>
            </a:r>
            <a:endParaRPr lang="en-US" sz="1100" dirty="0"/>
          </a:p>
        </p:txBody>
      </p:sp>
      <p:sp>
        <p:nvSpPr>
          <p:cNvPr id="25" name="Shape 23"/>
          <p:cNvSpPr/>
          <p:nvPr/>
        </p:nvSpPr>
        <p:spPr>
          <a:xfrm>
            <a:off x="274320" y="3767328"/>
            <a:ext cx="8595360" cy="5303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6" name="Shape 24"/>
          <p:cNvSpPr/>
          <p:nvPr/>
        </p:nvSpPr>
        <p:spPr>
          <a:xfrm>
            <a:off x="274320" y="3767328"/>
            <a:ext cx="640080" cy="530352"/>
          </a:xfrm>
          <a:prstGeom prst="rect">
            <a:avLst/>
          </a:prstGeom>
          <a:solidFill>
            <a:srgbClr val="00C9A7"/>
          </a:solidFill>
          <a:ln w="12700">
            <a:solidFill>
              <a:srgbClr val="00C9A7"/>
            </a:solidFill>
            <a:prstDash val="solid"/>
          </a:ln>
        </p:spPr>
      </p:sp>
      <p:sp>
        <p:nvSpPr>
          <p:cNvPr id="27" name="Text 25"/>
          <p:cNvSpPr/>
          <p:nvPr/>
        </p:nvSpPr>
        <p:spPr>
          <a:xfrm>
            <a:off x="274320" y="3767328"/>
            <a:ext cx="640080" cy="530352"/>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Q6</a:t>
            </a:r>
            <a:endParaRPr lang="en-US" sz="1400" dirty="0"/>
          </a:p>
        </p:txBody>
      </p:sp>
      <p:sp>
        <p:nvSpPr>
          <p:cNvPr id="28" name="Text 26"/>
          <p:cNvSpPr/>
          <p:nvPr/>
        </p:nvSpPr>
        <p:spPr>
          <a:xfrm>
            <a:off x="1005840" y="3858768"/>
            <a:ext cx="77724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How does Bitcoin's price trajectory (ATH by Year) compare to the broader altcoin market between 2014 and 2026?</a:t>
            </a:r>
            <a:endParaRPr lang="en-US" sz="1100" dirty="0"/>
          </a:p>
        </p:txBody>
      </p:sp>
      <p:sp>
        <p:nvSpPr>
          <p:cNvPr id="29" name="Shape 27"/>
          <p:cNvSpPr/>
          <p:nvPr/>
        </p:nvSpPr>
        <p:spPr>
          <a:xfrm>
            <a:off x="274320" y="4379976"/>
            <a:ext cx="8595360" cy="5303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30" name="Shape 28"/>
          <p:cNvSpPr/>
          <p:nvPr/>
        </p:nvSpPr>
        <p:spPr>
          <a:xfrm>
            <a:off x="274320" y="4379976"/>
            <a:ext cx="640080" cy="530352"/>
          </a:xfrm>
          <a:prstGeom prst="rect">
            <a:avLst/>
          </a:prstGeom>
          <a:solidFill>
            <a:srgbClr val="FFB703"/>
          </a:solidFill>
          <a:ln w="12700">
            <a:solidFill>
              <a:srgbClr val="FFB703"/>
            </a:solidFill>
            <a:prstDash val="solid"/>
          </a:ln>
        </p:spPr>
      </p:sp>
      <p:sp>
        <p:nvSpPr>
          <p:cNvPr id="31" name="Text 29"/>
          <p:cNvSpPr/>
          <p:nvPr/>
        </p:nvSpPr>
        <p:spPr>
          <a:xfrm>
            <a:off x="274320" y="4379976"/>
            <a:ext cx="640080" cy="530352"/>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Q7</a:t>
            </a:r>
            <a:endParaRPr lang="en-US" sz="1400" dirty="0"/>
          </a:p>
        </p:txBody>
      </p:sp>
      <p:sp>
        <p:nvSpPr>
          <p:cNvPr id="32" name="Text 30"/>
          <p:cNvSpPr/>
          <p:nvPr/>
        </p:nvSpPr>
        <p:spPr>
          <a:xfrm>
            <a:off x="1005840" y="4471416"/>
            <a:ext cx="7772400" cy="38404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What percentage of the total $3T market cap is held by the top 5 coins vs. the remaining 95?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EXPLORATORY DATA ANALYSIS  —  INITIAL OBSERVATIONS</a:t>
            </a:r>
            <a:endParaRPr lang="en-US" sz="2200" dirty="0"/>
          </a:p>
        </p:txBody>
      </p:sp>
      <p:sp>
        <p:nvSpPr>
          <p:cNvPr id="5" name="Shape 3"/>
          <p:cNvSpPr/>
          <p:nvPr/>
        </p:nvSpPr>
        <p:spPr>
          <a:xfrm>
            <a:off x="274320" y="71323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13232"/>
            <a:ext cx="201168" cy="1261872"/>
          </a:xfrm>
          <a:prstGeom prst="rect">
            <a:avLst/>
          </a:prstGeom>
          <a:solidFill>
            <a:srgbClr val="FFB703"/>
          </a:solidFill>
          <a:ln w="12700">
            <a:solidFill>
              <a:srgbClr val="FFB703"/>
            </a:solidFill>
            <a:prstDash val="solid"/>
          </a:ln>
        </p:spPr>
      </p:sp>
      <p:sp>
        <p:nvSpPr>
          <p:cNvPr id="7" name="Text 5"/>
          <p:cNvSpPr/>
          <p:nvPr/>
        </p:nvSpPr>
        <p:spPr>
          <a:xfrm>
            <a:off x="530352" y="758952"/>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1078992" y="804672"/>
            <a:ext cx="333756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Bitcoin Dominance</a:t>
            </a:r>
            <a:endParaRPr lang="en-US" sz="1200" dirty="0"/>
          </a:p>
        </p:txBody>
      </p:sp>
      <p:sp>
        <p:nvSpPr>
          <p:cNvPr id="9" name="Text 7"/>
          <p:cNvSpPr/>
          <p:nvPr/>
        </p:nvSpPr>
        <p:spPr>
          <a:xfrm>
            <a:off x="530352" y="1335024"/>
            <a:ext cx="388620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Bitcoin alone holds $1.66T of the $3T total market cap — over 55% of the entire market.</a:t>
            </a:r>
            <a:endParaRPr lang="en-US" sz="1000" dirty="0"/>
          </a:p>
        </p:txBody>
      </p:sp>
      <p:sp>
        <p:nvSpPr>
          <p:cNvPr id="10" name="Shape 8"/>
          <p:cNvSpPr/>
          <p:nvPr/>
        </p:nvSpPr>
        <p:spPr>
          <a:xfrm>
            <a:off x="4709160" y="71323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1" name="Shape 9"/>
          <p:cNvSpPr/>
          <p:nvPr/>
        </p:nvSpPr>
        <p:spPr>
          <a:xfrm>
            <a:off x="4709160" y="713232"/>
            <a:ext cx="201168" cy="1261872"/>
          </a:xfrm>
          <a:prstGeom prst="rect">
            <a:avLst/>
          </a:prstGeom>
          <a:solidFill>
            <a:srgbClr val="E63946"/>
          </a:solidFill>
          <a:ln w="12700">
            <a:solidFill>
              <a:srgbClr val="E63946"/>
            </a:solidFill>
            <a:prstDash val="solid"/>
          </a:ln>
        </p:spPr>
      </p:sp>
      <p:sp>
        <p:nvSpPr>
          <p:cNvPr id="12" name="Text 10"/>
          <p:cNvSpPr/>
          <p:nvPr/>
        </p:nvSpPr>
        <p:spPr>
          <a:xfrm>
            <a:off x="4965192" y="758952"/>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5513832" y="804672"/>
            <a:ext cx="333756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Broad Market Decline</a:t>
            </a:r>
            <a:endParaRPr lang="en-US" sz="1200" dirty="0"/>
          </a:p>
        </p:txBody>
      </p:sp>
      <p:sp>
        <p:nvSpPr>
          <p:cNvPr id="14" name="Text 12"/>
          <p:cNvSpPr/>
          <p:nvPr/>
        </p:nvSpPr>
        <p:spPr>
          <a:xfrm>
            <a:off x="4965192" y="1335024"/>
            <a:ext cx="388620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89% of tracked coins show negative 7-day price change, averaging -6.73%, signalling a market correction phase.</a:t>
            </a:r>
            <a:endParaRPr lang="en-US" sz="1000" dirty="0"/>
          </a:p>
        </p:txBody>
      </p:sp>
      <p:sp>
        <p:nvSpPr>
          <p:cNvPr id="15" name="Shape 13"/>
          <p:cNvSpPr/>
          <p:nvPr/>
        </p:nvSpPr>
        <p:spPr>
          <a:xfrm>
            <a:off x="274320" y="213055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6" name="Shape 14"/>
          <p:cNvSpPr/>
          <p:nvPr/>
        </p:nvSpPr>
        <p:spPr>
          <a:xfrm>
            <a:off x="274320" y="2130552"/>
            <a:ext cx="201168" cy="1261872"/>
          </a:xfrm>
          <a:prstGeom prst="rect">
            <a:avLst/>
          </a:prstGeom>
          <a:solidFill>
            <a:srgbClr val="00C9A7"/>
          </a:solidFill>
          <a:ln w="12700">
            <a:solidFill>
              <a:srgbClr val="00C9A7"/>
            </a:solidFill>
            <a:prstDash val="solid"/>
          </a:ln>
        </p:spPr>
      </p:sp>
      <p:sp>
        <p:nvSpPr>
          <p:cNvPr id="17" name="Text 15"/>
          <p:cNvSpPr/>
          <p:nvPr/>
        </p:nvSpPr>
        <p:spPr>
          <a:xfrm>
            <a:off x="530352" y="2176272"/>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1078992" y="2221992"/>
            <a:ext cx="333756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ATH Clustering in 2024</a:t>
            </a:r>
            <a:endParaRPr lang="en-US" sz="1200" dirty="0"/>
          </a:p>
        </p:txBody>
      </p:sp>
      <p:sp>
        <p:nvSpPr>
          <p:cNvPr id="19" name="Text 17"/>
          <p:cNvSpPr/>
          <p:nvPr/>
        </p:nvSpPr>
        <p:spPr>
          <a:xfrm>
            <a:off x="530352" y="2752344"/>
            <a:ext cx="388620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Peak of 121K in the ATH by Year chart confirms 2024 was the most significant bull run year in crypto history.</a:t>
            </a:r>
            <a:endParaRPr lang="en-US" sz="1000" dirty="0"/>
          </a:p>
        </p:txBody>
      </p:sp>
      <p:sp>
        <p:nvSpPr>
          <p:cNvPr id="20" name="Shape 18"/>
          <p:cNvSpPr/>
          <p:nvPr/>
        </p:nvSpPr>
        <p:spPr>
          <a:xfrm>
            <a:off x="4709160" y="213055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1" name="Shape 19"/>
          <p:cNvSpPr/>
          <p:nvPr/>
        </p:nvSpPr>
        <p:spPr>
          <a:xfrm>
            <a:off x="4709160" y="2130552"/>
            <a:ext cx="201168" cy="1261872"/>
          </a:xfrm>
          <a:prstGeom prst="rect">
            <a:avLst/>
          </a:prstGeom>
          <a:solidFill>
            <a:srgbClr val="F4A261"/>
          </a:solidFill>
          <a:ln w="12700">
            <a:solidFill>
              <a:srgbClr val="F4A261"/>
            </a:solidFill>
            <a:prstDash val="solid"/>
          </a:ln>
        </p:spPr>
      </p:sp>
      <p:sp>
        <p:nvSpPr>
          <p:cNvPr id="22" name="Text 20"/>
          <p:cNvSpPr/>
          <p:nvPr/>
        </p:nvSpPr>
        <p:spPr>
          <a:xfrm>
            <a:off x="4965192" y="2176272"/>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5513832" y="2221992"/>
            <a:ext cx="333756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Wrapped Token Significance</a:t>
            </a:r>
            <a:endParaRPr lang="en-US" sz="1200" dirty="0"/>
          </a:p>
        </p:txBody>
      </p:sp>
      <p:sp>
        <p:nvSpPr>
          <p:cNvPr id="24" name="Text 22"/>
          <p:cNvSpPr/>
          <p:nvPr/>
        </p:nvSpPr>
        <p:spPr>
          <a:xfrm>
            <a:off x="4965192" y="2752344"/>
            <a:ext cx="388620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Wrapped Bitcoin and Wrapped stETH appear in top-5 ATH chart, reflecting DeFi demand for cross-chain assets.</a:t>
            </a:r>
            <a:endParaRPr lang="en-US" sz="1000" dirty="0"/>
          </a:p>
        </p:txBody>
      </p:sp>
      <p:sp>
        <p:nvSpPr>
          <p:cNvPr id="25" name="Shape 23"/>
          <p:cNvSpPr/>
          <p:nvPr/>
        </p:nvSpPr>
        <p:spPr>
          <a:xfrm>
            <a:off x="274320" y="354787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6" name="Shape 24"/>
          <p:cNvSpPr/>
          <p:nvPr/>
        </p:nvSpPr>
        <p:spPr>
          <a:xfrm>
            <a:off x="274320" y="3547872"/>
            <a:ext cx="201168" cy="1261872"/>
          </a:xfrm>
          <a:prstGeom prst="rect">
            <a:avLst/>
          </a:prstGeom>
          <a:solidFill>
            <a:srgbClr val="0F3460"/>
          </a:solidFill>
          <a:ln w="12700">
            <a:solidFill>
              <a:srgbClr val="0F3460"/>
            </a:solidFill>
            <a:prstDash val="solid"/>
          </a:ln>
        </p:spPr>
      </p:sp>
      <p:sp>
        <p:nvSpPr>
          <p:cNvPr id="27" name="Text 25"/>
          <p:cNvSpPr/>
          <p:nvPr/>
        </p:nvSpPr>
        <p:spPr>
          <a:xfrm>
            <a:off x="530352" y="3593592"/>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1078992" y="3639312"/>
            <a:ext cx="333756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Stablecoin Stability</a:t>
            </a:r>
            <a:endParaRPr lang="en-US" sz="1200" dirty="0"/>
          </a:p>
        </p:txBody>
      </p:sp>
      <p:sp>
        <p:nvSpPr>
          <p:cNvPr id="29" name="Text 27"/>
          <p:cNvSpPr/>
          <p:nvPr/>
        </p:nvSpPr>
        <p:spPr>
          <a:xfrm>
            <a:off x="530352" y="4169664"/>
            <a:ext cx="3886200" cy="5486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USDT, USDC, USDS hold near $1 with 0.00% 24hr change, confirming their role as safe-haven instruments.</a:t>
            </a:r>
            <a:endParaRPr lang="en-US" sz="1000" dirty="0"/>
          </a:p>
        </p:txBody>
      </p:sp>
      <p:sp>
        <p:nvSpPr>
          <p:cNvPr id="36" name="Text 34"/>
          <p:cNvSpPr/>
          <p:nvPr/>
        </p:nvSpPr>
        <p:spPr>
          <a:xfrm>
            <a:off x="274320" y="4901184"/>
            <a:ext cx="8595360" cy="109728"/>
          </a:xfrm>
          <a:prstGeom prst="rect">
            <a:avLst/>
          </a:prstGeom>
          <a:noFill/>
          <a:ln/>
        </p:spPr>
        <p:txBody>
          <a:bodyPr wrap="square"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These initial observations shaped the focus of subsequent chart analysis and dashboard design.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73152"/>
            <a:ext cx="201168" cy="502920"/>
          </a:xfrm>
          <a:prstGeom prst="rect">
            <a:avLst/>
          </a:prstGeom>
          <a:solidFill>
            <a:srgbClr val="F4A261"/>
          </a:solidFill>
          <a:ln w="12700">
            <a:solidFill>
              <a:srgbClr val="F4A261"/>
            </a:solidFill>
            <a:prstDash val="solid"/>
          </a:ln>
        </p:spPr>
      </p:sp>
      <p:sp>
        <p:nvSpPr>
          <p:cNvPr id="4" name="Text 2"/>
          <p:cNvSpPr/>
          <p:nvPr/>
        </p:nvSpPr>
        <p:spPr>
          <a:xfrm>
            <a:off x="320040" y="137160"/>
            <a:ext cx="8503920" cy="45720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CHART 1  —  BAR CHART: ALL-TIME HIGH vs ALL-TIME LOW BY CRYPTOCURRENCY</a:t>
            </a:r>
            <a:endParaRPr lang="en-US" sz="2000" dirty="0"/>
          </a:p>
        </p:txBody>
      </p:sp>
      <p:graphicFrame>
        <p:nvGraphicFramePr>
          <p:cNvPr id="5" name="Chart 0"/>
          <p:cNvGraphicFramePr/>
          <p:nvPr>
            <p:extLst>
              <p:ext uri="{D42A27DB-BD31-4B8C-83A1-F6EECF244321}">
                <p14:modId xmlns:p14="http://schemas.microsoft.com/office/powerpoint/2010/main" val="2464143623"/>
              </p:ext>
            </p:extLst>
          </p:nvPr>
        </p:nvGraphicFramePr>
        <p:xfrm>
          <a:off x="274320" y="676656"/>
          <a:ext cx="59436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400800" y="676656"/>
            <a:ext cx="2514600" cy="41148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7" name="Shape 4"/>
          <p:cNvSpPr/>
          <p:nvPr/>
        </p:nvSpPr>
        <p:spPr>
          <a:xfrm>
            <a:off x="6400800" y="621792"/>
            <a:ext cx="2514600" cy="411480"/>
          </a:xfrm>
          <a:prstGeom prst="rect">
            <a:avLst/>
          </a:prstGeom>
          <a:solidFill>
            <a:srgbClr val="00C9A7"/>
          </a:solidFill>
          <a:ln w="12700">
            <a:solidFill>
              <a:srgbClr val="00C9A7"/>
            </a:solidFill>
            <a:prstDash val="solid"/>
          </a:ln>
        </p:spPr>
      </p:sp>
      <p:sp>
        <p:nvSpPr>
          <p:cNvPr id="8" name="Text 5"/>
          <p:cNvSpPr/>
          <p:nvPr/>
        </p:nvSpPr>
        <p:spPr>
          <a:xfrm>
            <a:off x="6446520" y="694944"/>
            <a:ext cx="2423160" cy="347472"/>
          </a:xfrm>
          <a:prstGeom prst="rect">
            <a:avLst/>
          </a:prstGeom>
          <a:noFill/>
          <a:ln/>
        </p:spPr>
        <p:txBody>
          <a:bodyPr wrap="square" rtlCol="0" anchor="ctr"/>
          <a:lstStyle/>
          <a:p>
            <a:pPr marL="0" indent="0" algn="ctr">
              <a:buNone/>
            </a:pPr>
            <a:r>
              <a:rPr lang="en-US" sz="1200" b="1" dirty="0">
                <a:solidFill>
                  <a:srgbClr val="0A1628"/>
                </a:solidFill>
                <a:latin typeface="Trebuchet MS" pitchFamily="34" charset="0"/>
                <a:ea typeface="Trebuchet MS" pitchFamily="34" charset="-122"/>
                <a:cs typeface="Trebuchet MS" pitchFamily="34" charset="-120"/>
              </a:rPr>
              <a:t>KEY INSIGHTS</a:t>
            </a:r>
            <a:endParaRPr lang="en-US" sz="1200" dirty="0"/>
          </a:p>
        </p:txBody>
      </p:sp>
      <p:sp>
        <p:nvSpPr>
          <p:cNvPr id="9" name="Text 6"/>
          <p:cNvSpPr/>
          <p:nvPr/>
        </p:nvSpPr>
        <p:spPr>
          <a:xfrm>
            <a:off x="6464808" y="1269961"/>
            <a:ext cx="347472" cy="347472"/>
          </a:xfrm>
          <a:prstGeom prst="rect">
            <a:avLst/>
          </a:prstGeom>
          <a:noFill/>
          <a:ln/>
        </p:spPr>
        <p:txBody>
          <a:bodyPr wrap="square" rtlCol="0" anchor="ctr"/>
          <a:lstStyle/>
          <a:p>
            <a:pPr marL="0" indent="0" algn="ctr">
              <a:buNone/>
            </a:pPr>
            <a:r>
              <a:rPr lang="en-US" sz="1400" dirty="0">
                <a:solidFill>
                  <a:srgbClr val="000000"/>
                </a:solidFill>
                <a:highlight>
                  <a:srgbClr val="FFFF00"/>
                </a:highlight>
              </a:rPr>
              <a:t>₿</a:t>
            </a:r>
            <a:endParaRPr lang="en-US" sz="1400" dirty="0">
              <a:highlight>
                <a:srgbClr val="FFFF00"/>
              </a:highlight>
            </a:endParaRPr>
          </a:p>
        </p:txBody>
      </p:sp>
      <p:sp>
        <p:nvSpPr>
          <p:cNvPr id="10" name="Text 7"/>
          <p:cNvSpPr/>
          <p:nvPr/>
        </p:nvSpPr>
        <p:spPr>
          <a:xfrm>
            <a:off x="6812280" y="1170432"/>
            <a:ext cx="2029968" cy="5029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Bitcoin variants (Function FBTC, Coinbase WBTC, Wrapped BTC) dominate with ATH values of $126K–$128K</a:t>
            </a:r>
            <a:endParaRPr lang="en-US" sz="850" dirty="0"/>
          </a:p>
        </p:txBody>
      </p:sp>
      <p:sp>
        <p:nvSpPr>
          <p:cNvPr id="11" name="Text 8"/>
          <p:cNvSpPr/>
          <p:nvPr/>
        </p:nvSpPr>
        <p:spPr>
          <a:xfrm>
            <a:off x="6464808" y="1823173"/>
            <a:ext cx="347472"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2" name="Text 9"/>
          <p:cNvSpPr/>
          <p:nvPr/>
        </p:nvSpPr>
        <p:spPr>
          <a:xfrm>
            <a:off x="6812280" y="1737360"/>
            <a:ext cx="2029968" cy="5029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ATL values for most coins are near zero, confirming extreme bottom prices at or near launch</a:t>
            </a:r>
            <a:endParaRPr lang="en-US" sz="850" dirty="0"/>
          </a:p>
        </p:txBody>
      </p:sp>
      <p:sp>
        <p:nvSpPr>
          <p:cNvPr id="13" name="Text 10"/>
          <p:cNvSpPr/>
          <p:nvPr/>
        </p:nvSpPr>
        <p:spPr>
          <a:xfrm>
            <a:off x="6464808" y="2352821"/>
            <a:ext cx="347472"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4" name="Text 11"/>
          <p:cNvSpPr/>
          <p:nvPr/>
        </p:nvSpPr>
        <p:spPr>
          <a:xfrm>
            <a:off x="6812280" y="2304288"/>
            <a:ext cx="2029968" cy="5029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Lombard stBTC shows $126K ATH with near-zero ATL — massive price appreciation over lifetime</a:t>
            </a:r>
            <a:endParaRPr lang="en-US" sz="850" dirty="0"/>
          </a:p>
        </p:txBody>
      </p:sp>
      <p:sp>
        <p:nvSpPr>
          <p:cNvPr id="15" name="Text 12"/>
          <p:cNvSpPr/>
          <p:nvPr/>
        </p:nvSpPr>
        <p:spPr>
          <a:xfrm>
            <a:off x="6464808" y="2916936"/>
            <a:ext cx="347472"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6" name="Text 13"/>
          <p:cNvSpPr/>
          <p:nvPr/>
        </p:nvSpPr>
        <p:spPr>
          <a:xfrm>
            <a:off x="6812280" y="2871216"/>
            <a:ext cx="2029968" cy="5029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Wrapped stETH's $52K ATH reflects Ethereum's strong performance peak in 2024</a:t>
            </a:r>
            <a:endParaRPr lang="en-US" sz="850" dirty="0"/>
          </a:p>
        </p:txBody>
      </p:sp>
      <p:sp>
        <p:nvSpPr>
          <p:cNvPr id="17" name="Text 14"/>
          <p:cNvSpPr/>
          <p:nvPr/>
        </p:nvSpPr>
        <p:spPr>
          <a:xfrm>
            <a:off x="6464808" y="3497580"/>
            <a:ext cx="347472"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8" name="Text 15"/>
          <p:cNvSpPr/>
          <p:nvPr/>
        </p:nvSpPr>
        <p:spPr>
          <a:xfrm>
            <a:off x="6812280" y="3438144"/>
            <a:ext cx="2029968" cy="5029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ATH-ATL gap is widest for BTC variants — highlighting Bitcoin's dominance as store of value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80644"/>
          </a:xfrm>
          <a:prstGeom prst="rect">
            <a:avLst/>
          </a:prstGeom>
          <a:solidFill>
            <a:srgbClr val="0F3460"/>
          </a:solidFill>
          <a:ln w="12700">
            <a:solidFill>
              <a:srgbClr val="0F3460"/>
            </a:solidFill>
            <a:prstDash val="solid"/>
          </a:ln>
        </p:spPr>
      </p:sp>
      <p:sp>
        <p:nvSpPr>
          <p:cNvPr id="3" name="Shape 1"/>
          <p:cNvSpPr/>
          <p:nvPr/>
        </p:nvSpPr>
        <p:spPr>
          <a:xfrm>
            <a:off x="0" y="73152"/>
            <a:ext cx="201168" cy="502920"/>
          </a:xfrm>
          <a:prstGeom prst="rect">
            <a:avLst/>
          </a:prstGeom>
          <a:solidFill>
            <a:srgbClr val="F4A261"/>
          </a:solidFill>
          <a:ln w="12700">
            <a:solidFill>
              <a:srgbClr val="F4A261"/>
            </a:solidFill>
            <a:prstDash val="solid"/>
          </a:ln>
        </p:spPr>
      </p:sp>
      <p:sp>
        <p:nvSpPr>
          <p:cNvPr id="4" name="Text 2"/>
          <p:cNvSpPr/>
          <p:nvPr/>
        </p:nvSpPr>
        <p:spPr>
          <a:xfrm>
            <a:off x="320040" y="137160"/>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CHART 2  —  LINE CHART: ALL-TIME HIGH TREND BY YEAR (2014–2026)</a:t>
            </a:r>
            <a:endParaRPr lang="en-US" sz="2200" dirty="0"/>
          </a:p>
        </p:txBody>
      </p:sp>
      <p:graphicFrame>
        <p:nvGraphicFramePr>
          <p:cNvPr id="5" name="Chart 0"/>
          <p:cNvGraphicFramePr/>
          <p:nvPr/>
        </p:nvGraphicFramePr>
        <p:xfrm>
          <a:off x="274320" y="640080"/>
          <a:ext cx="59436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956048" y="960120"/>
            <a:ext cx="365760" cy="365760"/>
          </a:xfrm>
          <a:prstGeom prst="ellipse">
            <a:avLst/>
          </a:prstGeom>
          <a:solidFill>
            <a:srgbClr val="F4A261"/>
          </a:solidFill>
          <a:ln w="12700">
            <a:solidFill>
              <a:srgbClr val="F4A261"/>
            </a:solidFill>
            <a:prstDash val="solid"/>
          </a:ln>
        </p:spPr>
      </p:sp>
      <p:sp>
        <p:nvSpPr>
          <p:cNvPr id="7" name="Text 4"/>
          <p:cNvSpPr/>
          <p:nvPr/>
        </p:nvSpPr>
        <p:spPr>
          <a:xfrm>
            <a:off x="4864608" y="1353312"/>
            <a:ext cx="640080" cy="502920"/>
          </a:xfrm>
          <a:prstGeom prst="rect">
            <a:avLst/>
          </a:prstGeom>
          <a:noFill/>
          <a:ln/>
        </p:spPr>
        <p:txBody>
          <a:bodyPr wrap="square" rtlCol="0" anchor="ctr"/>
          <a:lstStyle/>
          <a:p>
            <a:pPr marL="0" indent="0" algn="ctr">
              <a:buNone/>
            </a:pPr>
            <a:r>
              <a:rPr lang="en-US" sz="750" b="1" dirty="0">
                <a:solidFill>
                  <a:srgbClr val="E63946"/>
                </a:solidFill>
                <a:latin typeface="Calibri" pitchFamily="34" charset="0"/>
                <a:ea typeface="Calibri" pitchFamily="34" charset="-122"/>
                <a:cs typeface="Calibri" pitchFamily="34" charset="-120"/>
              </a:rPr>
              <a:t>2024</a:t>
            </a:r>
            <a:endParaRPr lang="en-US" sz="750" dirty="0"/>
          </a:p>
          <a:p>
            <a:pPr marL="0" indent="0" algn="ctr">
              <a:buNone/>
            </a:pPr>
            <a:r>
              <a:rPr lang="en-US" sz="750" b="1" dirty="0">
                <a:solidFill>
                  <a:srgbClr val="E63946"/>
                </a:solidFill>
                <a:latin typeface="Calibri" pitchFamily="34" charset="0"/>
                <a:ea typeface="Calibri" pitchFamily="34" charset="-122"/>
                <a:cs typeface="Calibri" pitchFamily="34" charset="-120"/>
              </a:rPr>
              <a:t>ATH</a:t>
            </a:r>
            <a:endParaRPr lang="en-US" sz="750" dirty="0"/>
          </a:p>
          <a:p>
            <a:pPr marL="0" indent="0" algn="ctr">
              <a:buNone/>
            </a:pPr>
            <a:r>
              <a:rPr lang="en-US" sz="750" b="1" dirty="0">
                <a:solidFill>
                  <a:srgbClr val="E63946"/>
                </a:solidFill>
                <a:latin typeface="Calibri" pitchFamily="34" charset="0"/>
                <a:ea typeface="Calibri" pitchFamily="34" charset="-122"/>
                <a:cs typeface="Calibri" pitchFamily="34" charset="-120"/>
              </a:rPr>
              <a:t>121K</a:t>
            </a:r>
            <a:endParaRPr lang="en-US" sz="750" dirty="0"/>
          </a:p>
        </p:txBody>
      </p:sp>
      <p:sp>
        <p:nvSpPr>
          <p:cNvPr id="8" name="Shape 5"/>
          <p:cNvSpPr/>
          <p:nvPr/>
        </p:nvSpPr>
        <p:spPr>
          <a:xfrm>
            <a:off x="6400800" y="640080"/>
            <a:ext cx="2514600" cy="4114800"/>
          </a:xfrm>
          <a:prstGeom prst="rect">
            <a:avLst/>
          </a:prstGeom>
          <a:solidFill>
            <a:srgbClr val="0F3460"/>
          </a:solidFill>
          <a:ln w="12700">
            <a:solidFill>
              <a:srgbClr val="1E4976"/>
            </a:solidFill>
            <a:prstDash val="solid"/>
          </a:ln>
          <a:effectLst>
            <a:outerShdw blurRad="101600" dist="38100" dir="8100000" algn="bl" rotWithShape="0">
              <a:srgbClr val="000000">
                <a:alpha val="25000"/>
              </a:srgbClr>
            </a:outerShdw>
          </a:effectLst>
        </p:spPr>
      </p:sp>
      <p:sp>
        <p:nvSpPr>
          <p:cNvPr id="9" name="Shape 6"/>
          <p:cNvSpPr/>
          <p:nvPr/>
        </p:nvSpPr>
        <p:spPr>
          <a:xfrm>
            <a:off x="6400800" y="640080"/>
            <a:ext cx="2514600" cy="411480"/>
          </a:xfrm>
          <a:prstGeom prst="rect">
            <a:avLst/>
          </a:prstGeom>
          <a:solidFill>
            <a:srgbClr val="F4A261"/>
          </a:solidFill>
          <a:ln w="12700">
            <a:solidFill>
              <a:srgbClr val="F4A261"/>
            </a:solidFill>
            <a:prstDash val="solid"/>
          </a:ln>
        </p:spPr>
      </p:sp>
      <p:sp>
        <p:nvSpPr>
          <p:cNvPr id="10" name="Text 7"/>
          <p:cNvSpPr/>
          <p:nvPr/>
        </p:nvSpPr>
        <p:spPr>
          <a:xfrm>
            <a:off x="6446520" y="658368"/>
            <a:ext cx="2423160" cy="347472"/>
          </a:xfrm>
          <a:prstGeom prst="rect">
            <a:avLst/>
          </a:prstGeom>
          <a:noFill/>
          <a:ln/>
        </p:spPr>
        <p:txBody>
          <a:bodyPr wrap="square" rtlCol="0" anchor="ctr"/>
          <a:lstStyle/>
          <a:p>
            <a:pPr marL="0" indent="0" algn="ctr">
              <a:buNone/>
            </a:pPr>
            <a:r>
              <a:rPr lang="en-US" sz="1200" b="1" dirty="0">
                <a:solidFill>
                  <a:srgbClr val="0A1628"/>
                </a:solidFill>
                <a:latin typeface="Trebuchet MS" pitchFamily="34" charset="0"/>
                <a:ea typeface="Trebuchet MS" pitchFamily="34" charset="-122"/>
                <a:cs typeface="Trebuchet MS" pitchFamily="34" charset="-120"/>
              </a:rPr>
              <a:t>KEY INSIGHTS</a:t>
            </a:r>
            <a:endParaRPr lang="en-US" sz="1200" dirty="0"/>
          </a:p>
        </p:txBody>
      </p:sp>
      <p:sp>
        <p:nvSpPr>
          <p:cNvPr id="11" name="Text 8"/>
          <p:cNvSpPr/>
          <p:nvPr/>
        </p:nvSpPr>
        <p:spPr>
          <a:xfrm>
            <a:off x="6492240" y="1143000"/>
            <a:ext cx="2331720" cy="548640"/>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2024 marks the dominant ATH year — Bitcoin hit ~$121K, the highest ever recorded</a:t>
            </a:r>
            <a:endParaRPr lang="en-US" sz="950" dirty="0"/>
          </a:p>
        </p:txBody>
      </p:sp>
      <p:sp>
        <p:nvSpPr>
          <p:cNvPr id="12" name="Text 9"/>
          <p:cNvSpPr/>
          <p:nvPr/>
        </p:nvSpPr>
        <p:spPr>
          <a:xfrm>
            <a:off x="6492240" y="1737360"/>
            <a:ext cx="2331720" cy="548640"/>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2017 and 2021 show secondary peaks (~5K), correlating with known crypto bull runs</a:t>
            </a:r>
            <a:endParaRPr lang="en-US" sz="950" dirty="0"/>
          </a:p>
        </p:txBody>
      </p:sp>
      <p:sp>
        <p:nvSpPr>
          <p:cNvPr id="13" name="Text 10"/>
          <p:cNvSpPr/>
          <p:nvPr/>
        </p:nvSpPr>
        <p:spPr>
          <a:xfrm>
            <a:off x="6492240" y="2331720"/>
            <a:ext cx="2331720" cy="548640"/>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The 2022 bear market is clearly visible with ATH values collapsing near zero</a:t>
            </a:r>
            <a:endParaRPr lang="en-US" sz="950" dirty="0"/>
          </a:p>
        </p:txBody>
      </p:sp>
      <p:sp>
        <p:nvSpPr>
          <p:cNvPr id="14" name="Text 11"/>
          <p:cNvSpPr/>
          <p:nvPr/>
        </p:nvSpPr>
        <p:spPr>
          <a:xfrm>
            <a:off x="6492240" y="2926080"/>
            <a:ext cx="2331720" cy="548640"/>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2014-2020 shows relatively flat ATH activity, reflecting early market maturity</a:t>
            </a:r>
            <a:endParaRPr lang="en-US" sz="950" dirty="0"/>
          </a:p>
        </p:txBody>
      </p:sp>
      <p:sp>
        <p:nvSpPr>
          <p:cNvPr id="15" name="Text 12"/>
          <p:cNvSpPr/>
          <p:nvPr/>
        </p:nvSpPr>
        <p:spPr>
          <a:xfrm>
            <a:off x="6492240" y="3520440"/>
            <a:ext cx="2331720" cy="548640"/>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2026 data trending near zero suggests current bear/consolidation phase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32004"/>
            <a:ext cx="9144000" cy="562356"/>
          </a:xfrm>
          <a:prstGeom prst="rect">
            <a:avLst/>
          </a:prstGeom>
          <a:solidFill>
            <a:srgbClr val="0F3460"/>
          </a:solidFill>
          <a:ln w="12700">
            <a:solidFill>
              <a:srgbClr val="0F3460"/>
            </a:solidFill>
            <a:prstDash val="solid"/>
          </a:ln>
        </p:spPr>
      </p:sp>
      <p:sp>
        <p:nvSpPr>
          <p:cNvPr id="3" name="Shape 1"/>
          <p:cNvSpPr/>
          <p:nvPr/>
        </p:nvSpPr>
        <p:spPr>
          <a:xfrm>
            <a:off x="0" y="32004"/>
            <a:ext cx="201168" cy="502920"/>
          </a:xfrm>
          <a:prstGeom prst="rect">
            <a:avLst/>
          </a:prstGeom>
          <a:solidFill>
            <a:srgbClr val="F4A261"/>
          </a:solidFill>
          <a:ln w="12700">
            <a:solidFill>
              <a:srgbClr val="F4A261"/>
            </a:solidFill>
            <a:prstDash val="solid"/>
          </a:ln>
        </p:spPr>
      </p:sp>
      <p:sp>
        <p:nvSpPr>
          <p:cNvPr id="4" name="Text 2"/>
          <p:cNvSpPr/>
          <p:nvPr/>
        </p:nvSpPr>
        <p:spPr>
          <a:xfrm>
            <a:off x="320040" y="96012"/>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CHART 3  —  PIE CHART: MARKET CAP DISTRIBUTION (TOP 10 COINS)</a:t>
            </a:r>
            <a:endParaRPr lang="en-US" sz="2200" dirty="0"/>
          </a:p>
        </p:txBody>
      </p:sp>
      <p:graphicFrame>
        <p:nvGraphicFramePr>
          <p:cNvPr id="5" name="Chart 0"/>
          <p:cNvGraphicFramePr/>
          <p:nvPr>
            <p:extLst>
              <p:ext uri="{D42A27DB-BD31-4B8C-83A1-F6EECF244321}">
                <p14:modId xmlns:p14="http://schemas.microsoft.com/office/powerpoint/2010/main" val="3830277582"/>
              </p:ext>
            </p:extLst>
          </p:nvPr>
        </p:nvGraphicFramePr>
        <p:xfrm>
          <a:off x="457200" y="640080"/>
          <a:ext cx="50292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669280" y="640080"/>
            <a:ext cx="3246120" cy="429768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7" name="Shape 4"/>
          <p:cNvSpPr/>
          <p:nvPr/>
        </p:nvSpPr>
        <p:spPr>
          <a:xfrm>
            <a:off x="5669280" y="640080"/>
            <a:ext cx="3246120" cy="411480"/>
          </a:xfrm>
          <a:prstGeom prst="rect">
            <a:avLst/>
          </a:prstGeom>
          <a:solidFill>
            <a:srgbClr val="FFB703"/>
          </a:solidFill>
          <a:ln w="12700">
            <a:solidFill>
              <a:srgbClr val="FFB703"/>
            </a:solidFill>
            <a:prstDash val="solid"/>
          </a:ln>
        </p:spPr>
      </p:sp>
      <p:sp>
        <p:nvSpPr>
          <p:cNvPr id="8" name="Text 5"/>
          <p:cNvSpPr/>
          <p:nvPr/>
        </p:nvSpPr>
        <p:spPr>
          <a:xfrm>
            <a:off x="5715000" y="658368"/>
            <a:ext cx="3154680" cy="347472"/>
          </a:xfrm>
          <a:prstGeom prst="rect">
            <a:avLst/>
          </a:prstGeom>
          <a:noFill/>
          <a:ln/>
        </p:spPr>
        <p:txBody>
          <a:bodyPr wrap="square" rtlCol="0" anchor="ctr"/>
          <a:lstStyle/>
          <a:p>
            <a:pPr marL="0" indent="0" algn="ctr">
              <a:buNone/>
            </a:pPr>
            <a:r>
              <a:rPr lang="en-US" sz="1100" b="1" dirty="0">
                <a:solidFill>
                  <a:srgbClr val="0A1628"/>
                </a:solidFill>
                <a:latin typeface="Trebuchet MS" pitchFamily="34" charset="0"/>
                <a:ea typeface="Trebuchet MS" pitchFamily="34" charset="-122"/>
                <a:cs typeface="Trebuchet MS" pitchFamily="34" charset="-120"/>
              </a:rPr>
              <a:t>MARKET CAP BREAKDOWN</a:t>
            </a:r>
            <a:endParaRPr lang="en-US" sz="1100" dirty="0"/>
          </a:p>
        </p:txBody>
      </p:sp>
      <p:sp>
        <p:nvSpPr>
          <p:cNvPr id="9" name="Shape 6"/>
          <p:cNvSpPr/>
          <p:nvPr/>
        </p:nvSpPr>
        <p:spPr>
          <a:xfrm>
            <a:off x="5760720" y="1216152"/>
            <a:ext cx="164592" cy="256032"/>
          </a:xfrm>
          <a:prstGeom prst="rect">
            <a:avLst/>
          </a:prstGeom>
          <a:solidFill>
            <a:srgbClr val="FFB703"/>
          </a:solidFill>
          <a:ln w="12700">
            <a:solidFill>
              <a:srgbClr val="FFB703"/>
            </a:solidFill>
            <a:prstDash val="solid"/>
          </a:ln>
        </p:spPr>
      </p:sp>
      <p:sp>
        <p:nvSpPr>
          <p:cNvPr id="10" name="Text 7"/>
          <p:cNvSpPr/>
          <p:nvPr/>
        </p:nvSpPr>
        <p:spPr>
          <a:xfrm>
            <a:off x="5989320" y="1170432"/>
            <a:ext cx="1280160" cy="34747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Bitcoin</a:t>
            </a:r>
            <a:endParaRPr lang="en-US" sz="1000" dirty="0"/>
          </a:p>
        </p:txBody>
      </p:sp>
      <p:sp>
        <p:nvSpPr>
          <p:cNvPr id="11" name="Text 8"/>
          <p:cNvSpPr/>
          <p:nvPr/>
        </p:nvSpPr>
        <p:spPr>
          <a:xfrm>
            <a:off x="7269480" y="1170432"/>
            <a:ext cx="640080" cy="347472"/>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$1.66T</a:t>
            </a:r>
            <a:endParaRPr lang="en-US" sz="1000" dirty="0"/>
          </a:p>
        </p:txBody>
      </p:sp>
      <p:sp>
        <p:nvSpPr>
          <p:cNvPr id="12" name="Text 9"/>
          <p:cNvSpPr/>
          <p:nvPr/>
        </p:nvSpPr>
        <p:spPr>
          <a:xfrm>
            <a:off x="7936992" y="1170432"/>
            <a:ext cx="868680" cy="347472"/>
          </a:xfrm>
          <a:prstGeom prst="rect">
            <a:avLst/>
          </a:prstGeom>
          <a:noFill/>
          <a:ln/>
        </p:spPr>
        <p:txBody>
          <a:bodyPr wrap="square" rtlCol="0" anchor="ctr"/>
          <a:lstStyle/>
          <a:p>
            <a:pPr marL="0" indent="0" algn="r">
              <a:buNone/>
            </a:pPr>
            <a:r>
              <a:rPr lang="en-US" sz="1000" b="1" dirty="0">
                <a:solidFill>
                  <a:srgbClr val="FFB703"/>
                </a:solidFill>
                <a:latin typeface="Trebuchet MS" pitchFamily="34" charset="0"/>
                <a:ea typeface="Trebuchet MS" pitchFamily="34" charset="-122"/>
                <a:cs typeface="Trebuchet MS" pitchFamily="34" charset="-120"/>
              </a:rPr>
              <a:t>55.3%</a:t>
            </a:r>
            <a:endParaRPr lang="en-US" sz="1000" dirty="0"/>
          </a:p>
        </p:txBody>
      </p:sp>
      <p:sp>
        <p:nvSpPr>
          <p:cNvPr id="13" name="Shape 10"/>
          <p:cNvSpPr/>
          <p:nvPr/>
        </p:nvSpPr>
        <p:spPr>
          <a:xfrm>
            <a:off x="5760720" y="1655064"/>
            <a:ext cx="164592" cy="256032"/>
          </a:xfrm>
          <a:prstGeom prst="rect">
            <a:avLst/>
          </a:prstGeom>
          <a:solidFill>
            <a:srgbClr val="00C9A7"/>
          </a:solidFill>
          <a:ln w="12700">
            <a:solidFill>
              <a:srgbClr val="00C9A7"/>
            </a:solidFill>
            <a:prstDash val="solid"/>
          </a:ln>
        </p:spPr>
      </p:sp>
      <p:sp>
        <p:nvSpPr>
          <p:cNvPr id="14" name="Text 11"/>
          <p:cNvSpPr/>
          <p:nvPr/>
        </p:nvSpPr>
        <p:spPr>
          <a:xfrm>
            <a:off x="5989320" y="1609344"/>
            <a:ext cx="1280160" cy="34747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Ethereum</a:t>
            </a:r>
            <a:endParaRPr lang="en-US" sz="1000" dirty="0"/>
          </a:p>
        </p:txBody>
      </p:sp>
      <p:sp>
        <p:nvSpPr>
          <p:cNvPr id="15" name="Text 12"/>
          <p:cNvSpPr/>
          <p:nvPr/>
        </p:nvSpPr>
        <p:spPr>
          <a:xfrm>
            <a:off x="7269480" y="1609344"/>
            <a:ext cx="640080" cy="347472"/>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$319B</a:t>
            </a:r>
            <a:endParaRPr lang="en-US" sz="1000" dirty="0"/>
          </a:p>
        </p:txBody>
      </p:sp>
      <p:sp>
        <p:nvSpPr>
          <p:cNvPr id="16" name="Text 13"/>
          <p:cNvSpPr/>
          <p:nvPr/>
        </p:nvSpPr>
        <p:spPr>
          <a:xfrm>
            <a:off x="7936992" y="1609344"/>
            <a:ext cx="868680" cy="347472"/>
          </a:xfrm>
          <a:prstGeom prst="rect">
            <a:avLst/>
          </a:prstGeom>
          <a:noFill/>
          <a:ln/>
        </p:spPr>
        <p:txBody>
          <a:bodyPr wrap="square" rtlCol="0" anchor="ctr"/>
          <a:lstStyle/>
          <a:p>
            <a:pPr marL="0" indent="0" algn="r">
              <a:buNone/>
            </a:pPr>
            <a:r>
              <a:rPr lang="en-US" sz="1000" b="1" dirty="0">
                <a:solidFill>
                  <a:srgbClr val="00C9A7"/>
                </a:solidFill>
                <a:latin typeface="Trebuchet MS" pitchFamily="34" charset="0"/>
                <a:ea typeface="Trebuchet MS" pitchFamily="34" charset="-122"/>
                <a:cs typeface="Trebuchet MS" pitchFamily="34" charset="-120"/>
              </a:rPr>
              <a:t>10.6%</a:t>
            </a:r>
            <a:endParaRPr lang="en-US" sz="1000" dirty="0"/>
          </a:p>
        </p:txBody>
      </p:sp>
      <p:sp>
        <p:nvSpPr>
          <p:cNvPr id="17" name="Shape 14"/>
          <p:cNvSpPr/>
          <p:nvPr/>
        </p:nvSpPr>
        <p:spPr>
          <a:xfrm>
            <a:off x="5760720" y="2093976"/>
            <a:ext cx="164592" cy="256032"/>
          </a:xfrm>
          <a:prstGeom prst="rect">
            <a:avLst/>
          </a:prstGeom>
          <a:solidFill>
            <a:srgbClr val="4ECDC4"/>
          </a:solidFill>
          <a:ln w="12700">
            <a:solidFill>
              <a:srgbClr val="4ECDC4"/>
            </a:solidFill>
            <a:prstDash val="solid"/>
          </a:ln>
        </p:spPr>
      </p:sp>
      <p:sp>
        <p:nvSpPr>
          <p:cNvPr id="18" name="Text 15"/>
          <p:cNvSpPr/>
          <p:nvPr/>
        </p:nvSpPr>
        <p:spPr>
          <a:xfrm>
            <a:off x="5989320" y="2048256"/>
            <a:ext cx="1280160" cy="34747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Tether</a:t>
            </a:r>
            <a:endParaRPr lang="en-US" sz="1000" dirty="0"/>
          </a:p>
        </p:txBody>
      </p:sp>
      <p:sp>
        <p:nvSpPr>
          <p:cNvPr id="19" name="Text 16"/>
          <p:cNvSpPr/>
          <p:nvPr/>
        </p:nvSpPr>
        <p:spPr>
          <a:xfrm>
            <a:off x="7269480" y="2048256"/>
            <a:ext cx="640080" cy="347472"/>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$186B</a:t>
            </a:r>
            <a:endParaRPr lang="en-US" sz="1000" dirty="0"/>
          </a:p>
        </p:txBody>
      </p:sp>
      <p:sp>
        <p:nvSpPr>
          <p:cNvPr id="20" name="Text 17"/>
          <p:cNvSpPr/>
          <p:nvPr/>
        </p:nvSpPr>
        <p:spPr>
          <a:xfrm>
            <a:off x="7936992" y="2048256"/>
            <a:ext cx="868680" cy="347472"/>
          </a:xfrm>
          <a:prstGeom prst="rect">
            <a:avLst/>
          </a:prstGeom>
          <a:noFill/>
          <a:ln/>
        </p:spPr>
        <p:txBody>
          <a:bodyPr wrap="square" rtlCol="0" anchor="ctr"/>
          <a:lstStyle/>
          <a:p>
            <a:pPr marL="0" indent="0" algn="r">
              <a:buNone/>
            </a:pPr>
            <a:r>
              <a:rPr lang="en-US" sz="1000" b="1" dirty="0">
                <a:solidFill>
                  <a:srgbClr val="4ECDC4"/>
                </a:solidFill>
                <a:latin typeface="Trebuchet MS" pitchFamily="34" charset="0"/>
                <a:ea typeface="Trebuchet MS" pitchFamily="34" charset="-122"/>
                <a:cs typeface="Trebuchet MS" pitchFamily="34" charset="-120"/>
              </a:rPr>
              <a:t>6.2%</a:t>
            </a:r>
            <a:endParaRPr lang="en-US" sz="1000" dirty="0"/>
          </a:p>
        </p:txBody>
      </p:sp>
      <p:sp>
        <p:nvSpPr>
          <p:cNvPr id="21" name="Shape 18"/>
          <p:cNvSpPr/>
          <p:nvPr/>
        </p:nvSpPr>
        <p:spPr>
          <a:xfrm>
            <a:off x="5760720" y="2532888"/>
            <a:ext cx="164592" cy="256032"/>
          </a:xfrm>
          <a:prstGeom prst="rect">
            <a:avLst/>
          </a:prstGeom>
          <a:solidFill>
            <a:srgbClr val="F4A261"/>
          </a:solidFill>
          <a:ln w="12700">
            <a:solidFill>
              <a:srgbClr val="F4A261"/>
            </a:solidFill>
            <a:prstDash val="solid"/>
          </a:ln>
        </p:spPr>
      </p:sp>
      <p:sp>
        <p:nvSpPr>
          <p:cNvPr id="22" name="Text 19"/>
          <p:cNvSpPr/>
          <p:nvPr/>
        </p:nvSpPr>
        <p:spPr>
          <a:xfrm>
            <a:off x="5989320" y="2487168"/>
            <a:ext cx="1280160" cy="34747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BNB</a:t>
            </a:r>
            <a:endParaRPr lang="en-US" sz="1000" dirty="0"/>
          </a:p>
        </p:txBody>
      </p:sp>
      <p:sp>
        <p:nvSpPr>
          <p:cNvPr id="23" name="Text 20"/>
          <p:cNvSpPr/>
          <p:nvPr/>
        </p:nvSpPr>
        <p:spPr>
          <a:xfrm>
            <a:off x="7269480" y="2487168"/>
            <a:ext cx="640080" cy="347472"/>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$114B</a:t>
            </a:r>
            <a:endParaRPr lang="en-US" sz="1000" dirty="0"/>
          </a:p>
        </p:txBody>
      </p:sp>
      <p:sp>
        <p:nvSpPr>
          <p:cNvPr id="24" name="Text 21"/>
          <p:cNvSpPr/>
          <p:nvPr/>
        </p:nvSpPr>
        <p:spPr>
          <a:xfrm>
            <a:off x="7936992" y="2487168"/>
            <a:ext cx="868680" cy="347472"/>
          </a:xfrm>
          <a:prstGeom prst="rect">
            <a:avLst/>
          </a:prstGeom>
          <a:noFill/>
          <a:ln/>
        </p:spPr>
        <p:txBody>
          <a:bodyPr wrap="square" rtlCol="0" anchor="ctr"/>
          <a:lstStyle/>
          <a:p>
            <a:pPr marL="0" indent="0" algn="r">
              <a:buNone/>
            </a:pPr>
            <a:r>
              <a:rPr lang="en-US" sz="1000" b="1" dirty="0">
                <a:solidFill>
                  <a:srgbClr val="F4A261"/>
                </a:solidFill>
                <a:latin typeface="Trebuchet MS" pitchFamily="34" charset="0"/>
                <a:ea typeface="Trebuchet MS" pitchFamily="34" charset="-122"/>
                <a:cs typeface="Trebuchet MS" pitchFamily="34" charset="-120"/>
              </a:rPr>
              <a:t>3.8%</a:t>
            </a:r>
            <a:endParaRPr lang="en-US" sz="1000" dirty="0"/>
          </a:p>
        </p:txBody>
      </p:sp>
      <p:sp>
        <p:nvSpPr>
          <p:cNvPr id="25" name="Shape 22"/>
          <p:cNvSpPr/>
          <p:nvPr/>
        </p:nvSpPr>
        <p:spPr>
          <a:xfrm>
            <a:off x="5760720" y="2971800"/>
            <a:ext cx="164592" cy="256032"/>
          </a:xfrm>
          <a:prstGeom prst="rect">
            <a:avLst/>
          </a:prstGeom>
          <a:solidFill>
            <a:srgbClr val="FF6B9D"/>
          </a:solidFill>
          <a:ln w="12700">
            <a:solidFill>
              <a:srgbClr val="FF6B9D"/>
            </a:solidFill>
            <a:prstDash val="solid"/>
          </a:ln>
        </p:spPr>
      </p:sp>
      <p:sp>
        <p:nvSpPr>
          <p:cNvPr id="26" name="Text 23"/>
          <p:cNvSpPr/>
          <p:nvPr/>
        </p:nvSpPr>
        <p:spPr>
          <a:xfrm>
            <a:off x="5989320" y="2926080"/>
            <a:ext cx="1280160" cy="34747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XRP</a:t>
            </a:r>
            <a:endParaRPr lang="en-US" sz="1000" dirty="0"/>
          </a:p>
        </p:txBody>
      </p:sp>
      <p:sp>
        <p:nvSpPr>
          <p:cNvPr id="27" name="Text 24"/>
          <p:cNvSpPr/>
          <p:nvPr/>
        </p:nvSpPr>
        <p:spPr>
          <a:xfrm>
            <a:off x="7269480" y="2926080"/>
            <a:ext cx="640080" cy="347472"/>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$104B</a:t>
            </a:r>
            <a:endParaRPr lang="en-US" sz="1000" dirty="0"/>
          </a:p>
        </p:txBody>
      </p:sp>
      <p:sp>
        <p:nvSpPr>
          <p:cNvPr id="28" name="Text 25"/>
          <p:cNvSpPr/>
          <p:nvPr/>
        </p:nvSpPr>
        <p:spPr>
          <a:xfrm>
            <a:off x="7936992" y="2926080"/>
            <a:ext cx="868680" cy="347472"/>
          </a:xfrm>
          <a:prstGeom prst="rect">
            <a:avLst/>
          </a:prstGeom>
          <a:noFill/>
          <a:ln/>
        </p:spPr>
        <p:txBody>
          <a:bodyPr wrap="square" rtlCol="0" anchor="ctr"/>
          <a:lstStyle/>
          <a:p>
            <a:pPr marL="0" indent="0" algn="r">
              <a:buNone/>
            </a:pPr>
            <a:r>
              <a:rPr lang="en-US" sz="1000" b="1" dirty="0">
                <a:solidFill>
                  <a:srgbClr val="FF6B9D"/>
                </a:solidFill>
                <a:latin typeface="Trebuchet MS" pitchFamily="34" charset="0"/>
                <a:ea typeface="Trebuchet MS" pitchFamily="34" charset="-122"/>
                <a:cs typeface="Trebuchet MS" pitchFamily="34" charset="-120"/>
              </a:rPr>
              <a:t>3.5%</a:t>
            </a:r>
            <a:endParaRPr lang="en-US" sz="1000" dirty="0"/>
          </a:p>
        </p:txBody>
      </p:sp>
      <p:sp>
        <p:nvSpPr>
          <p:cNvPr id="29" name="Shape 26"/>
          <p:cNvSpPr/>
          <p:nvPr/>
        </p:nvSpPr>
        <p:spPr>
          <a:xfrm>
            <a:off x="5760720" y="3410712"/>
            <a:ext cx="164592" cy="256032"/>
          </a:xfrm>
          <a:prstGeom prst="rect">
            <a:avLst/>
          </a:prstGeom>
          <a:solidFill>
            <a:srgbClr val="6C63FF"/>
          </a:solidFill>
          <a:ln w="12700">
            <a:solidFill>
              <a:srgbClr val="6C63FF"/>
            </a:solidFill>
            <a:prstDash val="solid"/>
          </a:ln>
        </p:spPr>
      </p:sp>
      <p:sp>
        <p:nvSpPr>
          <p:cNvPr id="30" name="Text 27"/>
          <p:cNvSpPr/>
          <p:nvPr/>
        </p:nvSpPr>
        <p:spPr>
          <a:xfrm>
            <a:off x="5989320" y="3364992"/>
            <a:ext cx="1280160" cy="34747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USDC</a:t>
            </a:r>
            <a:endParaRPr lang="en-US" sz="1000" dirty="0"/>
          </a:p>
        </p:txBody>
      </p:sp>
      <p:sp>
        <p:nvSpPr>
          <p:cNvPr id="31" name="Text 28"/>
          <p:cNvSpPr/>
          <p:nvPr/>
        </p:nvSpPr>
        <p:spPr>
          <a:xfrm>
            <a:off x="7269480" y="3364992"/>
            <a:ext cx="640080" cy="347472"/>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$70B</a:t>
            </a:r>
            <a:endParaRPr lang="en-US" sz="1000" dirty="0"/>
          </a:p>
        </p:txBody>
      </p:sp>
      <p:sp>
        <p:nvSpPr>
          <p:cNvPr id="32" name="Text 29"/>
          <p:cNvSpPr/>
          <p:nvPr/>
        </p:nvSpPr>
        <p:spPr>
          <a:xfrm>
            <a:off x="7936992" y="3364992"/>
            <a:ext cx="868680" cy="347472"/>
          </a:xfrm>
          <a:prstGeom prst="rect">
            <a:avLst/>
          </a:prstGeom>
          <a:noFill/>
          <a:ln/>
        </p:spPr>
        <p:txBody>
          <a:bodyPr wrap="square" rtlCol="0" anchor="ctr"/>
          <a:lstStyle/>
          <a:p>
            <a:pPr marL="0" indent="0" algn="r">
              <a:buNone/>
            </a:pPr>
            <a:r>
              <a:rPr lang="en-US" sz="1000" b="1" dirty="0">
                <a:solidFill>
                  <a:srgbClr val="6C63FF"/>
                </a:solidFill>
                <a:latin typeface="Trebuchet MS" pitchFamily="34" charset="0"/>
                <a:ea typeface="Trebuchet MS" pitchFamily="34" charset="-122"/>
                <a:cs typeface="Trebuchet MS" pitchFamily="34" charset="-120"/>
              </a:rPr>
              <a:t>2.3%</a:t>
            </a:r>
            <a:endParaRPr lang="en-US" sz="1000" dirty="0"/>
          </a:p>
        </p:txBody>
      </p:sp>
      <p:sp>
        <p:nvSpPr>
          <p:cNvPr id="33" name="Shape 30"/>
          <p:cNvSpPr/>
          <p:nvPr/>
        </p:nvSpPr>
        <p:spPr>
          <a:xfrm>
            <a:off x="5760720" y="3849624"/>
            <a:ext cx="164592" cy="256032"/>
          </a:xfrm>
          <a:prstGeom prst="rect">
            <a:avLst/>
          </a:prstGeom>
          <a:solidFill>
            <a:srgbClr val="48CAE4"/>
          </a:solidFill>
          <a:ln w="12700">
            <a:solidFill>
              <a:srgbClr val="48CAE4"/>
            </a:solidFill>
            <a:prstDash val="solid"/>
          </a:ln>
        </p:spPr>
      </p:sp>
      <p:sp>
        <p:nvSpPr>
          <p:cNvPr id="34" name="Text 31"/>
          <p:cNvSpPr/>
          <p:nvPr/>
        </p:nvSpPr>
        <p:spPr>
          <a:xfrm>
            <a:off x="5989320" y="3803904"/>
            <a:ext cx="1280160" cy="34747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Solana</a:t>
            </a:r>
            <a:endParaRPr lang="en-US" sz="1000" dirty="0"/>
          </a:p>
        </p:txBody>
      </p:sp>
      <p:sp>
        <p:nvSpPr>
          <p:cNvPr id="35" name="Text 32"/>
          <p:cNvSpPr/>
          <p:nvPr/>
        </p:nvSpPr>
        <p:spPr>
          <a:xfrm>
            <a:off x="7269480" y="3803904"/>
            <a:ext cx="640080" cy="347472"/>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$66B</a:t>
            </a:r>
            <a:endParaRPr lang="en-US" sz="1000" dirty="0"/>
          </a:p>
        </p:txBody>
      </p:sp>
      <p:sp>
        <p:nvSpPr>
          <p:cNvPr id="36" name="Text 33"/>
          <p:cNvSpPr/>
          <p:nvPr/>
        </p:nvSpPr>
        <p:spPr>
          <a:xfrm>
            <a:off x="7936992" y="3803904"/>
            <a:ext cx="868680" cy="347472"/>
          </a:xfrm>
          <a:prstGeom prst="rect">
            <a:avLst/>
          </a:prstGeom>
          <a:noFill/>
          <a:ln/>
        </p:spPr>
        <p:txBody>
          <a:bodyPr wrap="square" rtlCol="0" anchor="ctr"/>
          <a:lstStyle/>
          <a:p>
            <a:pPr marL="0" indent="0" algn="r">
              <a:buNone/>
            </a:pPr>
            <a:r>
              <a:rPr lang="en-US" sz="1000" b="1" dirty="0">
                <a:solidFill>
                  <a:srgbClr val="48CAE4"/>
                </a:solidFill>
                <a:latin typeface="Trebuchet MS" pitchFamily="34" charset="0"/>
                <a:ea typeface="Trebuchet MS" pitchFamily="34" charset="-122"/>
                <a:cs typeface="Trebuchet MS" pitchFamily="34" charset="-120"/>
              </a:rPr>
              <a:t>2.2%</a:t>
            </a:r>
            <a:endParaRPr lang="en-US" sz="1000" dirty="0"/>
          </a:p>
        </p:txBody>
      </p:sp>
      <p:sp>
        <p:nvSpPr>
          <p:cNvPr id="37" name="Shape 34"/>
          <p:cNvSpPr/>
          <p:nvPr/>
        </p:nvSpPr>
        <p:spPr>
          <a:xfrm>
            <a:off x="5760720" y="4288536"/>
            <a:ext cx="164592" cy="256032"/>
          </a:xfrm>
          <a:prstGeom prst="rect">
            <a:avLst/>
          </a:prstGeom>
          <a:solidFill>
            <a:srgbClr val="264653"/>
          </a:solidFill>
          <a:ln w="12700">
            <a:solidFill>
              <a:srgbClr val="264653"/>
            </a:solidFill>
            <a:prstDash val="solid"/>
          </a:ln>
        </p:spPr>
      </p:sp>
      <p:sp>
        <p:nvSpPr>
          <p:cNvPr id="38" name="Text 35"/>
          <p:cNvSpPr/>
          <p:nvPr/>
        </p:nvSpPr>
        <p:spPr>
          <a:xfrm>
            <a:off x="5989320" y="4242816"/>
            <a:ext cx="1280160" cy="34747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Others(93)</a:t>
            </a:r>
            <a:endParaRPr lang="en-US" sz="1000" dirty="0"/>
          </a:p>
        </p:txBody>
      </p:sp>
      <p:sp>
        <p:nvSpPr>
          <p:cNvPr id="39" name="Text 36"/>
          <p:cNvSpPr/>
          <p:nvPr/>
        </p:nvSpPr>
        <p:spPr>
          <a:xfrm>
            <a:off x="7269480" y="4242816"/>
            <a:ext cx="640080" cy="347472"/>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$431B</a:t>
            </a:r>
            <a:endParaRPr lang="en-US" sz="1000" dirty="0"/>
          </a:p>
        </p:txBody>
      </p:sp>
      <p:sp>
        <p:nvSpPr>
          <p:cNvPr id="40" name="Text 37"/>
          <p:cNvSpPr/>
          <p:nvPr/>
        </p:nvSpPr>
        <p:spPr>
          <a:xfrm>
            <a:off x="7936992" y="4242816"/>
            <a:ext cx="868680" cy="347472"/>
          </a:xfrm>
          <a:prstGeom prst="rect">
            <a:avLst/>
          </a:prstGeom>
          <a:noFill/>
          <a:ln/>
        </p:spPr>
        <p:txBody>
          <a:bodyPr wrap="square" rtlCol="0" anchor="ctr"/>
          <a:lstStyle/>
          <a:p>
            <a:pPr marL="0" indent="0" algn="r">
              <a:buNone/>
            </a:pPr>
            <a:r>
              <a:rPr lang="en-US" sz="1000" b="1" dirty="0">
                <a:solidFill>
                  <a:srgbClr val="264653"/>
                </a:solidFill>
                <a:latin typeface="Trebuchet MS" pitchFamily="34" charset="0"/>
                <a:ea typeface="Trebuchet MS" pitchFamily="34" charset="-122"/>
                <a:cs typeface="Trebuchet MS" pitchFamily="34" charset="-120"/>
              </a:rPr>
              <a:t>14.1%</a:t>
            </a:r>
            <a:endParaRPr lang="en-US" sz="1000" dirty="0"/>
          </a:p>
        </p:txBody>
      </p:sp>
      <p:sp>
        <p:nvSpPr>
          <p:cNvPr id="41" name="Shape 38"/>
          <p:cNvSpPr/>
          <p:nvPr/>
        </p:nvSpPr>
        <p:spPr>
          <a:xfrm>
            <a:off x="5669280" y="4754880"/>
            <a:ext cx="3246120" cy="137160"/>
          </a:xfrm>
          <a:prstGeom prst="rect">
            <a:avLst/>
          </a:prstGeom>
          <a:solidFill>
            <a:srgbClr val="0F3460"/>
          </a:solidFill>
          <a:ln w="12700">
            <a:solidFill>
              <a:srgbClr val="0F3460"/>
            </a:solidFill>
            <a:prstDash val="solid"/>
          </a:ln>
        </p:spPr>
      </p:sp>
      <p:sp>
        <p:nvSpPr>
          <p:cNvPr id="42" name="Text 39"/>
          <p:cNvSpPr/>
          <p:nvPr/>
        </p:nvSpPr>
        <p:spPr>
          <a:xfrm>
            <a:off x="5669280" y="4754880"/>
            <a:ext cx="3246120" cy="137160"/>
          </a:xfrm>
          <a:prstGeom prst="rect">
            <a:avLst/>
          </a:prstGeom>
          <a:noFill/>
          <a:ln/>
        </p:spPr>
        <p:txBody>
          <a:bodyPr wrap="square" rtlCol="0" anchor="ctr"/>
          <a:lstStyle/>
          <a:p>
            <a:pPr marL="0" indent="0" algn="ctr">
              <a:buNone/>
            </a:pPr>
            <a:r>
              <a:rPr lang="en-US" sz="900" b="1" dirty="0">
                <a:solidFill>
                  <a:srgbClr val="FFB703"/>
                </a:solidFill>
                <a:latin typeface="Trebuchet MS" pitchFamily="34" charset="0"/>
                <a:ea typeface="Trebuchet MS" pitchFamily="34" charset="-122"/>
                <a:cs typeface="Trebuchet MS" pitchFamily="34" charset="-120"/>
              </a:rPr>
              <a:t>Bitcoin = 55.3% of Total Market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1"/>
            <a:ext cx="9144000" cy="590843"/>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CHART 5  —  TREND ANALYSIS: 7-DAY PRICE CHANGE ACROSS TOP 23 COINS</a:t>
            </a:r>
            <a:endParaRPr lang="en-US" sz="2200" dirty="0"/>
          </a:p>
        </p:txBody>
      </p:sp>
      <p:graphicFrame>
        <p:nvGraphicFramePr>
          <p:cNvPr id="5" name="Chart 0"/>
          <p:cNvGraphicFramePr/>
          <p:nvPr/>
        </p:nvGraphicFramePr>
        <p:xfrm>
          <a:off x="274320" y="640080"/>
          <a:ext cx="85953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274320" y="4846320"/>
            <a:ext cx="8595360" cy="182880"/>
          </a:xfrm>
          <a:prstGeom prst="rect">
            <a:avLst/>
          </a:prstGeom>
          <a:noFill/>
          <a:ln/>
        </p:spPr>
        <p:txBody>
          <a:bodyPr wrap="square"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Green = Positive 7d change  |  Red = Negative 7d change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F3460"/>
          </a:solidFill>
          <a:ln w="12700">
            <a:solidFill>
              <a:srgbClr val="0F3460"/>
            </a:solidFill>
            <a:prstDash val="solid"/>
          </a:ln>
        </p:spPr>
      </p:sp>
      <p:sp>
        <p:nvSpPr>
          <p:cNvPr id="3" name="Shape 1"/>
          <p:cNvSpPr/>
          <p:nvPr/>
        </p:nvSpPr>
        <p:spPr>
          <a:xfrm>
            <a:off x="0" y="0"/>
            <a:ext cx="201168" cy="548640"/>
          </a:xfrm>
          <a:prstGeom prst="rect">
            <a:avLst/>
          </a:prstGeom>
          <a:solidFill>
            <a:srgbClr val="F4A261"/>
          </a:solidFill>
          <a:ln w="12700">
            <a:solidFill>
              <a:srgbClr val="F4A261"/>
            </a:solidFill>
            <a:prstDash val="solid"/>
          </a:ln>
        </p:spPr>
      </p:sp>
      <p:sp>
        <p:nvSpPr>
          <p:cNvPr id="4" name="Text 2"/>
          <p:cNvSpPr/>
          <p:nvPr/>
        </p:nvSpPr>
        <p:spPr>
          <a:xfrm>
            <a:off x="320040" y="82296"/>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CHART 6  —  COMPARATIVE ANALYSIS: CURRENT PRICE vs MARKET CAP (TOP 10)</a:t>
            </a:r>
            <a:endParaRPr lang="en-US" sz="2200" dirty="0"/>
          </a:p>
        </p:txBody>
      </p:sp>
      <p:graphicFrame>
        <p:nvGraphicFramePr>
          <p:cNvPr id="5" name="Chart 0"/>
          <p:cNvGraphicFramePr/>
          <p:nvPr/>
        </p:nvGraphicFramePr>
        <p:xfrm>
          <a:off x="274320" y="640080"/>
          <a:ext cx="4206240" cy="4114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663440" y="640080"/>
          <a:ext cx="4206240"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274320" y="4846320"/>
            <a:ext cx="8595360" cy="182880"/>
          </a:xfrm>
          <a:prstGeom prst="rect">
            <a:avLst/>
          </a:prstGeom>
          <a:noFill/>
          <a:ln/>
        </p:spPr>
        <p:txBody>
          <a:bodyPr wrap="square" rtlCol="0" anchor="ctr"/>
          <a:lstStyle/>
          <a:p>
            <a:pPr marL="0" indent="0" algn="ctr">
              <a:buNone/>
            </a:pPr>
            <a:r>
              <a:rPr lang="en-US" sz="1000" i="1" dirty="0">
                <a:solidFill>
                  <a:srgbClr val="475569"/>
                </a:solidFill>
                <a:latin typeface="Calibri" pitchFamily="34" charset="0"/>
                <a:ea typeface="Calibri" pitchFamily="34" charset="-122"/>
                <a:cs typeface="Calibri" pitchFamily="34" charset="-120"/>
              </a:rPr>
              <a:t>Key Insight: High price ≠ High market cap. TRON at $0.29 has $27.5B market cap (due to massive supply), while Solana at $116 has $66B.</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35169"/>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38089"/>
          </a:xfrm>
          <a:prstGeom prst="rect">
            <a:avLst/>
          </a:prstGeom>
          <a:solidFill>
            <a:srgbClr val="F4A261"/>
          </a:solidFill>
          <a:ln w="12700">
            <a:solidFill>
              <a:srgbClr val="F4A261"/>
            </a:solidFill>
            <a:prstDash val="solid"/>
          </a:ln>
        </p:spPr>
      </p:sp>
      <p:sp>
        <p:nvSpPr>
          <p:cNvPr id="4" name="Text 2"/>
          <p:cNvSpPr/>
          <p:nvPr/>
        </p:nvSpPr>
        <p:spPr>
          <a:xfrm>
            <a:off x="320040" y="99177"/>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CHART 7  —  ATH TREND (ALT COINS): SECOND LINE SERIES 2016–2026</a:t>
            </a:r>
            <a:endParaRPr lang="en-US" sz="2200" dirty="0"/>
          </a:p>
        </p:txBody>
      </p:sp>
      <p:graphicFrame>
        <p:nvGraphicFramePr>
          <p:cNvPr id="5" name="Chart 0"/>
          <p:cNvGraphicFramePr/>
          <p:nvPr/>
        </p:nvGraphicFramePr>
        <p:xfrm>
          <a:off x="274320" y="640080"/>
          <a:ext cx="59436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400800" y="640080"/>
            <a:ext cx="2514600" cy="411480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7" name="Shape 4"/>
          <p:cNvSpPr/>
          <p:nvPr/>
        </p:nvSpPr>
        <p:spPr>
          <a:xfrm>
            <a:off x="6400800" y="640080"/>
            <a:ext cx="2514600" cy="411480"/>
          </a:xfrm>
          <a:prstGeom prst="rect">
            <a:avLst/>
          </a:prstGeom>
          <a:solidFill>
            <a:srgbClr val="00C9A7"/>
          </a:solidFill>
          <a:ln w="12700">
            <a:solidFill>
              <a:srgbClr val="00C9A7"/>
            </a:solidFill>
            <a:prstDash val="solid"/>
          </a:ln>
        </p:spPr>
      </p:sp>
      <p:sp>
        <p:nvSpPr>
          <p:cNvPr id="8" name="Text 5"/>
          <p:cNvSpPr/>
          <p:nvPr/>
        </p:nvSpPr>
        <p:spPr>
          <a:xfrm>
            <a:off x="6446520" y="658368"/>
            <a:ext cx="2423160" cy="347472"/>
          </a:xfrm>
          <a:prstGeom prst="rect">
            <a:avLst/>
          </a:prstGeom>
          <a:noFill/>
          <a:ln/>
        </p:spPr>
        <p:txBody>
          <a:bodyPr wrap="square" rtlCol="0" anchor="ctr"/>
          <a:lstStyle/>
          <a:p>
            <a:pPr marL="0" indent="0" algn="ctr">
              <a:buNone/>
            </a:pPr>
            <a:r>
              <a:rPr lang="en-US" sz="1200" b="1" dirty="0">
                <a:solidFill>
                  <a:srgbClr val="0A1628"/>
                </a:solidFill>
                <a:latin typeface="Trebuchet MS" pitchFamily="34" charset="0"/>
                <a:ea typeface="Trebuchet MS" pitchFamily="34" charset="-122"/>
                <a:cs typeface="Trebuchet MS" pitchFamily="34" charset="-120"/>
              </a:rPr>
              <a:t>KEY INSIGHTS</a:t>
            </a:r>
            <a:endParaRPr lang="en-US" sz="1200" dirty="0"/>
          </a:p>
        </p:txBody>
      </p:sp>
      <p:sp>
        <p:nvSpPr>
          <p:cNvPr id="9" name="Text 6"/>
          <p:cNvSpPr/>
          <p:nvPr/>
        </p:nvSpPr>
        <p:spPr>
          <a:xfrm>
            <a:off x="6473952" y="1143000"/>
            <a:ext cx="2331720" cy="566928"/>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2024 was the standout year with 0.68M ATH for altcoins — driven by DeFi and Layer-2 expansion</a:t>
            </a:r>
            <a:endParaRPr lang="en-US" sz="950" dirty="0"/>
          </a:p>
        </p:txBody>
      </p:sp>
      <p:sp>
        <p:nvSpPr>
          <p:cNvPr id="10" name="Text 7"/>
          <p:cNvSpPr/>
          <p:nvPr/>
        </p:nvSpPr>
        <p:spPr>
          <a:xfrm>
            <a:off x="6473952" y="1764792"/>
            <a:ext cx="2331720" cy="566928"/>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2016–2023 shows near-flat ATH for this altcoin segment — dormant before 2024 boom</a:t>
            </a:r>
            <a:endParaRPr lang="en-US" sz="950" dirty="0"/>
          </a:p>
        </p:txBody>
      </p:sp>
      <p:sp>
        <p:nvSpPr>
          <p:cNvPr id="11" name="Text 8"/>
          <p:cNvSpPr/>
          <p:nvPr/>
        </p:nvSpPr>
        <p:spPr>
          <a:xfrm>
            <a:off x="6473952" y="2386584"/>
            <a:ext cx="2331720" cy="566928"/>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2021 saw minor spike (0.01M) reflecting the broad DeFi Summer momentum</a:t>
            </a:r>
            <a:endParaRPr lang="en-US" sz="950" dirty="0"/>
          </a:p>
        </p:txBody>
      </p:sp>
      <p:sp>
        <p:nvSpPr>
          <p:cNvPr id="12" name="Text 9"/>
          <p:cNvSpPr/>
          <p:nvPr/>
        </p:nvSpPr>
        <p:spPr>
          <a:xfrm>
            <a:off x="6473952" y="3008376"/>
            <a:ext cx="2331720" cy="566928"/>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Post-2024 correction is visible in 2025 (0.01M) and early 2026 (0.01M)</a:t>
            </a:r>
            <a:endParaRPr lang="en-US" sz="950" dirty="0"/>
          </a:p>
        </p:txBody>
      </p:sp>
      <p:sp>
        <p:nvSpPr>
          <p:cNvPr id="13" name="Text 10"/>
          <p:cNvSpPr/>
          <p:nvPr/>
        </p:nvSpPr>
        <p:spPr>
          <a:xfrm>
            <a:off x="6473952" y="3630168"/>
            <a:ext cx="2331720" cy="566928"/>
          </a:xfrm>
          <a:prstGeom prst="rect">
            <a:avLst/>
          </a:prstGeom>
          <a:noFill/>
          <a:ln/>
        </p:spPr>
        <p:txBody>
          <a:bodyPr wrap="square" rtlCol="0" anchor="ctr"/>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Pattern mirrors Bitcoin's ATH trend — confirming correlated bull/bear market cycles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POWER BI DASHBOARD  —  MAIN DASHBOARD OVERVIEW</a:t>
            </a:r>
            <a:endParaRPr lang="en-US" sz="2200" dirty="0"/>
          </a:p>
        </p:txBody>
      </p:sp>
      <p:pic>
        <p:nvPicPr>
          <p:cNvPr id="5" name="Image 0" descr="preencoded.png"/>
          <p:cNvPicPr>
            <a:picLocks noChangeAspect="1"/>
          </p:cNvPicPr>
          <p:nvPr/>
        </p:nvPicPr>
        <p:blipFill>
          <a:blip r:embed="rId3"/>
          <a:stretch>
            <a:fillRect/>
          </a:stretch>
        </p:blipFill>
        <p:spPr>
          <a:xfrm>
            <a:off x="274320" y="621792"/>
            <a:ext cx="5669280" cy="3474720"/>
          </a:xfrm>
          <a:prstGeom prst="rect">
            <a:avLst/>
          </a:prstGeom>
        </p:spPr>
      </p:pic>
      <p:sp>
        <p:nvSpPr>
          <p:cNvPr id="6" name="Shape 3"/>
          <p:cNvSpPr/>
          <p:nvPr/>
        </p:nvSpPr>
        <p:spPr>
          <a:xfrm>
            <a:off x="6080760" y="621792"/>
            <a:ext cx="2834640" cy="347472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7" name="Text 4"/>
          <p:cNvSpPr/>
          <p:nvPr/>
        </p:nvSpPr>
        <p:spPr>
          <a:xfrm>
            <a:off x="6172200" y="713232"/>
            <a:ext cx="2651760" cy="347472"/>
          </a:xfrm>
          <a:prstGeom prst="rect">
            <a:avLst/>
          </a:prstGeom>
          <a:noFill/>
          <a:ln/>
        </p:spPr>
        <p:txBody>
          <a:bodyPr wrap="square"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Dashboard Layout</a:t>
            </a:r>
            <a:endParaRPr lang="en-US" sz="1300" dirty="0"/>
          </a:p>
        </p:txBody>
      </p:sp>
      <p:sp>
        <p:nvSpPr>
          <p:cNvPr id="8" name="Text 5"/>
          <p:cNvSpPr/>
          <p:nvPr/>
        </p:nvSpPr>
        <p:spPr>
          <a:xfrm>
            <a:off x="6172200" y="1143000"/>
            <a:ext cx="841248" cy="457200"/>
          </a:xfrm>
          <a:prstGeom prst="rect">
            <a:avLst/>
          </a:prstGeom>
          <a:noFill/>
          <a:ln/>
        </p:spPr>
        <p:txBody>
          <a:bodyPr wrap="square" rtlCol="0" anchor="t"/>
          <a:lstStyle/>
          <a:p>
            <a:pPr marL="0" indent="0">
              <a:buNone/>
            </a:pPr>
            <a:r>
              <a:rPr lang="en-US" sz="900" b="1" dirty="0">
                <a:solidFill>
                  <a:srgbClr val="00C9A7"/>
                </a:solidFill>
                <a:latin typeface="Trebuchet MS" pitchFamily="34" charset="0"/>
                <a:ea typeface="Trebuchet MS" pitchFamily="34" charset="-122"/>
                <a:cs typeface="Trebuchet MS" pitchFamily="34" charset="-120"/>
              </a:rPr>
              <a:t>Top Row:</a:t>
            </a:r>
            <a:endParaRPr lang="en-US" sz="900" dirty="0"/>
          </a:p>
        </p:txBody>
      </p:sp>
      <p:sp>
        <p:nvSpPr>
          <p:cNvPr id="9" name="Text 6"/>
          <p:cNvSpPr/>
          <p:nvPr/>
        </p:nvSpPr>
        <p:spPr>
          <a:xfrm>
            <a:off x="7040880" y="1143000"/>
            <a:ext cx="1755648" cy="457200"/>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KPI cards: Coin Count (100), Market Cap (3T), 7d Change (-6.73), 24hr Change (-131.43), Current Price ($453.8K)</a:t>
            </a:r>
            <a:endParaRPr lang="en-US" sz="800" dirty="0"/>
          </a:p>
        </p:txBody>
      </p:sp>
      <p:sp>
        <p:nvSpPr>
          <p:cNvPr id="10" name="Text 7"/>
          <p:cNvSpPr/>
          <p:nvPr/>
        </p:nvSpPr>
        <p:spPr>
          <a:xfrm>
            <a:off x="6172200" y="1618488"/>
            <a:ext cx="841248" cy="457200"/>
          </a:xfrm>
          <a:prstGeom prst="rect">
            <a:avLst/>
          </a:prstGeom>
          <a:noFill/>
          <a:ln/>
        </p:spPr>
        <p:txBody>
          <a:bodyPr wrap="square" rtlCol="0" anchor="t"/>
          <a:lstStyle/>
          <a:p>
            <a:pPr marL="0" indent="0">
              <a:buNone/>
            </a:pPr>
            <a:r>
              <a:rPr lang="en-US" sz="900" b="1" dirty="0">
                <a:solidFill>
                  <a:srgbClr val="00C9A7"/>
                </a:solidFill>
                <a:latin typeface="Trebuchet MS" pitchFamily="34" charset="0"/>
                <a:ea typeface="Trebuchet MS" pitchFamily="34" charset="-122"/>
                <a:cs typeface="Trebuchet MS" pitchFamily="34" charset="-120"/>
              </a:rPr>
              <a:t>Top Right:</a:t>
            </a:r>
            <a:endParaRPr lang="en-US" sz="900" dirty="0"/>
          </a:p>
        </p:txBody>
      </p:sp>
      <p:sp>
        <p:nvSpPr>
          <p:cNvPr id="11" name="Text 8"/>
          <p:cNvSpPr/>
          <p:nvPr/>
        </p:nvSpPr>
        <p:spPr>
          <a:xfrm>
            <a:off x="7040880" y="1618488"/>
            <a:ext cx="1755648" cy="457200"/>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Title banner + Name dropdown filter for dynamic coin selection across all visuals</a:t>
            </a:r>
            <a:endParaRPr lang="en-US" sz="800" dirty="0"/>
          </a:p>
        </p:txBody>
      </p:sp>
      <p:sp>
        <p:nvSpPr>
          <p:cNvPr id="12" name="Text 9"/>
          <p:cNvSpPr/>
          <p:nvPr/>
        </p:nvSpPr>
        <p:spPr>
          <a:xfrm>
            <a:off x="6172200" y="2093976"/>
            <a:ext cx="841248" cy="457200"/>
          </a:xfrm>
          <a:prstGeom prst="rect">
            <a:avLst/>
          </a:prstGeom>
          <a:noFill/>
          <a:ln/>
        </p:spPr>
        <p:txBody>
          <a:bodyPr wrap="square" rtlCol="0" anchor="t"/>
          <a:lstStyle/>
          <a:p>
            <a:pPr marL="0" indent="0">
              <a:buNone/>
            </a:pPr>
            <a:r>
              <a:rPr lang="en-US" sz="900" b="1" dirty="0">
                <a:solidFill>
                  <a:srgbClr val="00C9A7"/>
                </a:solidFill>
                <a:latin typeface="Trebuchet MS" pitchFamily="34" charset="0"/>
                <a:ea typeface="Trebuchet MS" pitchFamily="34" charset="-122"/>
                <a:cs typeface="Trebuchet MS" pitchFamily="34" charset="-120"/>
              </a:rPr>
              <a:t>Bottom Left:</a:t>
            </a:r>
            <a:endParaRPr lang="en-US" sz="900" dirty="0"/>
          </a:p>
        </p:txBody>
      </p:sp>
      <p:sp>
        <p:nvSpPr>
          <p:cNvPr id="13" name="Text 10"/>
          <p:cNvSpPr/>
          <p:nvPr/>
        </p:nvSpPr>
        <p:spPr>
          <a:xfrm>
            <a:off x="7040880" y="2093976"/>
            <a:ext cx="1755648" cy="457200"/>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Bar/line chart: ATH &amp; ATL comparison across top 12 cryptocurrency names</a:t>
            </a:r>
            <a:endParaRPr lang="en-US" sz="800" dirty="0"/>
          </a:p>
        </p:txBody>
      </p:sp>
      <p:sp>
        <p:nvSpPr>
          <p:cNvPr id="14" name="Text 11"/>
          <p:cNvSpPr/>
          <p:nvPr/>
        </p:nvSpPr>
        <p:spPr>
          <a:xfrm>
            <a:off x="6172200" y="2569464"/>
            <a:ext cx="841248" cy="457200"/>
          </a:xfrm>
          <a:prstGeom prst="rect">
            <a:avLst/>
          </a:prstGeom>
          <a:noFill/>
          <a:ln/>
        </p:spPr>
        <p:txBody>
          <a:bodyPr wrap="square" rtlCol="0" anchor="t"/>
          <a:lstStyle/>
          <a:p>
            <a:pPr marL="0" indent="0">
              <a:buNone/>
            </a:pPr>
            <a:r>
              <a:rPr lang="en-US" sz="900" b="1" dirty="0">
                <a:solidFill>
                  <a:srgbClr val="00C9A7"/>
                </a:solidFill>
                <a:latin typeface="Trebuchet MS" pitchFamily="34" charset="0"/>
                <a:ea typeface="Trebuchet MS" pitchFamily="34" charset="-122"/>
                <a:cs typeface="Trebuchet MS" pitchFamily="34" charset="-120"/>
              </a:rPr>
              <a:t>Bottom Right:</a:t>
            </a:r>
            <a:endParaRPr lang="en-US" sz="900" dirty="0"/>
          </a:p>
        </p:txBody>
      </p:sp>
      <p:sp>
        <p:nvSpPr>
          <p:cNvPr id="15" name="Text 12"/>
          <p:cNvSpPr/>
          <p:nvPr/>
        </p:nvSpPr>
        <p:spPr>
          <a:xfrm>
            <a:off x="7040880" y="2569464"/>
            <a:ext cx="1755648" cy="457200"/>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Two line charts showing ATH trends by year (two separate time windows)</a:t>
            </a:r>
            <a:endParaRPr lang="en-US" sz="800" dirty="0"/>
          </a:p>
        </p:txBody>
      </p:sp>
      <p:sp>
        <p:nvSpPr>
          <p:cNvPr id="16" name="Text 13"/>
          <p:cNvSpPr/>
          <p:nvPr/>
        </p:nvSpPr>
        <p:spPr>
          <a:xfrm>
            <a:off x="6172200" y="3044952"/>
            <a:ext cx="841248" cy="457200"/>
          </a:xfrm>
          <a:prstGeom prst="rect">
            <a:avLst/>
          </a:prstGeom>
          <a:noFill/>
          <a:ln/>
        </p:spPr>
        <p:txBody>
          <a:bodyPr wrap="square" rtlCol="0" anchor="t"/>
          <a:lstStyle/>
          <a:p>
            <a:pPr marL="0" indent="0">
              <a:buNone/>
            </a:pPr>
            <a:r>
              <a:rPr lang="en-US" sz="900" b="1" dirty="0">
                <a:solidFill>
                  <a:srgbClr val="00C9A7"/>
                </a:solidFill>
                <a:latin typeface="Trebuchet MS" pitchFamily="34" charset="0"/>
                <a:ea typeface="Trebuchet MS" pitchFamily="34" charset="-122"/>
                <a:cs typeface="Trebuchet MS" pitchFamily="34" charset="-120"/>
              </a:rPr>
              <a:t>Navigation:</a:t>
            </a:r>
            <a:endParaRPr lang="en-US" sz="900" dirty="0"/>
          </a:p>
        </p:txBody>
      </p:sp>
      <p:sp>
        <p:nvSpPr>
          <p:cNvPr id="17" name="Text 14"/>
          <p:cNvSpPr/>
          <p:nvPr/>
        </p:nvSpPr>
        <p:spPr>
          <a:xfrm>
            <a:off x="7040880" y="3044952"/>
            <a:ext cx="1755648" cy="457200"/>
          </a:xfrm>
          <a:prstGeom prst="rect">
            <a:avLst/>
          </a:prstGeom>
          <a:noFill/>
          <a:ln/>
        </p:spPr>
        <p:txBody>
          <a:bodyPr wrap="square" rtlCol="0" anchor="t"/>
          <a:lstStyle/>
          <a:p>
            <a:pPr marL="0" indent="0">
              <a:buNone/>
            </a:pPr>
            <a:r>
              <a:rPr lang="en-US" sz="800" dirty="0">
                <a:solidFill>
                  <a:srgbClr val="64748B"/>
                </a:solidFill>
                <a:latin typeface="Calibri" pitchFamily="34" charset="0"/>
                <a:ea typeface="Calibri" pitchFamily="34" charset="-122"/>
                <a:cs typeface="Calibri" pitchFamily="34" charset="-120"/>
              </a:rPr>
              <a:t>Click Here for Overview button links to the ranked overview table page</a:t>
            </a:r>
            <a:endParaRPr lang="en-US" sz="800" dirty="0"/>
          </a:p>
        </p:txBody>
      </p:sp>
      <p:sp>
        <p:nvSpPr>
          <p:cNvPr id="18" name="Shape 15"/>
          <p:cNvSpPr/>
          <p:nvPr/>
        </p:nvSpPr>
        <p:spPr>
          <a:xfrm>
            <a:off x="274320" y="4206240"/>
            <a:ext cx="8595360" cy="548640"/>
          </a:xfrm>
          <a:prstGeom prst="rect">
            <a:avLst/>
          </a:prstGeom>
          <a:solidFill>
            <a:srgbClr val="0F3460"/>
          </a:solidFill>
          <a:ln w="12700">
            <a:solidFill>
              <a:srgbClr val="1E4976"/>
            </a:solidFill>
            <a:prstDash val="solid"/>
          </a:ln>
        </p:spPr>
      </p:sp>
      <p:sp>
        <p:nvSpPr>
          <p:cNvPr id="19" name="Text 16"/>
          <p:cNvSpPr/>
          <p:nvPr/>
        </p:nvSpPr>
        <p:spPr>
          <a:xfrm>
            <a:off x="457200" y="4251960"/>
            <a:ext cx="8321040" cy="4572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The dashboard uses a dark navy theme consistent with financial intelligence platforms. All visuals are cross-filtered — clicking any element updates the entire report dynamically.</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DASHBOARD EXPLANATION  —  KPIs, METRICS &amp; CARD ANALYSIS</a:t>
            </a:r>
            <a:endParaRPr lang="en-US" sz="2200" dirty="0"/>
          </a:p>
        </p:txBody>
      </p:sp>
      <p:sp>
        <p:nvSpPr>
          <p:cNvPr id="5" name="Shape 3"/>
          <p:cNvSpPr/>
          <p:nvPr/>
        </p:nvSpPr>
        <p:spPr>
          <a:xfrm>
            <a:off x="274320" y="713232"/>
            <a:ext cx="8595360" cy="749808"/>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13232"/>
            <a:ext cx="1005840" cy="749808"/>
          </a:xfrm>
          <a:prstGeom prst="rect">
            <a:avLst/>
          </a:prstGeom>
          <a:solidFill>
            <a:srgbClr val="0F3460"/>
          </a:solidFill>
          <a:ln w="12700">
            <a:solidFill>
              <a:srgbClr val="0F3460"/>
            </a:solidFill>
            <a:prstDash val="solid"/>
          </a:ln>
        </p:spPr>
      </p:sp>
      <p:sp>
        <p:nvSpPr>
          <p:cNvPr id="7" name="Text 5"/>
          <p:cNvSpPr/>
          <p:nvPr/>
        </p:nvSpPr>
        <p:spPr>
          <a:xfrm>
            <a:off x="274320" y="713232"/>
            <a:ext cx="1005840" cy="74980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Shape 6"/>
          <p:cNvSpPr/>
          <p:nvPr/>
        </p:nvSpPr>
        <p:spPr>
          <a:xfrm>
            <a:off x="1280160" y="713232"/>
            <a:ext cx="1280160" cy="749808"/>
          </a:xfrm>
          <a:prstGeom prst="rect">
            <a:avLst/>
          </a:prstGeom>
          <a:solidFill>
            <a:srgbClr val="0A1628"/>
          </a:solidFill>
          <a:ln w="12700">
            <a:solidFill>
              <a:srgbClr val="0A1628"/>
            </a:solidFill>
            <a:prstDash val="solid"/>
          </a:ln>
        </p:spPr>
      </p:sp>
      <p:sp>
        <p:nvSpPr>
          <p:cNvPr id="9" name="Text 7"/>
          <p:cNvSpPr/>
          <p:nvPr/>
        </p:nvSpPr>
        <p:spPr>
          <a:xfrm>
            <a:off x="1280160" y="713232"/>
            <a:ext cx="1280160" cy="749808"/>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100</a:t>
            </a:r>
            <a:endParaRPr lang="en-US" sz="1800" dirty="0"/>
          </a:p>
        </p:txBody>
      </p:sp>
      <p:sp>
        <p:nvSpPr>
          <p:cNvPr id="10" name="Text 8"/>
          <p:cNvSpPr/>
          <p:nvPr/>
        </p:nvSpPr>
        <p:spPr>
          <a:xfrm>
            <a:off x="2606040" y="786384"/>
            <a:ext cx="16459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COIN COUNT</a:t>
            </a:r>
            <a:endParaRPr lang="en-US" sz="1100" dirty="0"/>
          </a:p>
        </p:txBody>
      </p:sp>
      <p:sp>
        <p:nvSpPr>
          <p:cNvPr id="11" name="Text 9"/>
          <p:cNvSpPr/>
          <p:nvPr/>
        </p:nvSpPr>
        <p:spPr>
          <a:xfrm>
            <a:off x="2606040" y="1097280"/>
            <a:ext cx="6126480" cy="3200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Total distinct cryptocurrencies tracked in this dataset. Provides market breadth coverage.</a:t>
            </a:r>
            <a:endParaRPr lang="en-US" sz="1000" dirty="0"/>
          </a:p>
        </p:txBody>
      </p:sp>
      <p:sp>
        <p:nvSpPr>
          <p:cNvPr id="12" name="Shape 10"/>
          <p:cNvSpPr/>
          <p:nvPr/>
        </p:nvSpPr>
        <p:spPr>
          <a:xfrm>
            <a:off x="274320" y="1554480"/>
            <a:ext cx="8595360" cy="749808"/>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3" name="Shape 11"/>
          <p:cNvSpPr/>
          <p:nvPr/>
        </p:nvSpPr>
        <p:spPr>
          <a:xfrm>
            <a:off x="274320" y="1554480"/>
            <a:ext cx="1005840" cy="749808"/>
          </a:xfrm>
          <a:prstGeom prst="rect">
            <a:avLst/>
          </a:prstGeom>
          <a:solidFill>
            <a:srgbClr val="0F3460"/>
          </a:solidFill>
          <a:ln w="12700">
            <a:solidFill>
              <a:srgbClr val="0F3460"/>
            </a:solidFill>
            <a:prstDash val="solid"/>
          </a:ln>
        </p:spPr>
      </p:sp>
      <p:sp>
        <p:nvSpPr>
          <p:cNvPr id="14" name="Text 12"/>
          <p:cNvSpPr/>
          <p:nvPr/>
        </p:nvSpPr>
        <p:spPr>
          <a:xfrm>
            <a:off x="274320" y="1554480"/>
            <a:ext cx="1005840" cy="74980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5" name="Shape 13"/>
          <p:cNvSpPr/>
          <p:nvPr/>
        </p:nvSpPr>
        <p:spPr>
          <a:xfrm>
            <a:off x="1280160" y="1554480"/>
            <a:ext cx="1280160" cy="749808"/>
          </a:xfrm>
          <a:prstGeom prst="rect">
            <a:avLst/>
          </a:prstGeom>
          <a:solidFill>
            <a:srgbClr val="0A1628"/>
          </a:solidFill>
          <a:ln w="12700">
            <a:solidFill>
              <a:srgbClr val="0A1628"/>
            </a:solidFill>
            <a:prstDash val="solid"/>
          </a:ln>
        </p:spPr>
      </p:sp>
      <p:sp>
        <p:nvSpPr>
          <p:cNvPr id="16" name="Text 14"/>
          <p:cNvSpPr/>
          <p:nvPr/>
        </p:nvSpPr>
        <p:spPr>
          <a:xfrm>
            <a:off x="1280160" y="1554480"/>
            <a:ext cx="1280160" cy="749808"/>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$3T</a:t>
            </a:r>
            <a:endParaRPr lang="en-US" sz="1800" dirty="0"/>
          </a:p>
        </p:txBody>
      </p:sp>
      <p:sp>
        <p:nvSpPr>
          <p:cNvPr id="17" name="Text 15"/>
          <p:cNvSpPr/>
          <p:nvPr/>
        </p:nvSpPr>
        <p:spPr>
          <a:xfrm>
            <a:off x="2606040" y="1627632"/>
            <a:ext cx="16459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MARKET CAP</a:t>
            </a:r>
            <a:endParaRPr lang="en-US" sz="1100" dirty="0"/>
          </a:p>
        </p:txBody>
      </p:sp>
      <p:sp>
        <p:nvSpPr>
          <p:cNvPr id="18" name="Text 16"/>
          <p:cNvSpPr/>
          <p:nvPr/>
        </p:nvSpPr>
        <p:spPr>
          <a:xfrm>
            <a:off x="2606040" y="1938528"/>
            <a:ext cx="6126480" cy="3200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Sum of all 100 coins' market capitalisations. Reflects total crypto market size.</a:t>
            </a:r>
            <a:endParaRPr lang="en-US" sz="1000" dirty="0"/>
          </a:p>
        </p:txBody>
      </p:sp>
      <p:sp>
        <p:nvSpPr>
          <p:cNvPr id="19" name="Shape 17"/>
          <p:cNvSpPr/>
          <p:nvPr/>
        </p:nvSpPr>
        <p:spPr>
          <a:xfrm>
            <a:off x="274320" y="2395728"/>
            <a:ext cx="8595360" cy="749808"/>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0" name="Shape 18"/>
          <p:cNvSpPr/>
          <p:nvPr/>
        </p:nvSpPr>
        <p:spPr>
          <a:xfrm>
            <a:off x="274320" y="2395728"/>
            <a:ext cx="1005840" cy="749808"/>
          </a:xfrm>
          <a:prstGeom prst="rect">
            <a:avLst/>
          </a:prstGeom>
          <a:solidFill>
            <a:srgbClr val="0F3460"/>
          </a:solidFill>
          <a:ln w="12700">
            <a:solidFill>
              <a:srgbClr val="0F3460"/>
            </a:solidFill>
            <a:prstDash val="solid"/>
          </a:ln>
        </p:spPr>
      </p:sp>
      <p:sp>
        <p:nvSpPr>
          <p:cNvPr id="21" name="Text 19"/>
          <p:cNvSpPr/>
          <p:nvPr/>
        </p:nvSpPr>
        <p:spPr>
          <a:xfrm>
            <a:off x="274320" y="2395728"/>
            <a:ext cx="1005840" cy="74980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2" name="Shape 20"/>
          <p:cNvSpPr/>
          <p:nvPr/>
        </p:nvSpPr>
        <p:spPr>
          <a:xfrm>
            <a:off x="1280160" y="2395728"/>
            <a:ext cx="1280160" cy="749808"/>
          </a:xfrm>
          <a:prstGeom prst="rect">
            <a:avLst/>
          </a:prstGeom>
          <a:solidFill>
            <a:srgbClr val="0A1628"/>
          </a:solidFill>
          <a:ln w="12700">
            <a:solidFill>
              <a:srgbClr val="0A1628"/>
            </a:solidFill>
            <a:prstDash val="solid"/>
          </a:ln>
        </p:spPr>
      </p:sp>
      <p:sp>
        <p:nvSpPr>
          <p:cNvPr id="23" name="Text 21"/>
          <p:cNvSpPr/>
          <p:nvPr/>
        </p:nvSpPr>
        <p:spPr>
          <a:xfrm>
            <a:off x="1280160" y="2395728"/>
            <a:ext cx="1280160" cy="749808"/>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-6.73</a:t>
            </a:r>
            <a:endParaRPr lang="en-US" sz="1800" dirty="0"/>
          </a:p>
        </p:txBody>
      </p:sp>
      <p:sp>
        <p:nvSpPr>
          <p:cNvPr id="24" name="Text 22"/>
          <p:cNvSpPr/>
          <p:nvPr/>
        </p:nvSpPr>
        <p:spPr>
          <a:xfrm>
            <a:off x="2606040" y="2468880"/>
            <a:ext cx="16459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7D CHANGE %</a:t>
            </a:r>
            <a:endParaRPr lang="en-US" sz="1100" dirty="0"/>
          </a:p>
        </p:txBody>
      </p:sp>
      <p:sp>
        <p:nvSpPr>
          <p:cNvPr id="25" name="Text 23"/>
          <p:cNvSpPr/>
          <p:nvPr/>
        </p:nvSpPr>
        <p:spPr>
          <a:xfrm>
            <a:off x="2606040" y="2779776"/>
            <a:ext cx="6126480" cy="3200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Average 7-day price change across all coins. Negative = broad weekly market selloff.</a:t>
            </a:r>
            <a:endParaRPr lang="en-US" sz="1000" dirty="0"/>
          </a:p>
        </p:txBody>
      </p:sp>
      <p:sp>
        <p:nvSpPr>
          <p:cNvPr id="26" name="Shape 24"/>
          <p:cNvSpPr/>
          <p:nvPr/>
        </p:nvSpPr>
        <p:spPr>
          <a:xfrm>
            <a:off x="274320" y="3236976"/>
            <a:ext cx="8595360" cy="749808"/>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7" name="Shape 25"/>
          <p:cNvSpPr/>
          <p:nvPr/>
        </p:nvSpPr>
        <p:spPr>
          <a:xfrm>
            <a:off x="274320" y="3236976"/>
            <a:ext cx="1005840" cy="749808"/>
          </a:xfrm>
          <a:prstGeom prst="rect">
            <a:avLst/>
          </a:prstGeom>
          <a:solidFill>
            <a:srgbClr val="0F3460"/>
          </a:solidFill>
          <a:ln w="12700">
            <a:solidFill>
              <a:srgbClr val="0F3460"/>
            </a:solidFill>
            <a:prstDash val="solid"/>
          </a:ln>
        </p:spPr>
      </p:sp>
      <p:sp>
        <p:nvSpPr>
          <p:cNvPr id="28" name="Text 26"/>
          <p:cNvSpPr/>
          <p:nvPr/>
        </p:nvSpPr>
        <p:spPr>
          <a:xfrm>
            <a:off x="274320" y="3236976"/>
            <a:ext cx="1005840" cy="74980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9" name="Shape 27"/>
          <p:cNvSpPr/>
          <p:nvPr/>
        </p:nvSpPr>
        <p:spPr>
          <a:xfrm>
            <a:off x="1280160" y="3236976"/>
            <a:ext cx="1280160" cy="749808"/>
          </a:xfrm>
          <a:prstGeom prst="rect">
            <a:avLst/>
          </a:prstGeom>
          <a:solidFill>
            <a:srgbClr val="0A1628"/>
          </a:solidFill>
          <a:ln w="12700">
            <a:solidFill>
              <a:srgbClr val="0A1628"/>
            </a:solidFill>
            <a:prstDash val="solid"/>
          </a:ln>
        </p:spPr>
      </p:sp>
      <p:sp>
        <p:nvSpPr>
          <p:cNvPr id="30" name="Text 28"/>
          <p:cNvSpPr/>
          <p:nvPr/>
        </p:nvSpPr>
        <p:spPr>
          <a:xfrm>
            <a:off x="1280160" y="3236976"/>
            <a:ext cx="1280160" cy="749808"/>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-131.43</a:t>
            </a:r>
            <a:endParaRPr lang="en-US" sz="1800" dirty="0"/>
          </a:p>
        </p:txBody>
      </p:sp>
      <p:sp>
        <p:nvSpPr>
          <p:cNvPr id="31" name="Text 29"/>
          <p:cNvSpPr/>
          <p:nvPr/>
        </p:nvSpPr>
        <p:spPr>
          <a:xfrm>
            <a:off x="2606040" y="3310128"/>
            <a:ext cx="16459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24HR CHANGE</a:t>
            </a:r>
            <a:endParaRPr lang="en-US" sz="1100" dirty="0"/>
          </a:p>
        </p:txBody>
      </p:sp>
      <p:sp>
        <p:nvSpPr>
          <p:cNvPr id="32" name="Text 30"/>
          <p:cNvSpPr/>
          <p:nvPr/>
        </p:nvSpPr>
        <p:spPr>
          <a:xfrm>
            <a:off x="2606040" y="3621024"/>
            <a:ext cx="6126480" cy="3200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Aggregate 24-hour price movement. Large negative signals short-term market pressure.</a:t>
            </a:r>
            <a:endParaRPr lang="en-US" sz="1000" dirty="0"/>
          </a:p>
        </p:txBody>
      </p:sp>
      <p:sp>
        <p:nvSpPr>
          <p:cNvPr id="33" name="Shape 31"/>
          <p:cNvSpPr/>
          <p:nvPr/>
        </p:nvSpPr>
        <p:spPr>
          <a:xfrm>
            <a:off x="274320" y="4078224"/>
            <a:ext cx="8595360" cy="749808"/>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34" name="Shape 32"/>
          <p:cNvSpPr/>
          <p:nvPr/>
        </p:nvSpPr>
        <p:spPr>
          <a:xfrm>
            <a:off x="274320" y="4078224"/>
            <a:ext cx="1005840" cy="749808"/>
          </a:xfrm>
          <a:prstGeom prst="rect">
            <a:avLst/>
          </a:prstGeom>
          <a:solidFill>
            <a:srgbClr val="0F3460"/>
          </a:solidFill>
          <a:ln w="12700">
            <a:solidFill>
              <a:srgbClr val="0F3460"/>
            </a:solidFill>
            <a:prstDash val="solid"/>
          </a:ln>
        </p:spPr>
      </p:sp>
      <p:sp>
        <p:nvSpPr>
          <p:cNvPr id="35" name="Text 33"/>
          <p:cNvSpPr/>
          <p:nvPr/>
        </p:nvSpPr>
        <p:spPr>
          <a:xfrm>
            <a:off x="274320" y="4078224"/>
            <a:ext cx="1005840" cy="74980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6" name="Shape 34"/>
          <p:cNvSpPr/>
          <p:nvPr/>
        </p:nvSpPr>
        <p:spPr>
          <a:xfrm>
            <a:off x="1280160" y="4078224"/>
            <a:ext cx="1280160" cy="749808"/>
          </a:xfrm>
          <a:prstGeom prst="rect">
            <a:avLst/>
          </a:prstGeom>
          <a:solidFill>
            <a:srgbClr val="0A1628"/>
          </a:solidFill>
          <a:ln w="12700">
            <a:solidFill>
              <a:srgbClr val="0A1628"/>
            </a:solidFill>
            <a:prstDash val="solid"/>
          </a:ln>
        </p:spPr>
      </p:sp>
      <p:sp>
        <p:nvSpPr>
          <p:cNvPr id="37" name="Text 35"/>
          <p:cNvSpPr/>
          <p:nvPr/>
        </p:nvSpPr>
        <p:spPr>
          <a:xfrm>
            <a:off x="1280160" y="4078224"/>
            <a:ext cx="1280160" cy="749808"/>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$453.8K</a:t>
            </a:r>
            <a:endParaRPr lang="en-US" sz="1800" dirty="0"/>
          </a:p>
        </p:txBody>
      </p:sp>
      <p:sp>
        <p:nvSpPr>
          <p:cNvPr id="38" name="Text 36"/>
          <p:cNvSpPr/>
          <p:nvPr/>
        </p:nvSpPr>
        <p:spPr>
          <a:xfrm>
            <a:off x="2606040" y="4151376"/>
            <a:ext cx="1645920" cy="274320"/>
          </a:xfrm>
          <a:prstGeom prst="rect">
            <a:avLst/>
          </a:prstGeom>
          <a:noFill/>
          <a:ln/>
        </p:spPr>
        <p:txBody>
          <a:bodyPr wrap="square"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CURRENT PRICE</a:t>
            </a:r>
            <a:endParaRPr lang="en-US" sz="1100" dirty="0"/>
          </a:p>
        </p:txBody>
      </p:sp>
      <p:sp>
        <p:nvSpPr>
          <p:cNvPr id="39" name="Text 37"/>
          <p:cNvSpPr/>
          <p:nvPr/>
        </p:nvSpPr>
        <p:spPr>
          <a:xfrm>
            <a:off x="2606040" y="4462272"/>
            <a:ext cx="6126480" cy="32004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Highest current price recorded — likely a Bitcoin variant at its peak valuation.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22860"/>
            <a:ext cx="9144000" cy="553212"/>
          </a:xfrm>
          <a:prstGeom prst="rect">
            <a:avLst/>
          </a:prstGeom>
          <a:solidFill>
            <a:srgbClr val="0F3460"/>
          </a:solidFill>
          <a:ln w="12700">
            <a:solidFill>
              <a:srgbClr val="0F3460"/>
            </a:solidFill>
            <a:prstDash val="solid"/>
          </a:ln>
        </p:spPr>
      </p:sp>
      <p:sp>
        <p:nvSpPr>
          <p:cNvPr id="3" name="Shape 1"/>
          <p:cNvSpPr/>
          <p:nvPr/>
        </p:nvSpPr>
        <p:spPr>
          <a:xfrm>
            <a:off x="0" y="0"/>
            <a:ext cx="201168" cy="525780"/>
          </a:xfrm>
          <a:prstGeom prst="rect">
            <a:avLst/>
          </a:prstGeom>
          <a:solidFill>
            <a:srgbClr val="F4A261"/>
          </a:solidFill>
          <a:ln w="12700">
            <a:solidFill>
              <a:srgbClr val="F4A261"/>
            </a:solidFill>
            <a:prstDash val="solid"/>
          </a:ln>
        </p:spPr>
      </p:sp>
      <p:sp>
        <p:nvSpPr>
          <p:cNvPr id="4" name="Text 2"/>
          <p:cNvSpPr/>
          <p:nvPr/>
        </p:nvSpPr>
        <p:spPr>
          <a:xfrm>
            <a:off x="320040" y="8686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DASHBOARD EXPLANATION  —  OVERVIEW TABLE &amp; INTERACTIVE FILTERS</a:t>
            </a:r>
            <a:endParaRPr lang="en-US" sz="2200" dirty="0"/>
          </a:p>
        </p:txBody>
      </p:sp>
      <p:pic>
        <p:nvPicPr>
          <p:cNvPr id="5" name="Image 0" descr="preencoded.png"/>
          <p:cNvPicPr>
            <a:picLocks noChangeAspect="1"/>
          </p:cNvPicPr>
          <p:nvPr/>
        </p:nvPicPr>
        <p:blipFill>
          <a:blip r:embed="rId3"/>
          <a:stretch>
            <a:fillRect/>
          </a:stretch>
        </p:blipFill>
        <p:spPr>
          <a:xfrm>
            <a:off x="274320" y="621792"/>
            <a:ext cx="8595360" cy="3200400"/>
          </a:xfrm>
          <a:prstGeom prst="rect">
            <a:avLst/>
          </a:prstGeom>
        </p:spPr>
      </p:pic>
      <p:sp>
        <p:nvSpPr>
          <p:cNvPr id="6" name="Shape 3"/>
          <p:cNvSpPr/>
          <p:nvPr/>
        </p:nvSpPr>
        <p:spPr>
          <a:xfrm>
            <a:off x="274320" y="3977640"/>
            <a:ext cx="2788920" cy="9875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7" name="Shape 4"/>
          <p:cNvSpPr/>
          <p:nvPr/>
        </p:nvSpPr>
        <p:spPr>
          <a:xfrm>
            <a:off x="274320" y="3977640"/>
            <a:ext cx="2788920" cy="91440"/>
          </a:xfrm>
          <a:prstGeom prst="rect">
            <a:avLst/>
          </a:prstGeom>
          <a:solidFill>
            <a:srgbClr val="00C9A7"/>
          </a:solidFill>
          <a:ln w="12700">
            <a:solidFill>
              <a:srgbClr val="00C9A7"/>
            </a:solidFill>
            <a:prstDash val="solid"/>
          </a:ln>
        </p:spPr>
      </p:sp>
      <p:sp>
        <p:nvSpPr>
          <p:cNvPr id="8" name="Text 5"/>
          <p:cNvSpPr/>
          <p:nvPr/>
        </p:nvSpPr>
        <p:spPr>
          <a:xfrm>
            <a:off x="384048" y="4069080"/>
            <a:ext cx="2578608" cy="320040"/>
          </a:xfrm>
          <a:prstGeom prst="rect">
            <a:avLst/>
          </a:prstGeom>
          <a:noFill/>
          <a:ln/>
        </p:spPr>
        <p:txBody>
          <a:bodyPr wrap="square" rtlCol="0" anchor="ctr"/>
          <a:lstStyle/>
          <a:p>
            <a:pPr marL="0" indent="0">
              <a:buNone/>
            </a:pPr>
            <a:r>
              <a:rPr lang="en-US" sz="1200" b="1" dirty="0">
                <a:solidFill>
                  <a:srgbClr val="F4A261"/>
                </a:solidFill>
                <a:latin typeface="Trebuchet MS" pitchFamily="34" charset="0"/>
                <a:ea typeface="Trebuchet MS" pitchFamily="34" charset="-122"/>
                <a:cs typeface="Trebuchet MS" pitchFamily="34" charset="-120"/>
              </a:rPr>
              <a:t>📊 Overview Table</a:t>
            </a:r>
            <a:endParaRPr lang="en-US" sz="1200" dirty="0"/>
          </a:p>
        </p:txBody>
      </p:sp>
      <p:sp>
        <p:nvSpPr>
          <p:cNvPr id="9" name="Text 6"/>
          <p:cNvSpPr/>
          <p:nvPr/>
        </p:nvSpPr>
        <p:spPr>
          <a:xfrm>
            <a:off x="384048" y="4416552"/>
            <a:ext cx="2578608" cy="5029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Ranked list of top 23 coins with Market Cap Rank, Current Price, 24hr/7d change with colour bars, and Market Cap values. Green = positive, Red = negative.</a:t>
            </a:r>
            <a:endParaRPr lang="en-US" sz="900" dirty="0"/>
          </a:p>
        </p:txBody>
      </p:sp>
      <p:sp>
        <p:nvSpPr>
          <p:cNvPr id="10" name="Shape 7"/>
          <p:cNvSpPr/>
          <p:nvPr/>
        </p:nvSpPr>
        <p:spPr>
          <a:xfrm>
            <a:off x="3200400" y="3977640"/>
            <a:ext cx="2788920" cy="9875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1" name="Shape 8"/>
          <p:cNvSpPr/>
          <p:nvPr/>
        </p:nvSpPr>
        <p:spPr>
          <a:xfrm>
            <a:off x="3200400" y="3977640"/>
            <a:ext cx="2788920" cy="91440"/>
          </a:xfrm>
          <a:prstGeom prst="rect">
            <a:avLst/>
          </a:prstGeom>
          <a:solidFill>
            <a:srgbClr val="00C9A7"/>
          </a:solidFill>
          <a:ln w="12700">
            <a:solidFill>
              <a:srgbClr val="00C9A7"/>
            </a:solidFill>
            <a:prstDash val="solid"/>
          </a:ln>
        </p:spPr>
      </p:sp>
      <p:sp>
        <p:nvSpPr>
          <p:cNvPr id="12" name="Text 9"/>
          <p:cNvSpPr/>
          <p:nvPr/>
        </p:nvSpPr>
        <p:spPr>
          <a:xfrm>
            <a:off x="3310128" y="4069080"/>
            <a:ext cx="2578608" cy="320040"/>
          </a:xfrm>
          <a:prstGeom prst="rect">
            <a:avLst/>
          </a:prstGeom>
          <a:noFill/>
          <a:ln/>
        </p:spPr>
        <p:txBody>
          <a:bodyPr wrap="square" rtlCol="0" anchor="ctr"/>
          <a:lstStyle/>
          <a:p>
            <a:pPr marL="0" indent="0">
              <a:buNone/>
            </a:pPr>
            <a:r>
              <a:rPr lang="en-US" sz="1200" b="1" dirty="0">
                <a:solidFill>
                  <a:srgbClr val="F4A261"/>
                </a:solidFill>
                <a:latin typeface="Trebuchet MS" pitchFamily="34" charset="0"/>
                <a:ea typeface="Trebuchet MS" pitchFamily="34" charset="-122"/>
                <a:cs typeface="Trebuchet MS" pitchFamily="34" charset="-120"/>
              </a:rPr>
              <a:t>🔍 Name Filter</a:t>
            </a:r>
            <a:endParaRPr lang="en-US" sz="1200" dirty="0"/>
          </a:p>
        </p:txBody>
      </p:sp>
      <p:sp>
        <p:nvSpPr>
          <p:cNvPr id="13" name="Text 10"/>
          <p:cNvSpPr/>
          <p:nvPr/>
        </p:nvSpPr>
        <p:spPr>
          <a:xfrm>
            <a:off x="3310128" y="4416552"/>
            <a:ext cx="2578608" cy="5029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Dropdown slicer allows users to filter to any single cryptocurrency or view 'All'. The entire dashboard (both pages) updates dynamically when a coin is selected.</a:t>
            </a:r>
            <a:endParaRPr lang="en-US" sz="900" dirty="0"/>
          </a:p>
        </p:txBody>
      </p:sp>
      <p:sp>
        <p:nvSpPr>
          <p:cNvPr id="14" name="Shape 11"/>
          <p:cNvSpPr/>
          <p:nvPr/>
        </p:nvSpPr>
        <p:spPr>
          <a:xfrm>
            <a:off x="6126480" y="3977640"/>
            <a:ext cx="2788920" cy="98755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5" name="Shape 12"/>
          <p:cNvSpPr/>
          <p:nvPr/>
        </p:nvSpPr>
        <p:spPr>
          <a:xfrm>
            <a:off x="6126480" y="3977640"/>
            <a:ext cx="2788920" cy="91440"/>
          </a:xfrm>
          <a:prstGeom prst="rect">
            <a:avLst/>
          </a:prstGeom>
          <a:solidFill>
            <a:srgbClr val="00C9A7"/>
          </a:solidFill>
          <a:ln w="12700">
            <a:solidFill>
              <a:srgbClr val="00C9A7"/>
            </a:solidFill>
            <a:prstDash val="solid"/>
          </a:ln>
        </p:spPr>
      </p:sp>
      <p:sp>
        <p:nvSpPr>
          <p:cNvPr id="16" name="Text 13"/>
          <p:cNvSpPr/>
          <p:nvPr/>
        </p:nvSpPr>
        <p:spPr>
          <a:xfrm>
            <a:off x="6236208" y="4069080"/>
            <a:ext cx="2578608" cy="320040"/>
          </a:xfrm>
          <a:prstGeom prst="rect">
            <a:avLst/>
          </a:prstGeom>
          <a:noFill/>
          <a:ln/>
        </p:spPr>
        <p:txBody>
          <a:bodyPr wrap="square" rtlCol="0" anchor="ctr"/>
          <a:lstStyle/>
          <a:p>
            <a:pPr marL="0" indent="0">
              <a:buNone/>
            </a:pPr>
            <a:r>
              <a:rPr lang="en-US" sz="1200" b="1" dirty="0">
                <a:solidFill>
                  <a:srgbClr val="F4A261"/>
                </a:solidFill>
                <a:latin typeface="Trebuchet MS" pitchFamily="34" charset="0"/>
                <a:ea typeface="Trebuchet MS" pitchFamily="34" charset="-122"/>
                <a:cs typeface="Trebuchet MS" pitchFamily="34" charset="-120"/>
              </a:rPr>
              <a:t>🔗 Navigation</a:t>
            </a:r>
            <a:endParaRPr lang="en-US" sz="1200" dirty="0"/>
          </a:p>
        </p:txBody>
      </p:sp>
      <p:sp>
        <p:nvSpPr>
          <p:cNvPr id="17" name="Text 14"/>
          <p:cNvSpPr/>
          <p:nvPr/>
        </p:nvSpPr>
        <p:spPr>
          <a:xfrm>
            <a:off x="6236208" y="4416552"/>
            <a:ext cx="2578608" cy="5029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Buttons on each page link to the other — 'Click here for overview' ↔ 'Click here for dashboard'. Enables seamless two-page navigation without back buttons.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KEY INSIGHTS  —  TOP FINDINGS FROM THE ANALYSIS</a:t>
            </a:r>
            <a:endParaRPr lang="en-US" sz="2200" dirty="0"/>
          </a:p>
        </p:txBody>
      </p:sp>
      <p:sp>
        <p:nvSpPr>
          <p:cNvPr id="5" name="Shape 3"/>
          <p:cNvSpPr/>
          <p:nvPr/>
        </p:nvSpPr>
        <p:spPr>
          <a:xfrm>
            <a:off x="274320" y="71323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13232"/>
            <a:ext cx="548640" cy="1261872"/>
          </a:xfrm>
          <a:prstGeom prst="rect">
            <a:avLst/>
          </a:prstGeom>
          <a:solidFill>
            <a:srgbClr val="FFB703"/>
          </a:solidFill>
          <a:ln w="12700">
            <a:solidFill>
              <a:srgbClr val="FFB703"/>
            </a:solidFill>
            <a:prstDash val="solid"/>
          </a:ln>
        </p:spPr>
      </p:sp>
      <p:sp>
        <p:nvSpPr>
          <p:cNvPr id="7" name="Text 5"/>
          <p:cNvSpPr/>
          <p:nvPr/>
        </p:nvSpPr>
        <p:spPr>
          <a:xfrm>
            <a:off x="292608" y="1124712"/>
            <a:ext cx="512064" cy="411480"/>
          </a:xfrm>
          <a:prstGeom prst="rect">
            <a:avLst/>
          </a:prstGeom>
          <a:no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914400" y="768096"/>
            <a:ext cx="35204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Bitcoin Dominance is Overwhelming</a:t>
            </a:r>
            <a:endParaRPr lang="en-US" sz="1200" dirty="0"/>
          </a:p>
        </p:txBody>
      </p:sp>
      <p:sp>
        <p:nvSpPr>
          <p:cNvPr id="9" name="Text 7"/>
          <p:cNvSpPr/>
          <p:nvPr/>
        </p:nvSpPr>
        <p:spPr>
          <a:xfrm>
            <a:off x="914400" y="1170432"/>
            <a:ext cx="3520440" cy="7315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Bitcoin holds 55.3% ($1.66T) of the total $3T market. No other single asset comes close — Ethereum second at 10.6%. Any BTC move ripples across all altcoins.</a:t>
            </a:r>
            <a:endParaRPr lang="en-US" sz="950" dirty="0"/>
          </a:p>
        </p:txBody>
      </p:sp>
      <p:sp>
        <p:nvSpPr>
          <p:cNvPr id="10" name="Shape 8"/>
          <p:cNvSpPr/>
          <p:nvPr/>
        </p:nvSpPr>
        <p:spPr>
          <a:xfrm>
            <a:off x="4709160" y="71323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1" name="Shape 9"/>
          <p:cNvSpPr/>
          <p:nvPr/>
        </p:nvSpPr>
        <p:spPr>
          <a:xfrm>
            <a:off x="4709160" y="713232"/>
            <a:ext cx="548640" cy="1261872"/>
          </a:xfrm>
          <a:prstGeom prst="rect">
            <a:avLst/>
          </a:prstGeom>
          <a:solidFill>
            <a:srgbClr val="E63946"/>
          </a:solidFill>
          <a:ln w="12700">
            <a:solidFill>
              <a:srgbClr val="E63946"/>
            </a:solidFill>
            <a:prstDash val="solid"/>
          </a:ln>
        </p:spPr>
      </p:sp>
      <p:sp>
        <p:nvSpPr>
          <p:cNvPr id="12" name="Text 10"/>
          <p:cNvSpPr/>
          <p:nvPr/>
        </p:nvSpPr>
        <p:spPr>
          <a:xfrm>
            <a:off x="4727448" y="1124712"/>
            <a:ext cx="512064" cy="411480"/>
          </a:xfrm>
          <a:prstGeom prst="rect">
            <a:avLst/>
          </a:prstGeom>
          <a:no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02</a:t>
            </a:r>
            <a:endParaRPr lang="en-US" sz="1600" dirty="0"/>
          </a:p>
        </p:txBody>
      </p:sp>
      <p:sp>
        <p:nvSpPr>
          <p:cNvPr id="13" name="Text 11"/>
          <p:cNvSpPr/>
          <p:nvPr/>
        </p:nvSpPr>
        <p:spPr>
          <a:xfrm>
            <a:off x="5349240" y="768096"/>
            <a:ext cx="35204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Broad Market Correction Underway</a:t>
            </a:r>
            <a:endParaRPr lang="en-US" sz="1200" dirty="0"/>
          </a:p>
        </p:txBody>
      </p:sp>
      <p:sp>
        <p:nvSpPr>
          <p:cNvPr id="14" name="Text 12"/>
          <p:cNvSpPr/>
          <p:nvPr/>
        </p:nvSpPr>
        <p:spPr>
          <a:xfrm>
            <a:off x="5349240" y="1170432"/>
            <a:ext cx="3520440" cy="7315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89% of coins show negative 7-day returns, averaging -6.73%. Chainlink (-13.98%) and Cardano (-13.45%) are worst performers, signalling broad risk-off sentiment.</a:t>
            </a:r>
            <a:endParaRPr lang="en-US" sz="950" dirty="0"/>
          </a:p>
        </p:txBody>
      </p:sp>
      <p:sp>
        <p:nvSpPr>
          <p:cNvPr id="15" name="Shape 13"/>
          <p:cNvSpPr/>
          <p:nvPr/>
        </p:nvSpPr>
        <p:spPr>
          <a:xfrm>
            <a:off x="274320" y="213055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6" name="Shape 14"/>
          <p:cNvSpPr/>
          <p:nvPr/>
        </p:nvSpPr>
        <p:spPr>
          <a:xfrm>
            <a:off x="274320" y="2130552"/>
            <a:ext cx="548640" cy="1261872"/>
          </a:xfrm>
          <a:prstGeom prst="rect">
            <a:avLst/>
          </a:prstGeom>
          <a:solidFill>
            <a:srgbClr val="00C9A7"/>
          </a:solidFill>
          <a:ln w="12700">
            <a:solidFill>
              <a:srgbClr val="00C9A7"/>
            </a:solidFill>
            <a:prstDash val="solid"/>
          </a:ln>
        </p:spPr>
      </p:sp>
      <p:sp>
        <p:nvSpPr>
          <p:cNvPr id="17" name="Text 15"/>
          <p:cNvSpPr/>
          <p:nvPr/>
        </p:nvSpPr>
        <p:spPr>
          <a:xfrm>
            <a:off x="292608" y="2542032"/>
            <a:ext cx="512064" cy="411480"/>
          </a:xfrm>
          <a:prstGeom prst="rect">
            <a:avLst/>
          </a:prstGeom>
          <a:no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03</a:t>
            </a:r>
            <a:endParaRPr lang="en-US" sz="1600" dirty="0"/>
          </a:p>
        </p:txBody>
      </p:sp>
      <p:sp>
        <p:nvSpPr>
          <p:cNvPr id="18" name="Text 16"/>
          <p:cNvSpPr/>
          <p:nvPr/>
        </p:nvSpPr>
        <p:spPr>
          <a:xfrm>
            <a:off x="914400" y="2185416"/>
            <a:ext cx="35204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2024 Was the Peak Bull Market Year</a:t>
            </a:r>
            <a:endParaRPr lang="en-US" sz="1200" dirty="0"/>
          </a:p>
        </p:txBody>
      </p:sp>
      <p:sp>
        <p:nvSpPr>
          <p:cNvPr id="19" name="Text 17"/>
          <p:cNvSpPr/>
          <p:nvPr/>
        </p:nvSpPr>
        <p:spPr>
          <a:xfrm>
            <a:off x="914400" y="2587752"/>
            <a:ext cx="3520440" cy="7315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ATH chart peaks at 121K in 2024. This aligns with Bitcoin halving cycle. Historical data confirms 2017, 2021, and 2024 as distinct bull market peaks every ~3-4 years.</a:t>
            </a:r>
            <a:endParaRPr lang="en-US" sz="950" dirty="0"/>
          </a:p>
        </p:txBody>
      </p:sp>
      <p:sp>
        <p:nvSpPr>
          <p:cNvPr id="20" name="Shape 18"/>
          <p:cNvSpPr/>
          <p:nvPr/>
        </p:nvSpPr>
        <p:spPr>
          <a:xfrm>
            <a:off x="4709160" y="213055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1" name="Shape 19"/>
          <p:cNvSpPr/>
          <p:nvPr/>
        </p:nvSpPr>
        <p:spPr>
          <a:xfrm>
            <a:off x="4709160" y="2130552"/>
            <a:ext cx="548640" cy="1261872"/>
          </a:xfrm>
          <a:prstGeom prst="rect">
            <a:avLst/>
          </a:prstGeom>
          <a:solidFill>
            <a:srgbClr val="F4A261"/>
          </a:solidFill>
          <a:ln w="12700">
            <a:solidFill>
              <a:srgbClr val="F4A261"/>
            </a:solidFill>
            <a:prstDash val="solid"/>
          </a:ln>
        </p:spPr>
      </p:sp>
      <p:sp>
        <p:nvSpPr>
          <p:cNvPr id="22" name="Text 20"/>
          <p:cNvSpPr/>
          <p:nvPr/>
        </p:nvSpPr>
        <p:spPr>
          <a:xfrm>
            <a:off x="4727448" y="2542032"/>
            <a:ext cx="512064" cy="411480"/>
          </a:xfrm>
          <a:prstGeom prst="rect">
            <a:avLst/>
          </a:prstGeom>
          <a:no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04</a:t>
            </a:r>
            <a:endParaRPr lang="en-US" sz="1600" dirty="0"/>
          </a:p>
        </p:txBody>
      </p:sp>
      <p:sp>
        <p:nvSpPr>
          <p:cNvPr id="23" name="Text 21"/>
          <p:cNvSpPr/>
          <p:nvPr/>
        </p:nvSpPr>
        <p:spPr>
          <a:xfrm>
            <a:off x="5349240" y="2185416"/>
            <a:ext cx="35204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DeFi Assets Show Extreme ATH Ranges</a:t>
            </a:r>
            <a:endParaRPr lang="en-US" sz="1200" dirty="0"/>
          </a:p>
        </p:txBody>
      </p:sp>
      <p:sp>
        <p:nvSpPr>
          <p:cNvPr id="24" name="Text 22"/>
          <p:cNvSpPr/>
          <p:nvPr/>
        </p:nvSpPr>
        <p:spPr>
          <a:xfrm>
            <a:off x="5349240" y="2587752"/>
            <a:ext cx="3520440" cy="7315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Wrapped Bitcoin ($128K ATH vs $11K ATL) and Lombard stBTC ($126K ATH) demonstrate the explosive gain potential — and risk — of DeFi-native assets.</a:t>
            </a:r>
            <a:endParaRPr lang="en-US" sz="950" dirty="0"/>
          </a:p>
        </p:txBody>
      </p:sp>
      <p:sp>
        <p:nvSpPr>
          <p:cNvPr id="25" name="Shape 23"/>
          <p:cNvSpPr/>
          <p:nvPr/>
        </p:nvSpPr>
        <p:spPr>
          <a:xfrm>
            <a:off x="274320" y="354787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6" name="Shape 24"/>
          <p:cNvSpPr/>
          <p:nvPr/>
        </p:nvSpPr>
        <p:spPr>
          <a:xfrm>
            <a:off x="274320" y="3547872"/>
            <a:ext cx="548640" cy="1261872"/>
          </a:xfrm>
          <a:prstGeom prst="rect">
            <a:avLst/>
          </a:prstGeom>
          <a:solidFill>
            <a:srgbClr val="0F3460"/>
          </a:solidFill>
          <a:ln w="12700">
            <a:solidFill>
              <a:srgbClr val="0F3460"/>
            </a:solidFill>
            <a:prstDash val="solid"/>
          </a:ln>
        </p:spPr>
      </p:sp>
      <p:sp>
        <p:nvSpPr>
          <p:cNvPr id="27" name="Text 25"/>
          <p:cNvSpPr/>
          <p:nvPr/>
        </p:nvSpPr>
        <p:spPr>
          <a:xfrm>
            <a:off x="292608" y="3959352"/>
            <a:ext cx="512064" cy="411480"/>
          </a:xfrm>
          <a:prstGeom prst="rect">
            <a:avLst/>
          </a:prstGeom>
          <a:no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05</a:t>
            </a:r>
            <a:endParaRPr lang="en-US" sz="1600" dirty="0"/>
          </a:p>
        </p:txBody>
      </p:sp>
      <p:sp>
        <p:nvSpPr>
          <p:cNvPr id="28" name="Text 26"/>
          <p:cNvSpPr/>
          <p:nvPr/>
        </p:nvSpPr>
        <p:spPr>
          <a:xfrm>
            <a:off x="914400" y="3602736"/>
            <a:ext cx="35204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Stablecoins Provide Market Foundation</a:t>
            </a:r>
            <a:endParaRPr lang="en-US" sz="1200" dirty="0"/>
          </a:p>
        </p:txBody>
      </p:sp>
      <p:sp>
        <p:nvSpPr>
          <p:cNvPr id="29" name="Text 27"/>
          <p:cNvSpPr/>
          <p:nvPr/>
        </p:nvSpPr>
        <p:spPr>
          <a:xfrm>
            <a:off x="914400" y="4005072"/>
            <a:ext cx="3520440" cy="7315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USDT, USDC, USDS (ranks 3, 6, 18) all hold near $1.00 with 0.00% 24hr change. Their combined $432B market cap provides liquidity ballast for the ecosystem.</a:t>
            </a:r>
            <a:endParaRPr lang="en-US" sz="950" dirty="0"/>
          </a:p>
        </p:txBody>
      </p:sp>
      <p:sp>
        <p:nvSpPr>
          <p:cNvPr id="30" name="Shape 28"/>
          <p:cNvSpPr/>
          <p:nvPr/>
        </p:nvSpPr>
        <p:spPr>
          <a:xfrm>
            <a:off x="4709160" y="3547872"/>
            <a:ext cx="4251960" cy="1261872"/>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31" name="Shape 29"/>
          <p:cNvSpPr/>
          <p:nvPr/>
        </p:nvSpPr>
        <p:spPr>
          <a:xfrm>
            <a:off x="4709160" y="3547872"/>
            <a:ext cx="548640" cy="1261872"/>
          </a:xfrm>
          <a:prstGeom prst="rect">
            <a:avLst/>
          </a:prstGeom>
          <a:solidFill>
            <a:srgbClr val="6C63FF"/>
          </a:solidFill>
          <a:ln w="12700">
            <a:solidFill>
              <a:srgbClr val="6C63FF"/>
            </a:solidFill>
            <a:prstDash val="solid"/>
          </a:ln>
        </p:spPr>
      </p:sp>
      <p:sp>
        <p:nvSpPr>
          <p:cNvPr id="32" name="Text 30"/>
          <p:cNvSpPr/>
          <p:nvPr/>
        </p:nvSpPr>
        <p:spPr>
          <a:xfrm>
            <a:off x="4727448" y="3959352"/>
            <a:ext cx="512064" cy="411480"/>
          </a:xfrm>
          <a:prstGeom prst="rect">
            <a:avLst/>
          </a:prstGeom>
          <a:no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06</a:t>
            </a:r>
            <a:endParaRPr lang="en-US" sz="1600" dirty="0"/>
          </a:p>
        </p:txBody>
      </p:sp>
      <p:sp>
        <p:nvSpPr>
          <p:cNvPr id="33" name="Text 31"/>
          <p:cNvSpPr/>
          <p:nvPr/>
        </p:nvSpPr>
        <p:spPr>
          <a:xfrm>
            <a:off x="5349240" y="3602736"/>
            <a:ext cx="3520440" cy="347472"/>
          </a:xfrm>
          <a:prstGeom prst="rect">
            <a:avLst/>
          </a:prstGeom>
          <a:noFill/>
          <a:ln/>
        </p:spPr>
        <p:txBody>
          <a:bodyPr wrap="square"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Monero Privacy Premium is Event-Driven</a:t>
            </a:r>
            <a:endParaRPr lang="en-US" sz="1200" dirty="0"/>
          </a:p>
        </p:txBody>
      </p:sp>
      <p:sp>
        <p:nvSpPr>
          <p:cNvPr id="34" name="Text 32"/>
          <p:cNvSpPr/>
          <p:nvPr/>
        </p:nvSpPr>
        <p:spPr>
          <a:xfrm>
            <a:off x="5349240" y="4005072"/>
            <a:ext cx="3520440" cy="7315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Monero's unique +12.02% 24hr gain (vs -1.2% market avg) signals demand spikes unrelated to broad market — likely regulation or privacy-event driven speculation.</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3460"/>
          </a:solidFill>
          <a:ln w="12700">
            <a:solidFill>
              <a:srgbClr val="0F3460"/>
            </a:solidFill>
            <a:prstDash val="solid"/>
          </a:ln>
        </p:spPr>
      </p:sp>
      <p:sp>
        <p:nvSpPr>
          <p:cNvPr id="3" name="Shape 1"/>
          <p:cNvSpPr/>
          <p:nvPr/>
        </p:nvSpPr>
        <p:spPr>
          <a:xfrm>
            <a:off x="0" y="0"/>
            <a:ext cx="201168" cy="502920"/>
          </a:xfrm>
          <a:prstGeom prst="rect">
            <a:avLst/>
          </a:prstGeom>
          <a:solidFill>
            <a:srgbClr val="F4A261"/>
          </a:solidFill>
          <a:ln w="12700">
            <a:solidFill>
              <a:srgbClr val="F4A261"/>
            </a:solidFill>
            <a:prstDash val="solid"/>
          </a:ln>
        </p:spPr>
      </p:sp>
      <p:sp>
        <p:nvSpPr>
          <p:cNvPr id="4" name="Text 2"/>
          <p:cNvSpPr/>
          <p:nvPr/>
        </p:nvSpPr>
        <p:spPr>
          <a:xfrm>
            <a:off x="320040" y="64008"/>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RECOMMENDATIONS  —  ACTIONABLE BUSINESS INSIGHTS</a:t>
            </a:r>
            <a:endParaRPr lang="en-US" sz="2200" dirty="0"/>
          </a:p>
        </p:txBody>
      </p:sp>
      <p:sp>
        <p:nvSpPr>
          <p:cNvPr id="5" name="Shape 3"/>
          <p:cNvSpPr/>
          <p:nvPr/>
        </p:nvSpPr>
        <p:spPr>
          <a:xfrm>
            <a:off x="274320" y="713232"/>
            <a:ext cx="4251960" cy="126187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13232"/>
            <a:ext cx="4251960" cy="91440"/>
          </a:xfrm>
          <a:prstGeom prst="rect">
            <a:avLst/>
          </a:prstGeom>
          <a:solidFill>
            <a:srgbClr val="E63946"/>
          </a:solidFill>
          <a:ln w="12700">
            <a:solidFill>
              <a:srgbClr val="E63946"/>
            </a:solidFill>
            <a:prstDash val="solid"/>
          </a:ln>
        </p:spPr>
      </p:sp>
      <p:sp>
        <p:nvSpPr>
          <p:cNvPr id="7" name="Shape 5"/>
          <p:cNvSpPr/>
          <p:nvPr/>
        </p:nvSpPr>
        <p:spPr>
          <a:xfrm>
            <a:off x="3611880" y="859536"/>
            <a:ext cx="804672" cy="274320"/>
          </a:xfrm>
          <a:prstGeom prst="rect">
            <a:avLst/>
          </a:prstGeom>
          <a:solidFill>
            <a:srgbClr val="E63946"/>
          </a:solidFill>
          <a:ln w="12700">
            <a:solidFill>
              <a:srgbClr val="E63946"/>
            </a:solidFill>
            <a:prstDash val="solid"/>
          </a:ln>
        </p:spPr>
      </p:sp>
      <p:sp>
        <p:nvSpPr>
          <p:cNvPr id="8" name="Text 6"/>
          <p:cNvSpPr/>
          <p:nvPr/>
        </p:nvSpPr>
        <p:spPr>
          <a:xfrm>
            <a:off x="3611880" y="859536"/>
            <a:ext cx="804672" cy="274320"/>
          </a:xfrm>
          <a:prstGeom prst="rect">
            <a:avLst/>
          </a:prstGeom>
          <a:noFill/>
          <a:ln/>
        </p:spPr>
        <p:txBody>
          <a:bodyPr wrap="square" rtlCol="0" anchor="ctr"/>
          <a:lstStyle/>
          <a:p>
            <a:pPr marL="0" indent="0" algn="ctr">
              <a:buNone/>
            </a:pPr>
            <a:r>
              <a:rPr lang="en-US" sz="900" b="1" dirty="0">
                <a:solidFill>
                  <a:srgbClr val="0A1628"/>
                </a:solidFill>
                <a:latin typeface="Trebuchet MS" pitchFamily="34" charset="0"/>
                <a:ea typeface="Trebuchet MS" pitchFamily="34" charset="-122"/>
                <a:cs typeface="Trebuchet MS" pitchFamily="34" charset="-120"/>
              </a:rPr>
              <a:t>HIGH</a:t>
            </a:r>
            <a:endParaRPr lang="en-US" sz="900" dirty="0"/>
          </a:p>
        </p:txBody>
      </p:sp>
      <p:sp>
        <p:nvSpPr>
          <p:cNvPr id="9" name="Text 7"/>
          <p:cNvSpPr/>
          <p:nvPr/>
        </p:nvSpPr>
        <p:spPr>
          <a:xfrm>
            <a:off x="384048" y="859536"/>
            <a:ext cx="3154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Portfolio Rebalancing</a:t>
            </a:r>
            <a:endParaRPr lang="en-US" sz="1300" dirty="0"/>
          </a:p>
        </p:txBody>
      </p:sp>
      <p:sp>
        <p:nvSpPr>
          <p:cNvPr id="10" name="Text 8"/>
          <p:cNvSpPr/>
          <p:nvPr/>
        </p:nvSpPr>
        <p:spPr>
          <a:xfrm>
            <a:off x="384048" y="1243584"/>
            <a:ext cx="4005072" cy="65836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Reduce exposure to high-beta altcoins (Cardano, Chainlink) during 7d correction phase. Rotate into stablecoins (USDT, USDC) or Bitcoin until market stabilises above 7d moving average.</a:t>
            </a:r>
            <a:endParaRPr lang="en-US" sz="950" dirty="0"/>
          </a:p>
        </p:txBody>
      </p:sp>
      <p:sp>
        <p:nvSpPr>
          <p:cNvPr id="11" name="Shape 9"/>
          <p:cNvSpPr/>
          <p:nvPr/>
        </p:nvSpPr>
        <p:spPr>
          <a:xfrm>
            <a:off x="4709160" y="713232"/>
            <a:ext cx="4251960" cy="126187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2" name="Shape 10"/>
          <p:cNvSpPr/>
          <p:nvPr/>
        </p:nvSpPr>
        <p:spPr>
          <a:xfrm>
            <a:off x="4709160" y="713232"/>
            <a:ext cx="4251960" cy="91440"/>
          </a:xfrm>
          <a:prstGeom prst="rect">
            <a:avLst/>
          </a:prstGeom>
          <a:solidFill>
            <a:srgbClr val="F4A261"/>
          </a:solidFill>
          <a:ln w="12700">
            <a:solidFill>
              <a:srgbClr val="F4A261"/>
            </a:solidFill>
            <a:prstDash val="solid"/>
          </a:ln>
        </p:spPr>
      </p:sp>
      <p:sp>
        <p:nvSpPr>
          <p:cNvPr id="13" name="Shape 11"/>
          <p:cNvSpPr/>
          <p:nvPr/>
        </p:nvSpPr>
        <p:spPr>
          <a:xfrm>
            <a:off x="8046720" y="859536"/>
            <a:ext cx="804672" cy="274320"/>
          </a:xfrm>
          <a:prstGeom prst="rect">
            <a:avLst/>
          </a:prstGeom>
          <a:solidFill>
            <a:srgbClr val="F4A261"/>
          </a:solidFill>
          <a:ln w="12700">
            <a:solidFill>
              <a:srgbClr val="F4A261"/>
            </a:solidFill>
            <a:prstDash val="solid"/>
          </a:ln>
        </p:spPr>
      </p:sp>
      <p:sp>
        <p:nvSpPr>
          <p:cNvPr id="14" name="Text 12"/>
          <p:cNvSpPr/>
          <p:nvPr/>
        </p:nvSpPr>
        <p:spPr>
          <a:xfrm>
            <a:off x="8046720" y="859536"/>
            <a:ext cx="804672" cy="274320"/>
          </a:xfrm>
          <a:prstGeom prst="rect">
            <a:avLst/>
          </a:prstGeom>
          <a:noFill/>
          <a:ln/>
        </p:spPr>
        <p:txBody>
          <a:bodyPr wrap="square" rtlCol="0" anchor="ctr"/>
          <a:lstStyle/>
          <a:p>
            <a:pPr marL="0" indent="0" algn="ctr">
              <a:buNone/>
            </a:pPr>
            <a:r>
              <a:rPr lang="en-US" sz="900" b="1" dirty="0">
                <a:solidFill>
                  <a:srgbClr val="0A1628"/>
                </a:solidFill>
                <a:latin typeface="Trebuchet MS" pitchFamily="34" charset="0"/>
                <a:ea typeface="Trebuchet MS" pitchFamily="34" charset="-122"/>
                <a:cs typeface="Trebuchet MS" pitchFamily="34" charset="-120"/>
              </a:rPr>
              <a:t>HIGH</a:t>
            </a:r>
            <a:endParaRPr lang="en-US" sz="900" dirty="0"/>
          </a:p>
        </p:txBody>
      </p:sp>
      <p:sp>
        <p:nvSpPr>
          <p:cNvPr id="15" name="Text 13"/>
          <p:cNvSpPr/>
          <p:nvPr/>
        </p:nvSpPr>
        <p:spPr>
          <a:xfrm>
            <a:off x="4818888" y="859536"/>
            <a:ext cx="3154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Real-Time ATH Monitoring</a:t>
            </a:r>
            <a:endParaRPr lang="en-US" sz="1300" dirty="0"/>
          </a:p>
        </p:txBody>
      </p:sp>
      <p:sp>
        <p:nvSpPr>
          <p:cNvPr id="16" name="Text 14"/>
          <p:cNvSpPr/>
          <p:nvPr/>
        </p:nvSpPr>
        <p:spPr>
          <a:xfrm>
            <a:off x="4818888" y="1243584"/>
            <a:ext cx="4005072" cy="65836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Implement automated Power BI alerts when any coin approaches within 5% of its ATH. This signals potential breakout opportunities and enables timely position entries.</a:t>
            </a:r>
            <a:endParaRPr lang="en-US" sz="950" dirty="0"/>
          </a:p>
        </p:txBody>
      </p:sp>
      <p:sp>
        <p:nvSpPr>
          <p:cNvPr id="17" name="Shape 15"/>
          <p:cNvSpPr/>
          <p:nvPr/>
        </p:nvSpPr>
        <p:spPr>
          <a:xfrm>
            <a:off x="274320" y="2130552"/>
            <a:ext cx="4251960" cy="126187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8" name="Shape 16"/>
          <p:cNvSpPr/>
          <p:nvPr/>
        </p:nvSpPr>
        <p:spPr>
          <a:xfrm>
            <a:off x="274320" y="2130552"/>
            <a:ext cx="4251960" cy="91440"/>
          </a:xfrm>
          <a:prstGeom prst="rect">
            <a:avLst/>
          </a:prstGeom>
          <a:solidFill>
            <a:srgbClr val="00C9A7"/>
          </a:solidFill>
          <a:ln w="12700">
            <a:solidFill>
              <a:srgbClr val="00C9A7"/>
            </a:solidFill>
            <a:prstDash val="solid"/>
          </a:ln>
        </p:spPr>
      </p:sp>
      <p:sp>
        <p:nvSpPr>
          <p:cNvPr id="19" name="Shape 17"/>
          <p:cNvSpPr/>
          <p:nvPr/>
        </p:nvSpPr>
        <p:spPr>
          <a:xfrm>
            <a:off x="3611880" y="2276856"/>
            <a:ext cx="804672" cy="274320"/>
          </a:xfrm>
          <a:prstGeom prst="rect">
            <a:avLst/>
          </a:prstGeom>
          <a:solidFill>
            <a:srgbClr val="00C9A7"/>
          </a:solidFill>
          <a:ln w="12700">
            <a:solidFill>
              <a:srgbClr val="00C9A7"/>
            </a:solidFill>
            <a:prstDash val="solid"/>
          </a:ln>
        </p:spPr>
      </p:sp>
      <p:sp>
        <p:nvSpPr>
          <p:cNvPr id="20" name="Text 18"/>
          <p:cNvSpPr/>
          <p:nvPr/>
        </p:nvSpPr>
        <p:spPr>
          <a:xfrm>
            <a:off x="3611880" y="2276856"/>
            <a:ext cx="804672" cy="274320"/>
          </a:xfrm>
          <a:prstGeom prst="rect">
            <a:avLst/>
          </a:prstGeom>
          <a:noFill/>
          <a:ln/>
        </p:spPr>
        <p:txBody>
          <a:bodyPr wrap="square" rtlCol="0" anchor="ctr"/>
          <a:lstStyle/>
          <a:p>
            <a:pPr marL="0" indent="0" algn="ctr">
              <a:buNone/>
            </a:pPr>
            <a:r>
              <a:rPr lang="en-US" sz="900" b="1" dirty="0">
                <a:solidFill>
                  <a:srgbClr val="0A1628"/>
                </a:solidFill>
                <a:latin typeface="Trebuchet MS" pitchFamily="34" charset="0"/>
                <a:ea typeface="Trebuchet MS" pitchFamily="34" charset="-122"/>
                <a:cs typeface="Trebuchet MS" pitchFamily="34" charset="-120"/>
              </a:rPr>
              <a:t>MED</a:t>
            </a:r>
            <a:endParaRPr lang="en-US" sz="900" dirty="0"/>
          </a:p>
        </p:txBody>
      </p:sp>
      <p:sp>
        <p:nvSpPr>
          <p:cNvPr id="21" name="Text 19"/>
          <p:cNvSpPr/>
          <p:nvPr/>
        </p:nvSpPr>
        <p:spPr>
          <a:xfrm>
            <a:off x="384048" y="2276856"/>
            <a:ext cx="3154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DeFi Asset Diversification</a:t>
            </a:r>
            <a:endParaRPr lang="en-US" sz="1300" dirty="0"/>
          </a:p>
        </p:txBody>
      </p:sp>
      <p:sp>
        <p:nvSpPr>
          <p:cNvPr id="22" name="Text 20"/>
          <p:cNvSpPr/>
          <p:nvPr/>
        </p:nvSpPr>
        <p:spPr>
          <a:xfrm>
            <a:off x="384048" y="2660904"/>
            <a:ext cx="4005072" cy="65836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Wrapped and staked assets (Wrapped BTC, stETH) offer BTC/ETH-equivalent exposure with DeFi yield. Consider allocating 10-15% of portfolio to these instruments.</a:t>
            </a:r>
            <a:endParaRPr lang="en-US" sz="950" dirty="0"/>
          </a:p>
        </p:txBody>
      </p:sp>
      <p:sp>
        <p:nvSpPr>
          <p:cNvPr id="23" name="Shape 21"/>
          <p:cNvSpPr/>
          <p:nvPr/>
        </p:nvSpPr>
        <p:spPr>
          <a:xfrm>
            <a:off x="4709160" y="2130552"/>
            <a:ext cx="4251960" cy="126187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4" name="Shape 22"/>
          <p:cNvSpPr/>
          <p:nvPr/>
        </p:nvSpPr>
        <p:spPr>
          <a:xfrm>
            <a:off x="4709160" y="2130552"/>
            <a:ext cx="4251960" cy="91440"/>
          </a:xfrm>
          <a:prstGeom prst="rect">
            <a:avLst/>
          </a:prstGeom>
          <a:solidFill>
            <a:srgbClr val="FFB703"/>
          </a:solidFill>
          <a:ln w="12700">
            <a:solidFill>
              <a:srgbClr val="FFB703"/>
            </a:solidFill>
            <a:prstDash val="solid"/>
          </a:ln>
        </p:spPr>
      </p:sp>
      <p:sp>
        <p:nvSpPr>
          <p:cNvPr id="25" name="Shape 23"/>
          <p:cNvSpPr/>
          <p:nvPr/>
        </p:nvSpPr>
        <p:spPr>
          <a:xfrm>
            <a:off x="8046720" y="2276856"/>
            <a:ext cx="804672" cy="274320"/>
          </a:xfrm>
          <a:prstGeom prst="rect">
            <a:avLst/>
          </a:prstGeom>
          <a:solidFill>
            <a:srgbClr val="FFB703"/>
          </a:solidFill>
          <a:ln w="12700">
            <a:solidFill>
              <a:srgbClr val="FFB703"/>
            </a:solidFill>
            <a:prstDash val="solid"/>
          </a:ln>
        </p:spPr>
      </p:sp>
      <p:sp>
        <p:nvSpPr>
          <p:cNvPr id="26" name="Text 24"/>
          <p:cNvSpPr/>
          <p:nvPr/>
        </p:nvSpPr>
        <p:spPr>
          <a:xfrm>
            <a:off x="8046720" y="2276856"/>
            <a:ext cx="804672" cy="274320"/>
          </a:xfrm>
          <a:prstGeom prst="rect">
            <a:avLst/>
          </a:prstGeom>
          <a:noFill/>
          <a:ln/>
        </p:spPr>
        <p:txBody>
          <a:bodyPr wrap="square" rtlCol="0" anchor="ctr"/>
          <a:lstStyle/>
          <a:p>
            <a:pPr marL="0" indent="0" algn="ctr">
              <a:buNone/>
            </a:pPr>
            <a:r>
              <a:rPr lang="en-US" sz="900" b="1" dirty="0">
                <a:solidFill>
                  <a:srgbClr val="0A1628"/>
                </a:solidFill>
                <a:latin typeface="Trebuchet MS" pitchFamily="34" charset="0"/>
                <a:ea typeface="Trebuchet MS" pitchFamily="34" charset="-122"/>
                <a:cs typeface="Trebuchet MS" pitchFamily="34" charset="-120"/>
              </a:rPr>
              <a:t>MED</a:t>
            </a:r>
            <a:endParaRPr lang="en-US" sz="900" dirty="0"/>
          </a:p>
        </p:txBody>
      </p:sp>
      <p:sp>
        <p:nvSpPr>
          <p:cNvPr id="27" name="Text 25"/>
          <p:cNvSpPr/>
          <p:nvPr/>
        </p:nvSpPr>
        <p:spPr>
          <a:xfrm>
            <a:off x="4818888" y="2276856"/>
            <a:ext cx="3154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Cycle-Based Strategy</a:t>
            </a:r>
            <a:endParaRPr lang="en-US" sz="1300" dirty="0"/>
          </a:p>
        </p:txBody>
      </p:sp>
      <p:sp>
        <p:nvSpPr>
          <p:cNvPr id="28" name="Text 26"/>
          <p:cNvSpPr/>
          <p:nvPr/>
        </p:nvSpPr>
        <p:spPr>
          <a:xfrm>
            <a:off x="4818888" y="2660904"/>
            <a:ext cx="4005072" cy="65836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ATH data confirms 3-4 year bull cycles (2017→2021→2024). Position accumulation in the 12-18 months following peak ATH to maximise risk-adjusted returns in the next cycle.</a:t>
            </a:r>
            <a:endParaRPr lang="en-US" sz="950" dirty="0"/>
          </a:p>
        </p:txBody>
      </p:sp>
      <p:sp>
        <p:nvSpPr>
          <p:cNvPr id="29" name="Shape 27"/>
          <p:cNvSpPr/>
          <p:nvPr/>
        </p:nvSpPr>
        <p:spPr>
          <a:xfrm>
            <a:off x="274320" y="3547872"/>
            <a:ext cx="4251960" cy="126187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30" name="Shape 28"/>
          <p:cNvSpPr/>
          <p:nvPr/>
        </p:nvSpPr>
        <p:spPr>
          <a:xfrm>
            <a:off x="274320" y="3547872"/>
            <a:ext cx="4251960" cy="91440"/>
          </a:xfrm>
          <a:prstGeom prst="rect">
            <a:avLst/>
          </a:prstGeom>
          <a:solidFill>
            <a:srgbClr val="6C63FF"/>
          </a:solidFill>
          <a:ln w="12700">
            <a:solidFill>
              <a:srgbClr val="6C63FF"/>
            </a:solidFill>
            <a:prstDash val="solid"/>
          </a:ln>
        </p:spPr>
      </p:sp>
      <p:sp>
        <p:nvSpPr>
          <p:cNvPr id="31" name="Shape 29"/>
          <p:cNvSpPr/>
          <p:nvPr/>
        </p:nvSpPr>
        <p:spPr>
          <a:xfrm>
            <a:off x="3611880" y="3694176"/>
            <a:ext cx="804672" cy="274320"/>
          </a:xfrm>
          <a:prstGeom prst="rect">
            <a:avLst/>
          </a:prstGeom>
          <a:solidFill>
            <a:srgbClr val="6C63FF"/>
          </a:solidFill>
          <a:ln w="12700">
            <a:solidFill>
              <a:srgbClr val="6C63FF"/>
            </a:solidFill>
            <a:prstDash val="solid"/>
          </a:ln>
        </p:spPr>
      </p:sp>
      <p:sp>
        <p:nvSpPr>
          <p:cNvPr id="32" name="Text 30"/>
          <p:cNvSpPr/>
          <p:nvPr/>
        </p:nvSpPr>
        <p:spPr>
          <a:xfrm>
            <a:off x="3611880" y="3694176"/>
            <a:ext cx="804672" cy="274320"/>
          </a:xfrm>
          <a:prstGeom prst="rect">
            <a:avLst/>
          </a:prstGeom>
          <a:noFill/>
          <a:ln/>
        </p:spPr>
        <p:txBody>
          <a:bodyPr wrap="square" rtlCol="0" anchor="ctr"/>
          <a:lstStyle/>
          <a:p>
            <a:pPr marL="0" indent="0" algn="ctr">
              <a:buNone/>
            </a:pPr>
            <a:r>
              <a:rPr lang="en-US" sz="900" b="1" dirty="0">
                <a:solidFill>
                  <a:srgbClr val="0A1628"/>
                </a:solidFill>
                <a:latin typeface="Trebuchet MS" pitchFamily="34" charset="0"/>
                <a:ea typeface="Trebuchet MS" pitchFamily="34" charset="-122"/>
                <a:cs typeface="Trebuchet MS" pitchFamily="34" charset="-120"/>
              </a:rPr>
              <a:t>MED</a:t>
            </a:r>
            <a:endParaRPr lang="en-US" sz="900" dirty="0"/>
          </a:p>
        </p:txBody>
      </p:sp>
      <p:sp>
        <p:nvSpPr>
          <p:cNvPr id="33" name="Text 31"/>
          <p:cNvSpPr/>
          <p:nvPr/>
        </p:nvSpPr>
        <p:spPr>
          <a:xfrm>
            <a:off x="384048" y="3694176"/>
            <a:ext cx="3154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Privacy Coin Event Tracking</a:t>
            </a:r>
            <a:endParaRPr lang="en-US" sz="1300" dirty="0"/>
          </a:p>
        </p:txBody>
      </p:sp>
      <p:sp>
        <p:nvSpPr>
          <p:cNvPr id="34" name="Text 32"/>
          <p:cNvSpPr/>
          <p:nvPr/>
        </p:nvSpPr>
        <p:spPr>
          <a:xfrm>
            <a:off x="384048" y="4078224"/>
            <a:ext cx="4005072" cy="65836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Monero's +12% spike demonstrates event-driven opportunity. Implement sentiment monitoring for privacy coin regulatory news and exchange listing announcements.</a:t>
            </a:r>
            <a:endParaRPr lang="en-US" sz="950" dirty="0"/>
          </a:p>
        </p:txBody>
      </p:sp>
      <p:sp>
        <p:nvSpPr>
          <p:cNvPr id="35" name="Shape 33"/>
          <p:cNvSpPr/>
          <p:nvPr/>
        </p:nvSpPr>
        <p:spPr>
          <a:xfrm>
            <a:off x="4709160" y="3547872"/>
            <a:ext cx="4251960" cy="1261872"/>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36" name="Shape 34"/>
          <p:cNvSpPr/>
          <p:nvPr/>
        </p:nvSpPr>
        <p:spPr>
          <a:xfrm>
            <a:off x="4709160" y="3547872"/>
            <a:ext cx="4251960" cy="91440"/>
          </a:xfrm>
          <a:prstGeom prst="rect">
            <a:avLst/>
          </a:prstGeom>
          <a:solidFill>
            <a:srgbClr val="64748B"/>
          </a:solidFill>
          <a:ln w="12700">
            <a:solidFill>
              <a:srgbClr val="64748B"/>
            </a:solidFill>
            <a:prstDash val="solid"/>
          </a:ln>
        </p:spPr>
      </p:sp>
      <p:sp>
        <p:nvSpPr>
          <p:cNvPr id="37" name="Shape 35"/>
          <p:cNvSpPr/>
          <p:nvPr/>
        </p:nvSpPr>
        <p:spPr>
          <a:xfrm>
            <a:off x="8046720" y="3694176"/>
            <a:ext cx="804672" cy="274320"/>
          </a:xfrm>
          <a:prstGeom prst="rect">
            <a:avLst/>
          </a:prstGeom>
          <a:solidFill>
            <a:srgbClr val="64748B"/>
          </a:solidFill>
          <a:ln w="12700">
            <a:solidFill>
              <a:srgbClr val="64748B"/>
            </a:solidFill>
            <a:prstDash val="solid"/>
          </a:ln>
        </p:spPr>
      </p:sp>
      <p:sp>
        <p:nvSpPr>
          <p:cNvPr id="38" name="Text 36"/>
          <p:cNvSpPr/>
          <p:nvPr/>
        </p:nvSpPr>
        <p:spPr>
          <a:xfrm>
            <a:off x="8046720" y="3694176"/>
            <a:ext cx="804672" cy="274320"/>
          </a:xfrm>
          <a:prstGeom prst="rect">
            <a:avLst/>
          </a:prstGeom>
          <a:noFill/>
          <a:ln/>
        </p:spPr>
        <p:txBody>
          <a:bodyPr wrap="square" rtlCol="0" anchor="ctr"/>
          <a:lstStyle/>
          <a:p>
            <a:pPr marL="0" indent="0" algn="ctr">
              <a:buNone/>
            </a:pPr>
            <a:r>
              <a:rPr lang="en-US" sz="900" b="1" dirty="0">
                <a:solidFill>
                  <a:srgbClr val="0A1628"/>
                </a:solidFill>
                <a:latin typeface="Trebuchet MS" pitchFamily="34" charset="0"/>
                <a:ea typeface="Trebuchet MS" pitchFamily="34" charset="-122"/>
                <a:cs typeface="Trebuchet MS" pitchFamily="34" charset="-120"/>
              </a:rPr>
              <a:t>LOW</a:t>
            </a:r>
            <a:endParaRPr lang="en-US" sz="900" dirty="0"/>
          </a:p>
        </p:txBody>
      </p:sp>
      <p:sp>
        <p:nvSpPr>
          <p:cNvPr id="39" name="Text 37"/>
          <p:cNvSpPr/>
          <p:nvPr/>
        </p:nvSpPr>
        <p:spPr>
          <a:xfrm>
            <a:off x="4818888" y="3694176"/>
            <a:ext cx="3154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Expand Dataset Coverage</a:t>
            </a:r>
            <a:endParaRPr lang="en-US" sz="1300" dirty="0"/>
          </a:p>
        </p:txBody>
      </p:sp>
      <p:sp>
        <p:nvSpPr>
          <p:cNvPr id="40" name="Text 38"/>
          <p:cNvSpPr/>
          <p:nvPr/>
        </p:nvSpPr>
        <p:spPr>
          <a:xfrm>
            <a:off x="4818888" y="4078224"/>
            <a:ext cx="4005072" cy="65836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Extend analysis to 500 or 1000 coins to capture small-cap opportunities. Integrate Fear &amp; Greed Index and on-chain metrics (transaction volume, active addresses) as additional signals.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F3460"/>
          </a:solidFill>
          <a:ln w="12700">
            <a:solidFill>
              <a:srgbClr val="0F3460"/>
            </a:solidFill>
            <a:prstDash val="solid"/>
          </a:ln>
        </p:spPr>
      </p:sp>
      <p:sp>
        <p:nvSpPr>
          <p:cNvPr id="3" name="Shape 1"/>
          <p:cNvSpPr/>
          <p:nvPr/>
        </p:nvSpPr>
        <p:spPr>
          <a:xfrm>
            <a:off x="0" y="0"/>
            <a:ext cx="201168" cy="1097280"/>
          </a:xfrm>
          <a:prstGeom prst="rect">
            <a:avLst/>
          </a:prstGeom>
          <a:solidFill>
            <a:srgbClr val="F4A261"/>
          </a:solidFill>
          <a:ln w="12700">
            <a:solidFill>
              <a:srgbClr val="F4A261"/>
            </a:solidFill>
            <a:prstDash val="solid"/>
          </a:ln>
        </p:spPr>
      </p:sp>
      <p:sp>
        <p:nvSpPr>
          <p:cNvPr id="4" name="Text 2"/>
          <p:cNvSpPr/>
          <p:nvPr/>
        </p:nvSpPr>
        <p:spPr>
          <a:xfrm>
            <a:off x="365760" y="228600"/>
            <a:ext cx="8503920" cy="594360"/>
          </a:xfrm>
          <a:prstGeom prst="rect">
            <a:avLst/>
          </a:prstGeom>
          <a:noFill/>
          <a:ln/>
        </p:spPr>
        <p:txBody>
          <a:bodyPr wrap="square" rtlCol="0" anchor="ctr"/>
          <a:lstStyle/>
          <a:p>
            <a:pPr marL="0" indent="0">
              <a:buNone/>
            </a:pPr>
            <a:r>
              <a:rPr lang="en-US" sz="2600" b="1" kern="0" spc="200" dirty="0">
                <a:solidFill>
                  <a:srgbClr val="FFFFFF"/>
                </a:solidFill>
                <a:latin typeface="Trebuchet MS" pitchFamily="34" charset="0"/>
                <a:ea typeface="Trebuchet MS" pitchFamily="34" charset="-122"/>
                <a:cs typeface="Trebuchet MS" pitchFamily="34" charset="-120"/>
              </a:rPr>
              <a:t>CONCLUSION &amp; FINAL THOUGHTS</a:t>
            </a:r>
            <a:endParaRPr lang="en-US" sz="2600" dirty="0"/>
          </a:p>
        </p:txBody>
      </p:sp>
      <p:sp>
        <p:nvSpPr>
          <p:cNvPr id="5" name="Shape 3"/>
          <p:cNvSpPr/>
          <p:nvPr/>
        </p:nvSpPr>
        <p:spPr>
          <a:xfrm>
            <a:off x="274320" y="1298448"/>
            <a:ext cx="2788920" cy="324612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1298448"/>
            <a:ext cx="2788920" cy="457200"/>
          </a:xfrm>
          <a:prstGeom prst="rect">
            <a:avLst/>
          </a:prstGeom>
          <a:solidFill>
            <a:srgbClr val="00C9A7"/>
          </a:solidFill>
          <a:ln w="12700">
            <a:solidFill>
              <a:srgbClr val="00C9A7"/>
            </a:solidFill>
            <a:prstDash val="solid"/>
          </a:ln>
        </p:spPr>
      </p:sp>
      <p:sp>
        <p:nvSpPr>
          <p:cNvPr id="7" name="Text 5"/>
          <p:cNvSpPr/>
          <p:nvPr/>
        </p:nvSpPr>
        <p:spPr>
          <a:xfrm>
            <a:off x="384048" y="1335024"/>
            <a:ext cx="2578608" cy="384048"/>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What We Did</a:t>
            </a:r>
            <a:endParaRPr lang="en-US" sz="1400" dirty="0"/>
          </a:p>
        </p:txBody>
      </p:sp>
      <p:sp>
        <p:nvSpPr>
          <p:cNvPr id="8" name="Text 6"/>
          <p:cNvSpPr/>
          <p:nvPr/>
        </p:nvSpPr>
        <p:spPr>
          <a:xfrm>
            <a:off x="384048" y="184708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Analysed 100 cryptocurrency records from CoinGecko API</a:t>
            </a:r>
            <a:endParaRPr lang="en-US" sz="1000" dirty="0"/>
          </a:p>
        </p:txBody>
      </p:sp>
      <p:sp>
        <p:nvSpPr>
          <p:cNvPr id="9" name="Text 7"/>
          <p:cNvSpPr/>
          <p:nvPr/>
        </p:nvSpPr>
        <p:spPr>
          <a:xfrm>
            <a:off x="384048" y="248716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Built a 2-page interactive Power BI dashboard</a:t>
            </a:r>
            <a:endParaRPr lang="en-US" sz="1000" dirty="0"/>
          </a:p>
        </p:txBody>
      </p:sp>
      <p:sp>
        <p:nvSpPr>
          <p:cNvPr id="10" name="Text 8"/>
          <p:cNvSpPr/>
          <p:nvPr/>
        </p:nvSpPr>
        <p:spPr>
          <a:xfrm>
            <a:off x="384048" y="312724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Identified market patterns across ATH/ATL, price change, and market cap</a:t>
            </a:r>
            <a:endParaRPr lang="en-US" sz="1000" dirty="0"/>
          </a:p>
        </p:txBody>
      </p:sp>
      <p:sp>
        <p:nvSpPr>
          <p:cNvPr id="11" name="Text 9"/>
          <p:cNvSpPr/>
          <p:nvPr/>
        </p:nvSpPr>
        <p:spPr>
          <a:xfrm>
            <a:off x="384048" y="376732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Delivered 7 chart types with actionable business insights</a:t>
            </a:r>
            <a:endParaRPr lang="en-US" sz="1000" dirty="0"/>
          </a:p>
        </p:txBody>
      </p:sp>
      <p:sp>
        <p:nvSpPr>
          <p:cNvPr id="12" name="Shape 10"/>
          <p:cNvSpPr/>
          <p:nvPr/>
        </p:nvSpPr>
        <p:spPr>
          <a:xfrm>
            <a:off x="3218688" y="1298448"/>
            <a:ext cx="2788920" cy="324612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13" name="Shape 11"/>
          <p:cNvSpPr/>
          <p:nvPr/>
        </p:nvSpPr>
        <p:spPr>
          <a:xfrm>
            <a:off x="3218688" y="1298448"/>
            <a:ext cx="2788920" cy="457200"/>
          </a:xfrm>
          <a:prstGeom prst="rect">
            <a:avLst/>
          </a:prstGeom>
          <a:solidFill>
            <a:srgbClr val="F4A261"/>
          </a:solidFill>
          <a:ln w="12700">
            <a:solidFill>
              <a:srgbClr val="F4A261"/>
            </a:solidFill>
            <a:prstDash val="solid"/>
          </a:ln>
        </p:spPr>
      </p:sp>
      <p:sp>
        <p:nvSpPr>
          <p:cNvPr id="14" name="Text 12"/>
          <p:cNvSpPr/>
          <p:nvPr/>
        </p:nvSpPr>
        <p:spPr>
          <a:xfrm>
            <a:off x="3328416" y="1335024"/>
            <a:ext cx="2578608" cy="384048"/>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What We Found</a:t>
            </a:r>
            <a:endParaRPr lang="en-US" sz="1400" dirty="0"/>
          </a:p>
        </p:txBody>
      </p:sp>
      <p:sp>
        <p:nvSpPr>
          <p:cNvPr id="15" name="Text 13"/>
          <p:cNvSpPr/>
          <p:nvPr/>
        </p:nvSpPr>
        <p:spPr>
          <a:xfrm>
            <a:off x="3328416" y="184708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Bitcoin's 55% dominance shapes the entire market ecosystem</a:t>
            </a:r>
            <a:endParaRPr lang="en-US" sz="1000" dirty="0"/>
          </a:p>
        </p:txBody>
      </p:sp>
      <p:sp>
        <p:nvSpPr>
          <p:cNvPr id="16" name="Text 14"/>
          <p:cNvSpPr/>
          <p:nvPr/>
        </p:nvSpPr>
        <p:spPr>
          <a:xfrm>
            <a:off x="3328416" y="248716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2024 confirmed as the peak bull cycle year with $121K ATH</a:t>
            </a:r>
            <a:endParaRPr lang="en-US" sz="1000" dirty="0"/>
          </a:p>
        </p:txBody>
      </p:sp>
      <p:sp>
        <p:nvSpPr>
          <p:cNvPr id="17" name="Text 15"/>
          <p:cNvSpPr/>
          <p:nvPr/>
        </p:nvSpPr>
        <p:spPr>
          <a:xfrm>
            <a:off x="3328416" y="312724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89% of coins show negative 7-day returns — bear phase active</a:t>
            </a:r>
            <a:endParaRPr lang="en-US" sz="1000" dirty="0"/>
          </a:p>
        </p:txBody>
      </p:sp>
      <p:sp>
        <p:nvSpPr>
          <p:cNvPr id="18" name="Text 16"/>
          <p:cNvSpPr/>
          <p:nvPr/>
        </p:nvSpPr>
        <p:spPr>
          <a:xfrm>
            <a:off x="3328416" y="376732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Stablecoins and Bitcoin variants provide the safest exposure</a:t>
            </a:r>
            <a:endParaRPr lang="en-US" sz="1000" dirty="0"/>
          </a:p>
        </p:txBody>
      </p:sp>
      <p:sp>
        <p:nvSpPr>
          <p:cNvPr id="19" name="Shape 17"/>
          <p:cNvSpPr/>
          <p:nvPr/>
        </p:nvSpPr>
        <p:spPr>
          <a:xfrm>
            <a:off x="6163056" y="1298448"/>
            <a:ext cx="2788920" cy="3246120"/>
          </a:xfrm>
          <a:prstGeom prst="rect">
            <a:avLst/>
          </a:prstGeom>
          <a:solidFill>
            <a:srgbClr val="16213E"/>
          </a:solidFill>
          <a:ln w="12700">
            <a:solidFill>
              <a:srgbClr val="1E4976"/>
            </a:solidFill>
            <a:prstDash val="solid"/>
          </a:ln>
          <a:effectLst>
            <a:outerShdw blurRad="101600" dist="38100" dir="8100000" algn="bl" rotWithShape="0">
              <a:srgbClr val="000000">
                <a:alpha val="25000"/>
              </a:srgbClr>
            </a:outerShdw>
          </a:effectLst>
        </p:spPr>
      </p:sp>
      <p:sp>
        <p:nvSpPr>
          <p:cNvPr id="20" name="Shape 18"/>
          <p:cNvSpPr/>
          <p:nvPr/>
        </p:nvSpPr>
        <p:spPr>
          <a:xfrm>
            <a:off x="6163056" y="1298448"/>
            <a:ext cx="2788920" cy="457200"/>
          </a:xfrm>
          <a:prstGeom prst="rect">
            <a:avLst/>
          </a:prstGeom>
          <a:solidFill>
            <a:srgbClr val="FFB703"/>
          </a:solidFill>
          <a:ln w="12700">
            <a:solidFill>
              <a:srgbClr val="FFB703"/>
            </a:solidFill>
            <a:prstDash val="solid"/>
          </a:ln>
        </p:spPr>
      </p:sp>
      <p:sp>
        <p:nvSpPr>
          <p:cNvPr id="21" name="Text 19"/>
          <p:cNvSpPr/>
          <p:nvPr/>
        </p:nvSpPr>
        <p:spPr>
          <a:xfrm>
            <a:off x="6272784" y="1335024"/>
            <a:ext cx="2578608" cy="384048"/>
          </a:xfrm>
          <a:prstGeom prst="rect">
            <a:avLst/>
          </a:prstGeom>
          <a:noFill/>
          <a:ln/>
        </p:spPr>
        <p:txBody>
          <a:bodyPr wrap="square" rtlCol="0" anchor="ctr"/>
          <a:lstStyle/>
          <a:p>
            <a:pPr marL="0" indent="0" algn="ctr">
              <a:buNone/>
            </a:pPr>
            <a:r>
              <a:rPr lang="en-US" sz="1400" b="1" dirty="0">
                <a:solidFill>
                  <a:srgbClr val="0A1628"/>
                </a:solidFill>
                <a:latin typeface="Trebuchet MS" pitchFamily="34" charset="0"/>
                <a:ea typeface="Trebuchet MS" pitchFamily="34" charset="-122"/>
                <a:cs typeface="Trebuchet MS" pitchFamily="34" charset="-120"/>
              </a:rPr>
              <a:t>What It Means</a:t>
            </a:r>
            <a:endParaRPr lang="en-US" sz="1400" dirty="0"/>
          </a:p>
        </p:txBody>
      </p:sp>
      <p:sp>
        <p:nvSpPr>
          <p:cNvPr id="22" name="Text 20"/>
          <p:cNvSpPr/>
          <p:nvPr/>
        </p:nvSpPr>
        <p:spPr>
          <a:xfrm>
            <a:off x="6272784" y="184708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Crypto markets are cyclical — data supports disciplined entry strategies</a:t>
            </a:r>
            <a:endParaRPr lang="en-US" sz="1000" dirty="0"/>
          </a:p>
        </p:txBody>
      </p:sp>
      <p:sp>
        <p:nvSpPr>
          <p:cNvPr id="23" name="Text 21"/>
          <p:cNvSpPr/>
          <p:nvPr/>
        </p:nvSpPr>
        <p:spPr>
          <a:xfrm>
            <a:off x="6272784" y="248716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DeFi instruments (Wrapped, Staked) offer diversified exposure</a:t>
            </a:r>
            <a:endParaRPr lang="en-US" sz="1000" dirty="0"/>
          </a:p>
        </p:txBody>
      </p:sp>
      <p:sp>
        <p:nvSpPr>
          <p:cNvPr id="24" name="Text 22"/>
          <p:cNvSpPr/>
          <p:nvPr/>
        </p:nvSpPr>
        <p:spPr>
          <a:xfrm>
            <a:off x="6272784" y="312724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Real-time dashboards are essential for volatile asset management</a:t>
            </a:r>
            <a:endParaRPr lang="en-US" sz="1000" dirty="0"/>
          </a:p>
        </p:txBody>
      </p:sp>
      <p:sp>
        <p:nvSpPr>
          <p:cNvPr id="25" name="Text 23"/>
          <p:cNvSpPr/>
          <p:nvPr/>
        </p:nvSpPr>
        <p:spPr>
          <a:xfrm>
            <a:off x="6272784" y="3767328"/>
            <a:ext cx="2578608" cy="594360"/>
          </a:xfrm>
          <a:prstGeom prst="rect">
            <a:avLst/>
          </a:prstGeom>
          <a:noFill/>
          <a:ln/>
        </p:spPr>
        <p:txBody>
          <a:bodyPr wrap="square" rtlCol="0" anchor="ctr"/>
          <a:lstStyle/>
          <a:p>
            <a:pPr marL="342900" indent="-342900">
              <a:buSzPct val="100000"/>
              <a:buChar char="•"/>
            </a:pPr>
            <a:r>
              <a:rPr lang="en-US" sz="1000" dirty="0">
                <a:solidFill>
                  <a:srgbClr val="64748B"/>
                </a:solidFill>
                <a:latin typeface="Calibri" pitchFamily="34" charset="0"/>
                <a:ea typeface="Calibri" pitchFamily="34" charset="-122"/>
                <a:cs typeface="Calibri" pitchFamily="34" charset="-120"/>
              </a:rPr>
              <a:t>Event-driven spikes (Monero) require automated monitoring systems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9846"/>
            <a:ext cx="9144000" cy="630233"/>
          </a:xfrm>
          <a:prstGeom prst="rect">
            <a:avLst/>
          </a:prstGeom>
          <a:solidFill>
            <a:srgbClr val="0F3460"/>
          </a:solidFill>
          <a:ln w="12700">
            <a:solidFill>
              <a:srgbClr val="0F3460"/>
            </a:solidFill>
            <a:prstDash val="solid"/>
          </a:ln>
        </p:spPr>
      </p:sp>
      <p:sp>
        <p:nvSpPr>
          <p:cNvPr id="3" name="Shape 1"/>
          <p:cNvSpPr/>
          <p:nvPr/>
        </p:nvSpPr>
        <p:spPr>
          <a:xfrm>
            <a:off x="0" y="9847"/>
            <a:ext cx="201168" cy="630232"/>
          </a:xfrm>
          <a:prstGeom prst="rect">
            <a:avLst/>
          </a:prstGeom>
          <a:solidFill>
            <a:srgbClr val="F4A261"/>
          </a:solidFill>
          <a:ln w="12700">
            <a:solidFill>
              <a:srgbClr val="F4A261"/>
            </a:solidFill>
            <a:prstDash val="solid"/>
          </a:ln>
        </p:spPr>
      </p:sp>
      <p:sp>
        <p:nvSpPr>
          <p:cNvPr id="4" name="Text 2"/>
          <p:cNvSpPr/>
          <p:nvPr/>
        </p:nvSpPr>
        <p:spPr>
          <a:xfrm>
            <a:off x="323557" y="118872"/>
            <a:ext cx="8503920" cy="38404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FUTURE SCOPE  —  IMPROVEMENTS &amp; FURTHER ANALYSIS OPPORTUNITIES</a:t>
            </a:r>
            <a:endParaRPr lang="en-US" sz="2200" dirty="0"/>
          </a:p>
        </p:txBody>
      </p:sp>
      <p:sp>
        <p:nvSpPr>
          <p:cNvPr id="5" name="Shape 3"/>
          <p:cNvSpPr/>
          <p:nvPr/>
        </p:nvSpPr>
        <p:spPr>
          <a:xfrm>
            <a:off x="274320" y="713232"/>
            <a:ext cx="2788920" cy="192024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6" name="Shape 4"/>
          <p:cNvSpPr/>
          <p:nvPr/>
        </p:nvSpPr>
        <p:spPr>
          <a:xfrm>
            <a:off x="274320" y="713232"/>
            <a:ext cx="2788920" cy="109728"/>
          </a:xfrm>
          <a:prstGeom prst="rect">
            <a:avLst/>
          </a:prstGeom>
          <a:solidFill>
            <a:srgbClr val="00C9A7"/>
          </a:solidFill>
          <a:ln w="12700">
            <a:solidFill>
              <a:srgbClr val="00C9A7"/>
            </a:solidFill>
            <a:prstDash val="solid"/>
          </a:ln>
        </p:spPr>
      </p:sp>
      <p:sp>
        <p:nvSpPr>
          <p:cNvPr id="7" name="Shape 5"/>
          <p:cNvSpPr/>
          <p:nvPr/>
        </p:nvSpPr>
        <p:spPr>
          <a:xfrm>
            <a:off x="1280160" y="877824"/>
            <a:ext cx="749808" cy="749808"/>
          </a:xfrm>
          <a:prstGeom prst="ellipse">
            <a:avLst/>
          </a:prstGeom>
          <a:solidFill>
            <a:srgbClr val="0F3460"/>
          </a:solidFill>
          <a:ln w="12700">
            <a:solidFill>
              <a:srgbClr val="00C9A7"/>
            </a:solidFill>
            <a:prstDash val="solid"/>
          </a:ln>
        </p:spPr>
      </p:sp>
      <p:sp>
        <p:nvSpPr>
          <p:cNvPr id="8" name="Text 6"/>
          <p:cNvSpPr/>
          <p:nvPr/>
        </p:nvSpPr>
        <p:spPr>
          <a:xfrm>
            <a:off x="1280160" y="877824"/>
            <a:ext cx="749808" cy="749808"/>
          </a:xfrm>
          <a:prstGeom prst="rect">
            <a:avLst/>
          </a:prstGeom>
          <a:noFill/>
          <a:ln/>
        </p:spPr>
        <p:txBody>
          <a:bodyPr wrap="square" rtlCol="0" anchor="ctr"/>
          <a:lstStyle/>
          <a:p>
            <a:pPr marL="0" indent="0" algn="ctr">
              <a:buNone/>
            </a:pPr>
            <a:r>
              <a:rPr lang="en-US" sz="1800" b="1" dirty="0">
                <a:solidFill>
                  <a:srgbClr val="00C9A7"/>
                </a:solidFill>
                <a:latin typeface="Trebuchet MS" pitchFamily="34" charset="0"/>
                <a:ea typeface="Trebuchet MS" pitchFamily="34" charset="-122"/>
                <a:cs typeface="Trebuchet MS" pitchFamily="34" charset="-120"/>
              </a:rPr>
              <a:t>01</a:t>
            </a:r>
            <a:endParaRPr lang="en-US" sz="1800" dirty="0"/>
          </a:p>
        </p:txBody>
      </p:sp>
      <p:sp>
        <p:nvSpPr>
          <p:cNvPr id="9" name="Text 7"/>
          <p:cNvSpPr/>
          <p:nvPr/>
        </p:nvSpPr>
        <p:spPr>
          <a:xfrm>
            <a:off x="347472" y="1700784"/>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Expand to 500+ Coins</a:t>
            </a:r>
            <a:endParaRPr lang="en-US" sz="1200" dirty="0"/>
          </a:p>
        </p:txBody>
      </p:sp>
      <p:sp>
        <p:nvSpPr>
          <p:cNvPr id="10" name="Text 8"/>
          <p:cNvSpPr/>
          <p:nvPr/>
        </p:nvSpPr>
        <p:spPr>
          <a:xfrm>
            <a:off x="347472" y="2084832"/>
            <a:ext cx="2633472" cy="47548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Include small and micro-cap tokens to capture the full spectrum of market behaviour and identify early-stage investment opportunities in emerging projects.</a:t>
            </a:r>
            <a:endParaRPr lang="en-US" sz="900" dirty="0"/>
          </a:p>
        </p:txBody>
      </p:sp>
      <p:sp>
        <p:nvSpPr>
          <p:cNvPr id="11" name="Shape 9"/>
          <p:cNvSpPr/>
          <p:nvPr/>
        </p:nvSpPr>
        <p:spPr>
          <a:xfrm>
            <a:off x="3218688" y="713232"/>
            <a:ext cx="2788920" cy="192024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2" name="Shape 10"/>
          <p:cNvSpPr/>
          <p:nvPr/>
        </p:nvSpPr>
        <p:spPr>
          <a:xfrm>
            <a:off x="3218688" y="713232"/>
            <a:ext cx="2788920" cy="109728"/>
          </a:xfrm>
          <a:prstGeom prst="rect">
            <a:avLst/>
          </a:prstGeom>
          <a:solidFill>
            <a:srgbClr val="F4A261"/>
          </a:solidFill>
          <a:ln w="12700">
            <a:solidFill>
              <a:srgbClr val="F4A261"/>
            </a:solidFill>
            <a:prstDash val="solid"/>
          </a:ln>
        </p:spPr>
      </p:sp>
      <p:sp>
        <p:nvSpPr>
          <p:cNvPr id="13" name="Shape 11"/>
          <p:cNvSpPr/>
          <p:nvPr/>
        </p:nvSpPr>
        <p:spPr>
          <a:xfrm>
            <a:off x="4224528" y="877824"/>
            <a:ext cx="749808" cy="749808"/>
          </a:xfrm>
          <a:prstGeom prst="ellipse">
            <a:avLst/>
          </a:prstGeom>
          <a:solidFill>
            <a:srgbClr val="0F3460"/>
          </a:solidFill>
          <a:ln w="12700">
            <a:solidFill>
              <a:srgbClr val="F4A261"/>
            </a:solidFill>
            <a:prstDash val="solid"/>
          </a:ln>
        </p:spPr>
      </p:sp>
      <p:sp>
        <p:nvSpPr>
          <p:cNvPr id="14" name="Text 12"/>
          <p:cNvSpPr/>
          <p:nvPr/>
        </p:nvSpPr>
        <p:spPr>
          <a:xfrm>
            <a:off x="4224528" y="877824"/>
            <a:ext cx="749808" cy="749808"/>
          </a:xfrm>
          <a:prstGeom prst="rect">
            <a:avLst/>
          </a:prstGeom>
          <a:noFill/>
          <a:ln/>
        </p:spPr>
        <p:txBody>
          <a:bodyPr wrap="square" rtlCol="0" anchor="ctr"/>
          <a:lstStyle/>
          <a:p>
            <a:pPr marL="0" indent="0" algn="ctr">
              <a:buNone/>
            </a:pPr>
            <a:r>
              <a:rPr lang="en-US" sz="1800" b="1" dirty="0">
                <a:solidFill>
                  <a:srgbClr val="F4A261"/>
                </a:solidFill>
                <a:latin typeface="Trebuchet MS" pitchFamily="34" charset="0"/>
                <a:ea typeface="Trebuchet MS" pitchFamily="34" charset="-122"/>
                <a:cs typeface="Trebuchet MS" pitchFamily="34" charset="-120"/>
              </a:rPr>
              <a:t>02</a:t>
            </a:r>
            <a:endParaRPr lang="en-US" sz="1800" dirty="0"/>
          </a:p>
        </p:txBody>
      </p:sp>
      <p:sp>
        <p:nvSpPr>
          <p:cNvPr id="15" name="Text 13"/>
          <p:cNvSpPr/>
          <p:nvPr/>
        </p:nvSpPr>
        <p:spPr>
          <a:xfrm>
            <a:off x="3291840" y="1700784"/>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On-Chain Metrics Integration</a:t>
            </a:r>
            <a:endParaRPr lang="en-US" sz="1200" dirty="0"/>
          </a:p>
        </p:txBody>
      </p:sp>
      <p:sp>
        <p:nvSpPr>
          <p:cNvPr id="16" name="Text 14"/>
          <p:cNvSpPr/>
          <p:nvPr/>
        </p:nvSpPr>
        <p:spPr>
          <a:xfrm>
            <a:off x="3291840" y="2084832"/>
            <a:ext cx="2633472" cy="47548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Integrate transaction volume, active wallet addresses, and hash rate data from blockchain explorers to supplement price-based analysis with fundamental signals.</a:t>
            </a:r>
            <a:endParaRPr lang="en-US" sz="900" dirty="0"/>
          </a:p>
        </p:txBody>
      </p:sp>
      <p:sp>
        <p:nvSpPr>
          <p:cNvPr id="17" name="Shape 15"/>
          <p:cNvSpPr/>
          <p:nvPr/>
        </p:nvSpPr>
        <p:spPr>
          <a:xfrm>
            <a:off x="6163056" y="713232"/>
            <a:ext cx="2788920" cy="192024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18" name="Shape 16"/>
          <p:cNvSpPr/>
          <p:nvPr/>
        </p:nvSpPr>
        <p:spPr>
          <a:xfrm>
            <a:off x="6163056" y="713232"/>
            <a:ext cx="2788920" cy="109728"/>
          </a:xfrm>
          <a:prstGeom prst="rect">
            <a:avLst/>
          </a:prstGeom>
          <a:solidFill>
            <a:srgbClr val="FFB703"/>
          </a:solidFill>
          <a:ln w="12700">
            <a:solidFill>
              <a:srgbClr val="FFB703"/>
            </a:solidFill>
            <a:prstDash val="solid"/>
          </a:ln>
        </p:spPr>
      </p:sp>
      <p:sp>
        <p:nvSpPr>
          <p:cNvPr id="19" name="Shape 17"/>
          <p:cNvSpPr/>
          <p:nvPr/>
        </p:nvSpPr>
        <p:spPr>
          <a:xfrm>
            <a:off x="7168896" y="877824"/>
            <a:ext cx="749808" cy="749808"/>
          </a:xfrm>
          <a:prstGeom prst="ellipse">
            <a:avLst/>
          </a:prstGeom>
          <a:solidFill>
            <a:srgbClr val="0F3460"/>
          </a:solidFill>
          <a:ln w="12700">
            <a:solidFill>
              <a:srgbClr val="FFB703"/>
            </a:solidFill>
            <a:prstDash val="solid"/>
          </a:ln>
        </p:spPr>
      </p:sp>
      <p:sp>
        <p:nvSpPr>
          <p:cNvPr id="20" name="Text 18"/>
          <p:cNvSpPr/>
          <p:nvPr/>
        </p:nvSpPr>
        <p:spPr>
          <a:xfrm>
            <a:off x="7168896" y="877824"/>
            <a:ext cx="749808" cy="749808"/>
          </a:xfrm>
          <a:prstGeom prst="rect">
            <a:avLst/>
          </a:prstGeom>
          <a:noFill/>
          <a:ln/>
        </p:spPr>
        <p:txBody>
          <a:bodyPr wrap="square" rtlCol="0" anchor="ctr"/>
          <a:lstStyle/>
          <a:p>
            <a:pPr marL="0" indent="0" algn="ctr">
              <a:buNone/>
            </a:pPr>
            <a:r>
              <a:rPr lang="en-US" sz="1800" b="1" dirty="0">
                <a:solidFill>
                  <a:srgbClr val="FFB703"/>
                </a:solidFill>
                <a:latin typeface="Trebuchet MS" pitchFamily="34" charset="0"/>
                <a:ea typeface="Trebuchet MS" pitchFamily="34" charset="-122"/>
                <a:cs typeface="Trebuchet MS" pitchFamily="34" charset="-120"/>
              </a:rPr>
              <a:t>03</a:t>
            </a:r>
            <a:endParaRPr lang="en-US" sz="1800" dirty="0"/>
          </a:p>
        </p:txBody>
      </p:sp>
      <p:sp>
        <p:nvSpPr>
          <p:cNvPr id="21" name="Text 19"/>
          <p:cNvSpPr/>
          <p:nvPr/>
        </p:nvSpPr>
        <p:spPr>
          <a:xfrm>
            <a:off x="6236208" y="1700784"/>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Sentiment Analysis</a:t>
            </a:r>
            <a:endParaRPr lang="en-US" sz="1200" dirty="0"/>
          </a:p>
        </p:txBody>
      </p:sp>
      <p:sp>
        <p:nvSpPr>
          <p:cNvPr id="22" name="Text 20"/>
          <p:cNvSpPr/>
          <p:nvPr/>
        </p:nvSpPr>
        <p:spPr>
          <a:xfrm>
            <a:off x="6236208" y="2084832"/>
            <a:ext cx="2633472" cy="47548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Incorporate Twitter/Reddit sentiment scores and Fear &amp; Greed Index as leading indicators. Correlate social sentiment with price change patterns.</a:t>
            </a:r>
            <a:endParaRPr lang="en-US" sz="900" dirty="0"/>
          </a:p>
        </p:txBody>
      </p:sp>
      <p:sp>
        <p:nvSpPr>
          <p:cNvPr id="23" name="Shape 21"/>
          <p:cNvSpPr/>
          <p:nvPr/>
        </p:nvSpPr>
        <p:spPr>
          <a:xfrm>
            <a:off x="274320" y="2816352"/>
            <a:ext cx="2788920" cy="192024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24" name="Shape 22"/>
          <p:cNvSpPr/>
          <p:nvPr/>
        </p:nvSpPr>
        <p:spPr>
          <a:xfrm>
            <a:off x="274320" y="2816352"/>
            <a:ext cx="2788920" cy="109728"/>
          </a:xfrm>
          <a:prstGeom prst="rect">
            <a:avLst/>
          </a:prstGeom>
          <a:solidFill>
            <a:srgbClr val="0F3460"/>
          </a:solidFill>
          <a:ln w="12700">
            <a:solidFill>
              <a:srgbClr val="0F3460"/>
            </a:solidFill>
            <a:prstDash val="solid"/>
          </a:ln>
        </p:spPr>
      </p:sp>
      <p:sp>
        <p:nvSpPr>
          <p:cNvPr id="25" name="Shape 23"/>
          <p:cNvSpPr/>
          <p:nvPr/>
        </p:nvSpPr>
        <p:spPr>
          <a:xfrm>
            <a:off x="1280160" y="2980944"/>
            <a:ext cx="749808" cy="749808"/>
          </a:xfrm>
          <a:prstGeom prst="ellipse">
            <a:avLst/>
          </a:prstGeom>
          <a:solidFill>
            <a:srgbClr val="0F3460"/>
          </a:solidFill>
          <a:ln w="12700">
            <a:solidFill>
              <a:srgbClr val="0F3460"/>
            </a:solidFill>
            <a:prstDash val="solid"/>
          </a:ln>
        </p:spPr>
      </p:sp>
      <p:sp>
        <p:nvSpPr>
          <p:cNvPr id="26" name="Text 24"/>
          <p:cNvSpPr/>
          <p:nvPr/>
        </p:nvSpPr>
        <p:spPr>
          <a:xfrm>
            <a:off x="1280160" y="2980944"/>
            <a:ext cx="749808" cy="749808"/>
          </a:xfrm>
          <a:prstGeom prst="rect">
            <a:avLst/>
          </a:prstGeom>
          <a:noFill/>
          <a:ln/>
        </p:spPr>
        <p:txBody>
          <a:bodyPr wrap="square" rtlCol="0" anchor="ctr"/>
          <a:lstStyle/>
          <a:p>
            <a:pPr marL="0" indent="0" algn="ctr">
              <a:buNone/>
            </a:pPr>
            <a:r>
              <a:rPr lang="en-US" sz="1800" b="1" dirty="0">
                <a:solidFill>
                  <a:srgbClr val="0F3460"/>
                </a:solidFill>
                <a:latin typeface="Trebuchet MS" pitchFamily="34" charset="0"/>
                <a:ea typeface="Trebuchet MS" pitchFamily="34" charset="-122"/>
                <a:cs typeface="Trebuchet MS" pitchFamily="34" charset="-120"/>
              </a:rPr>
              <a:t>04</a:t>
            </a:r>
            <a:endParaRPr lang="en-US" sz="1800" dirty="0"/>
          </a:p>
        </p:txBody>
      </p:sp>
      <p:sp>
        <p:nvSpPr>
          <p:cNvPr id="27" name="Text 25"/>
          <p:cNvSpPr/>
          <p:nvPr/>
        </p:nvSpPr>
        <p:spPr>
          <a:xfrm>
            <a:off x="347472" y="3803904"/>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Predictive Modelling</a:t>
            </a:r>
            <a:endParaRPr lang="en-US" sz="1200" dirty="0"/>
          </a:p>
        </p:txBody>
      </p:sp>
      <p:sp>
        <p:nvSpPr>
          <p:cNvPr id="28" name="Text 26"/>
          <p:cNvSpPr/>
          <p:nvPr/>
        </p:nvSpPr>
        <p:spPr>
          <a:xfrm>
            <a:off x="347472" y="4187952"/>
            <a:ext cx="2633472" cy="47548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Apply ML models (LSTM, Prophet) for price forecasting. Use historical ATH cycle data to predict next bull market timing with confidence intervals.</a:t>
            </a:r>
            <a:endParaRPr lang="en-US" sz="900" dirty="0"/>
          </a:p>
        </p:txBody>
      </p:sp>
      <p:sp>
        <p:nvSpPr>
          <p:cNvPr id="29" name="Shape 27"/>
          <p:cNvSpPr/>
          <p:nvPr/>
        </p:nvSpPr>
        <p:spPr>
          <a:xfrm>
            <a:off x="3218688" y="2816352"/>
            <a:ext cx="2788920" cy="192024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30" name="Shape 28"/>
          <p:cNvSpPr/>
          <p:nvPr/>
        </p:nvSpPr>
        <p:spPr>
          <a:xfrm>
            <a:off x="3218688" y="2816352"/>
            <a:ext cx="2788920" cy="109728"/>
          </a:xfrm>
          <a:prstGeom prst="rect">
            <a:avLst/>
          </a:prstGeom>
          <a:solidFill>
            <a:srgbClr val="6C63FF"/>
          </a:solidFill>
          <a:ln w="12700">
            <a:solidFill>
              <a:srgbClr val="6C63FF"/>
            </a:solidFill>
            <a:prstDash val="solid"/>
          </a:ln>
        </p:spPr>
      </p:sp>
      <p:sp>
        <p:nvSpPr>
          <p:cNvPr id="31" name="Shape 29"/>
          <p:cNvSpPr/>
          <p:nvPr/>
        </p:nvSpPr>
        <p:spPr>
          <a:xfrm>
            <a:off x="4224528" y="2980944"/>
            <a:ext cx="749808" cy="749808"/>
          </a:xfrm>
          <a:prstGeom prst="ellipse">
            <a:avLst/>
          </a:prstGeom>
          <a:solidFill>
            <a:srgbClr val="0F3460"/>
          </a:solidFill>
          <a:ln w="12700">
            <a:solidFill>
              <a:srgbClr val="6C63FF"/>
            </a:solidFill>
            <a:prstDash val="solid"/>
          </a:ln>
        </p:spPr>
      </p:sp>
      <p:sp>
        <p:nvSpPr>
          <p:cNvPr id="32" name="Text 30"/>
          <p:cNvSpPr/>
          <p:nvPr/>
        </p:nvSpPr>
        <p:spPr>
          <a:xfrm>
            <a:off x="4224528" y="2980944"/>
            <a:ext cx="749808" cy="749808"/>
          </a:xfrm>
          <a:prstGeom prst="rect">
            <a:avLst/>
          </a:prstGeom>
          <a:noFill/>
          <a:ln/>
        </p:spPr>
        <p:txBody>
          <a:bodyPr wrap="square" rtlCol="0" anchor="ctr"/>
          <a:lstStyle/>
          <a:p>
            <a:pPr marL="0" indent="0" algn="ctr">
              <a:buNone/>
            </a:pPr>
            <a:r>
              <a:rPr lang="en-US" sz="1800" b="1" dirty="0">
                <a:solidFill>
                  <a:srgbClr val="6C63FF"/>
                </a:solidFill>
                <a:latin typeface="Trebuchet MS" pitchFamily="34" charset="0"/>
                <a:ea typeface="Trebuchet MS" pitchFamily="34" charset="-122"/>
                <a:cs typeface="Trebuchet MS" pitchFamily="34" charset="-120"/>
              </a:rPr>
              <a:t>05</a:t>
            </a:r>
            <a:endParaRPr lang="en-US" sz="1800" dirty="0"/>
          </a:p>
        </p:txBody>
      </p:sp>
      <p:sp>
        <p:nvSpPr>
          <p:cNvPr id="33" name="Text 31"/>
          <p:cNvSpPr/>
          <p:nvPr/>
        </p:nvSpPr>
        <p:spPr>
          <a:xfrm>
            <a:off x="3291840" y="3803904"/>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Portfolio Simulator</a:t>
            </a:r>
            <a:endParaRPr lang="en-US" sz="1200" dirty="0"/>
          </a:p>
        </p:txBody>
      </p:sp>
      <p:sp>
        <p:nvSpPr>
          <p:cNvPr id="34" name="Text 32"/>
          <p:cNvSpPr/>
          <p:nvPr/>
        </p:nvSpPr>
        <p:spPr>
          <a:xfrm>
            <a:off x="3291840" y="4187952"/>
            <a:ext cx="2633472" cy="47548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Build an interactive tool within Power BI allowing users to simulate portfolio allocation across top coins and visualise projected returns under different market scenarios.</a:t>
            </a:r>
            <a:endParaRPr lang="en-US" sz="900" dirty="0"/>
          </a:p>
        </p:txBody>
      </p:sp>
      <p:sp>
        <p:nvSpPr>
          <p:cNvPr id="35" name="Shape 33"/>
          <p:cNvSpPr/>
          <p:nvPr/>
        </p:nvSpPr>
        <p:spPr>
          <a:xfrm>
            <a:off x="6163056" y="2816352"/>
            <a:ext cx="2788920" cy="1920240"/>
          </a:xfrm>
          <a:prstGeom prst="rect">
            <a:avLst/>
          </a:prstGeom>
          <a:solidFill>
            <a:srgbClr val="FFFFFF"/>
          </a:solidFill>
          <a:ln w="12700">
            <a:solidFill>
              <a:srgbClr val="1E4976"/>
            </a:solidFill>
            <a:prstDash val="solid"/>
          </a:ln>
          <a:effectLst>
            <a:outerShdw blurRad="101600" dist="38100" dir="8100000" algn="bl" rotWithShape="0">
              <a:srgbClr val="000000">
                <a:alpha val="25000"/>
              </a:srgbClr>
            </a:outerShdw>
          </a:effectLst>
        </p:spPr>
      </p:sp>
      <p:sp>
        <p:nvSpPr>
          <p:cNvPr id="36" name="Shape 34"/>
          <p:cNvSpPr/>
          <p:nvPr/>
        </p:nvSpPr>
        <p:spPr>
          <a:xfrm>
            <a:off x="6163056" y="2816352"/>
            <a:ext cx="2788920" cy="109728"/>
          </a:xfrm>
          <a:prstGeom prst="rect">
            <a:avLst/>
          </a:prstGeom>
          <a:solidFill>
            <a:srgbClr val="E63946"/>
          </a:solidFill>
          <a:ln w="12700">
            <a:solidFill>
              <a:srgbClr val="E63946"/>
            </a:solidFill>
            <a:prstDash val="solid"/>
          </a:ln>
        </p:spPr>
      </p:sp>
      <p:sp>
        <p:nvSpPr>
          <p:cNvPr id="37" name="Shape 35"/>
          <p:cNvSpPr/>
          <p:nvPr/>
        </p:nvSpPr>
        <p:spPr>
          <a:xfrm>
            <a:off x="7168896" y="2980944"/>
            <a:ext cx="749808" cy="749808"/>
          </a:xfrm>
          <a:prstGeom prst="ellipse">
            <a:avLst/>
          </a:prstGeom>
          <a:solidFill>
            <a:srgbClr val="0F3460"/>
          </a:solidFill>
          <a:ln w="12700">
            <a:solidFill>
              <a:srgbClr val="E63946"/>
            </a:solidFill>
            <a:prstDash val="solid"/>
          </a:ln>
        </p:spPr>
      </p:sp>
      <p:sp>
        <p:nvSpPr>
          <p:cNvPr id="38" name="Text 36"/>
          <p:cNvSpPr/>
          <p:nvPr/>
        </p:nvSpPr>
        <p:spPr>
          <a:xfrm>
            <a:off x="7168896" y="2980944"/>
            <a:ext cx="749808" cy="749808"/>
          </a:xfrm>
          <a:prstGeom prst="rect">
            <a:avLst/>
          </a:prstGeom>
          <a:noFill/>
          <a:ln/>
        </p:spPr>
        <p:txBody>
          <a:bodyPr wrap="square" rtlCol="0" anchor="ctr"/>
          <a:lstStyle/>
          <a:p>
            <a:pPr marL="0" indent="0" algn="ctr">
              <a:buNone/>
            </a:pPr>
            <a:r>
              <a:rPr lang="en-US" sz="1800" b="1" dirty="0">
                <a:solidFill>
                  <a:srgbClr val="E63946"/>
                </a:solidFill>
                <a:latin typeface="Trebuchet MS" pitchFamily="34" charset="0"/>
                <a:ea typeface="Trebuchet MS" pitchFamily="34" charset="-122"/>
                <a:cs typeface="Trebuchet MS" pitchFamily="34" charset="-120"/>
              </a:rPr>
              <a:t>06</a:t>
            </a:r>
            <a:endParaRPr lang="en-US" sz="1800" dirty="0"/>
          </a:p>
        </p:txBody>
      </p:sp>
      <p:sp>
        <p:nvSpPr>
          <p:cNvPr id="39" name="Text 37"/>
          <p:cNvSpPr/>
          <p:nvPr/>
        </p:nvSpPr>
        <p:spPr>
          <a:xfrm>
            <a:off x="6236208" y="3803904"/>
            <a:ext cx="2633472" cy="347472"/>
          </a:xfrm>
          <a:prstGeom prst="rect">
            <a:avLst/>
          </a:prstGeom>
          <a:noFill/>
          <a:ln/>
        </p:spPr>
        <p:txBody>
          <a:bodyPr wrap="square"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Regulatory Impact Tracking</a:t>
            </a:r>
            <a:endParaRPr lang="en-US" sz="1200" dirty="0"/>
          </a:p>
        </p:txBody>
      </p:sp>
      <p:sp>
        <p:nvSpPr>
          <p:cNvPr id="40" name="Text 38"/>
          <p:cNvSpPr/>
          <p:nvPr/>
        </p:nvSpPr>
        <p:spPr>
          <a:xfrm>
            <a:off x="6236208" y="4187952"/>
            <a:ext cx="2633472" cy="47548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Monitor and flag regulatory events by jurisdiction (SEC rulings, MiCA compliance, exchange bans) and correlate with price volatility spikes in affected coins.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3735</Words>
  <Application>Microsoft Office PowerPoint</Application>
  <PresentationFormat>On-screen Show (16:9)</PresentationFormat>
  <Paragraphs>552</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Cryptocurrency Market Analysis</dc:title>
  <dc:subject>PptxGenJS Presentation</dc:subject>
  <dc:creator>Data Analytics Team</dc:creator>
  <cp:lastModifiedBy>Sonali Shekhawat</cp:lastModifiedBy>
  <cp:revision>1</cp:revision>
  <dcterms:created xsi:type="dcterms:W3CDTF">2026-03-18T17:15:33Z</dcterms:created>
  <dcterms:modified xsi:type="dcterms:W3CDTF">2026-03-19T10:26:46Z</dcterms:modified>
</cp:coreProperties>
</file>